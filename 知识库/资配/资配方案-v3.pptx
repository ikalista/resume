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95" r:id="rId3"/>
  </p:sldMasterIdLst>
  <p:notesMasterIdLst>
    <p:notesMasterId r:id="rId5"/>
  </p:notesMasterIdLst>
  <p:handoutMasterIdLst>
    <p:handoutMasterId r:id="rId16"/>
  </p:handoutMasterIdLst>
  <p:sldIdLst>
    <p:sldId id="293" r:id="rId4"/>
    <p:sldId id="423" r:id="rId6"/>
    <p:sldId id="416" r:id="rId7"/>
    <p:sldId id="417" r:id="rId8"/>
    <p:sldId id="418" r:id="rId9"/>
    <p:sldId id="419" r:id="rId10"/>
    <p:sldId id="420" r:id="rId11"/>
    <p:sldId id="421" r:id="rId12"/>
    <p:sldId id="422" r:id="rId13"/>
    <p:sldId id="425" r:id="rId14"/>
    <p:sldId id="426" r:id="rId15"/>
  </p:sldIdLst>
  <p:sldSz cx="9144000" cy="5143500" type="screen16x9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4455"/>
    <a:srgbClr val="0E90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>
        <p:scale>
          <a:sx n="75" d="100"/>
          <a:sy n="75" d="100"/>
        </p:scale>
        <p:origin x="2634" y="82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84" d="100"/>
        <a:sy n="184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gs" Target="tags/tag2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F4A947-B69F-46AB-892A-142D31584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F64BE4-6ABB-4DFC-88F2-21DB0926AD8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64BE4-6ABB-4DFC-88F2-21DB0926AD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64BE4-6ABB-4DFC-88F2-21DB0926AD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64BE4-6ABB-4DFC-88F2-21DB0926AD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64BE4-6ABB-4DFC-88F2-21DB0926AD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64BE4-6ABB-4DFC-88F2-21DB0926AD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64BE4-6ABB-4DFC-88F2-21DB0926AD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64BE4-6ABB-4DFC-88F2-21DB0926AD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64BE4-6ABB-4DFC-88F2-21DB0926AD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64BE4-6ABB-4DFC-88F2-21DB0926AD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xiazai/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6A9BE82D-BE47-49DE-8AA6-951A8F6B41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1022D3A-80DD-4654-A118-ED731BEB6F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6A9BE82D-BE47-49DE-8AA6-951A8F6B41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1022D3A-80DD-4654-A118-ED731BEB6F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6A9BE82D-BE47-49DE-8AA6-951A8F6B41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1022D3A-80DD-4654-A118-ED731BEB6F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6A9BE82D-BE47-49DE-8AA6-951A8F6B41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1022D3A-80DD-4654-A118-ED731BEB6F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6A9BE82D-BE47-49DE-8AA6-951A8F6B41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1022D3A-80DD-4654-A118-ED731BEB6F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6A9BE82D-BE47-49DE-8AA6-951A8F6B41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1022D3A-80DD-4654-A118-ED731BEB6F13}" type="slidenum">
              <a:rPr lang="zh-CN" altLang="en-US" smtClean="0"/>
            </a:fld>
            <a:endParaRPr lang="zh-CN" altLang="en-US"/>
          </a:p>
        </p:txBody>
      </p:sp>
      <p:sp>
        <p:nvSpPr>
          <p:cNvPr id="11" name="TextBox 9"/>
          <p:cNvSpPr txBox="1"/>
          <p:nvPr userDrawn="1"/>
        </p:nvSpPr>
        <p:spPr>
          <a:xfrm>
            <a:off x="1535336" y="4387336"/>
            <a:ext cx="432049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下载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http://www.1ppt.com/xiazai/</a:t>
            </a:r>
            <a:endParaRPr lang="en-US" altLang="zh-CN" sz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6A9BE82D-BE47-49DE-8AA6-951A8F6B41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1022D3A-80DD-4654-A118-ED731BEB6F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6A9BE82D-BE47-49DE-8AA6-951A8F6B41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1022D3A-80DD-4654-A118-ED731BEB6F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6A9BE82D-BE47-49DE-8AA6-951A8F6B41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1022D3A-80DD-4654-A118-ED731BEB6F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6A9BE82D-BE47-49DE-8AA6-951A8F6B41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1022D3A-80DD-4654-A118-ED731BEB6F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6A9BE82D-BE47-49DE-8AA6-951A8F6B41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1022D3A-80DD-4654-A118-ED731BEB6F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6A9BE82D-BE47-49DE-8AA6-951A8F6B41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1022D3A-80DD-4654-A118-ED731BEB6F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7" Type="http://schemas.openxmlformats.org/officeDocument/2006/relationships/theme" Target="../theme/theme1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49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</p:sldLayoutIdLst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463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microsoft.com/office/2007/relationships/hdphoto" Target="../media/image2.wdp"/><Relationship Id="rId10" Type="http://schemas.openxmlformats.org/officeDocument/2006/relationships/notesSlide" Target="../notesSlides/notesSlide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3.png"/><Relationship Id="rId1" Type="http://schemas.openxmlformats.org/officeDocument/2006/relationships/tags" Target="../tags/tag7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24.xml"/><Relationship Id="rId5" Type="http://schemas.openxmlformats.org/officeDocument/2006/relationships/image" Target="../media/image5.png"/><Relationship Id="rId4" Type="http://schemas.openxmlformats.org/officeDocument/2006/relationships/tags" Target="../tags/tag10.xml"/><Relationship Id="rId3" Type="http://schemas.openxmlformats.org/officeDocument/2006/relationships/image" Target="../media/image4.png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24.xml"/><Relationship Id="rId5" Type="http://schemas.openxmlformats.org/officeDocument/2006/relationships/image" Target="../media/image7.png"/><Relationship Id="rId4" Type="http://schemas.openxmlformats.org/officeDocument/2006/relationships/tags" Target="../tags/tag13.xml"/><Relationship Id="rId3" Type="http://schemas.openxmlformats.org/officeDocument/2006/relationships/image" Target="../media/image6.png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8.png"/><Relationship Id="rId1" Type="http://schemas.openxmlformats.org/officeDocument/2006/relationships/tags" Target="../tags/tag14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24.xml"/><Relationship Id="rId4" Type="http://schemas.openxmlformats.org/officeDocument/2006/relationships/tags" Target="../tags/tag17.xml"/><Relationship Id="rId3" Type="http://schemas.openxmlformats.org/officeDocument/2006/relationships/image" Target="../media/image9.png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10.png"/><Relationship Id="rId1" Type="http://schemas.openxmlformats.org/officeDocument/2006/relationships/tags" Target="../tags/tag18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4.xml"/><Relationship Id="rId3" Type="http://schemas.openxmlformats.org/officeDocument/2006/relationships/tags" Target="../tags/tag20.xml"/><Relationship Id="rId2" Type="http://schemas.openxmlformats.org/officeDocument/2006/relationships/image" Target="../media/image11.png"/><Relationship Id="rId1" Type="http://schemas.openxmlformats.org/officeDocument/2006/relationships/tags" Target="../tags/tag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artisticTexturizer/>
                    </a14:imgEffect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流程图: 手动输入 1"/>
          <p:cNvSpPr/>
          <p:nvPr/>
        </p:nvSpPr>
        <p:spPr>
          <a:xfrm>
            <a:off x="1319781" y="-956642"/>
            <a:ext cx="12100101" cy="8861304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-1" fmla="*/ 73 w 10000"/>
              <a:gd name="connsiteY0-2" fmla="*/ 7251 h 10000"/>
              <a:gd name="connsiteX1-3" fmla="*/ 10000 w 10000"/>
              <a:gd name="connsiteY1-4" fmla="*/ 0 h 10000"/>
              <a:gd name="connsiteX2-5" fmla="*/ 10000 w 10000"/>
              <a:gd name="connsiteY2-6" fmla="*/ 10000 h 10000"/>
              <a:gd name="connsiteX3-7" fmla="*/ 0 w 10000"/>
              <a:gd name="connsiteY3-8" fmla="*/ 10000 h 10000"/>
              <a:gd name="connsiteX4-9" fmla="*/ 73 w 10000"/>
              <a:gd name="connsiteY4-10" fmla="*/ 7251 h 10000"/>
              <a:gd name="connsiteX0-11" fmla="*/ 73 w 11072"/>
              <a:gd name="connsiteY0-12" fmla="*/ 19226 h 21975"/>
              <a:gd name="connsiteX1-13" fmla="*/ 11072 w 11072"/>
              <a:gd name="connsiteY1-14" fmla="*/ 0 h 21975"/>
              <a:gd name="connsiteX2-15" fmla="*/ 10000 w 11072"/>
              <a:gd name="connsiteY2-16" fmla="*/ 21975 h 21975"/>
              <a:gd name="connsiteX3-17" fmla="*/ 0 w 11072"/>
              <a:gd name="connsiteY3-18" fmla="*/ 21975 h 21975"/>
              <a:gd name="connsiteX4-19" fmla="*/ 73 w 11072"/>
              <a:gd name="connsiteY4-20" fmla="*/ 19226 h 2197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1072" h="21975">
                <a:moveTo>
                  <a:pt x="73" y="19226"/>
                </a:moveTo>
                <a:lnTo>
                  <a:pt x="11072" y="0"/>
                </a:lnTo>
                <a:cubicBezTo>
                  <a:pt x="10715" y="7325"/>
                  <a:pt x="10357" y="14650"/>
                  <a:pt x="10000" y="21975"/>
                </a:cubicBezTo>
                <a:lnTo>
                  <a:pt x="0" y="21975"/>
                </a:lnTo>
                <a:cubicBezTo>
                  <a:pt x="24" y="21059"/>
                  <a:pt x="49" y="20142"/>
                  <a:pt x="73" y="19226"/>
                </a:cubicBezTo>
                <a:close/>
              </a:path>
            </a:pathLst>
          </a:custGeom>
          <a:solidFill>
            <a:srgbClr val="C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54000" y="1941830"/>
            <a:ext cx="7917180" cy="991870"/>
          </a:xfrm>
          <a:prstGeom prst="rect">
            <a:avLst/>
          </a:prstGeom>
        </p:spPr>
        <p:txBody>
          <a:bodyPr wrap="square" lIns="68580" tIns="34290" rIns="68580" bIns="34290" anchor="ctr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4000" b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b="1" dirty="0">
                <a:solidFill>
                  <a:schemeClr val="bg1"/>
                </a:solidFill>
                <a:effectLst>
                  <a:outerShdw dist="50800" dir="2700000" algn="tl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资金资产匹配问题</a:t>
            </a:r>
            <a:endParaRPr b="1" dirty="0">
              <a:solidFill>
                <a:schemeClr val="bg1"/>
              </a:solidFill>
              <a:effectLst>
                <a:outerShdw dist="50800" dir="2700000" algn="tl" rotWithShape="0">
                  <a:prstClr val="black">
                    <a:alpha val="40000"/>
                  </a:prst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0" name="等腰三角形 9"/>
          <p:cNvSpPr/>
          <p:nvPr/>
        </p:nvSpPr>
        <p:spPr>
          <a:xfrm rot="5400000">
            <a:off x="1960" y="76040"/>
            <a:ext cx="504056" cy="43204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0" rIns="91422" bIns="45710" spcCol="0" rtlCol="0" anchor="ctr"/>
          <a:lstStyle/>
          <a:p>
            <a:pPr algn="ctr"/>
            <a:endParaRPr lang="zh-CN" altLang="en-US">
              <a:solidFill>
                <a:srgbClr val="0067B4"/>
              </a:solidFill>
              <a:cs typeface="+mn-ea"/>
              <a:sym typeface="+mn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98005" y="51470"/>
            <a:ext cx="1659395" cy="523200"/>
          </a:xfrm>
          <a:prstGeom prst="rect">
            <a:avLst/>
          </a:prstGeom>
          <a:noFill/>
        </p:spPr>
        <p:txBody>
          <a:bodyPr wrap="square" lIns="91422" tIns="45710" rIns="91422" bIns="45710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cs typeface="+mn-ea"/>
                <a:sym typeface="+mn-lt"/>
              </a:rPr>
              <a:t>LOGO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12" name="Group 100"/>
          <p:cNvGrpSpPr/>
          <p:nvPr/>
        </p:nvGrpSpPr>
        <p:grpSpPr>
          <a:xfrm>
            <a:off x="6202185" y="4598212"/>
            <a:ext cx="2335292" cy="438267"/>
            <a:chOff x="5486400" y="1428750"/>
            <a:chExt cx="2819401" cy="529120"/>
          </a:xfrm>
        </p:grpSpPr>
        <p:grpSp>
          <p:nvGrpSpPr>
            <p:cNvPr id="13" name="Group 96"/>
            <p:cNvGrpSpPr/>
            <p:nvPr/>
          </p:nvGrpSpPr>
          <p:grpSpPr>
            <a:xfrm>
              <a:off x="5486400" y="1428750"/>
              <a:ext cx="529120" cy="529120"/>
              <a:chOff x="5486400" y="1352550"/>
              <a:chExt cx="529120" cy="529120"/>
            </a:xfrm>
          </p:grpSpPr>
          <p:sp>
            <p:nvSpPr>
              <p:cNvPr id="34" name="Oval 84"/>
              <p:cNvSpPr/>
              <p:nvPr/>
            </p:nvSpPr>
            <p:spPr>
              <a:xfrm>
                <a:off x="5486400" y="1352550"/>
                <a:ext cx="529120" cy="529120"/>
              </a:xfrm>
              <a:prstGeom prst="ellipse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725805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400" kern="0" dirty="0">
                  <a:solidFill>
                    <a:sysClr val="window" lastClr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5" name="Freeform 15"/>
              <p:cNvSpPr>
                <a:spLocks noEditPoints="1"/>
              </p:cNvSpPr>
              <p:nvPr/>
            </p:nvSpPr>
            <p:spPr bwMode="auto">
              <a:xfrm>
                <a:off x="5614089" y="1480180"/>
                <a:ext cx="275220" cy="274904"/>
              </a:xfrm>
              <a:custGeom>
                <a:avLst/>
                <a:gdLst>
                  <a:gd name="T0" fmla="*/ 183 w 371"/>
                  <a:gd name="T1" fmla="*/ 1 h 370"/>
                  <a:gd name="T2" fmla="*/ 2 w 371"/>
                  <a:gd name="T3" fmla="*/ 187 h 370"/>
                  <a:gd name="T4" fmla="*/ 188 w 371"/>
                  <a:gd name="T5" fmla="*/ 369 h 370"/>
                  <a:gd name="T6" fmla="*/ 370 w 371"/>
                  <a:gd name="T7" fmla="*/ 182 h 370"/>
                  <a:gd name="T8" fmla="*/ 183 w 371"/>
                  <a:gd name="T9" fmla="*/ 1 h 370"/>
                  <a:gd name="T10" fmla="*/ 184 w 371"/>
                  <a:gd name="T11" fmla="*/ 25 h 370"/>
                  <a:gd name="T12" fmla="*/ 260 w 371"/>
                  <a:gd name="T13" fmla="*/ 43 h 370"/>
                  <a:gd name="T14" fmla="*/ 235 w 371"/>
                  <a:gd name="T15" fmla="*/ 84 h 370"/>
                  <a:gd name="T16" fmla="*/ 186 w 371"/>
                  <a:gd name="T17" fmla="*/ 73 h 370"/>
                  <a:gd name="T18" fmla="*/ 137 w 371"/>
                  <a:gd name="T19" fmla="*/ 84 h 370"/>
                  <a:gd name="T20" fmla="*/ 112 w 371"/>
                  <a:gd name="T21" fmla="*/ 43 h 370"/>
                  <a:gd name="T22" fmla="*/ 184 w 371"/>
                  <a:gd name="T23" fmla="*/ 25 h 370"/>
                  <a:gd name="T24" fmla="*/ 85 w 371"/>
                  <a:gd name="T25" fmla="*/ 234 h 370"/>
                  <a:gd name="T26" fmla="*/ 44 w 371"/>
                  <a:gd name="T27" fmla="*/ 259 h 370"/>
                  <a:gd name="T28" fmla="*/ 26 w 371"/>
                  <a:gd name="T29" fmla="*/ 187 h 370"/>
                  <a:gd name="T30" fmla="*/ 44 w 371"/>
                  <a:gd name="T31" fmla="*/ 111 h 370"/>
                  <a:gd name="T32" fmla="*/ 85 w 371"/>
                  <a:gd name="T33" fmla="*/ 136 h 370"/>
                  <a:gd name="T34" fmla="*/ 74 w 371"/>
                  <a:gd name="T35" fmla="*/ 185 h 370"/>
                  <a:gd name="T36" fmla="*/ 85 w 371"/>
                  <a:gd name="T37" fmla="*/ 234 h 370"/>
                  <a:gd name="T38" fmla="*/ 188 w 371"/>
                  <a:gd name="T39" fmla="*/ 345 h 370"/>
                  <a:gd name="T40" fmla="*/ 112 w 371"/>
                  <a:gd name="T41" fmla="*/ 327 h 370"/>
                  <a:gd name="T42" fmla="*/ 137 w 371"/>
                  <a:gd name="T43" fmla="*/ 286 h 370"/>
                  <a:gd name="T44" fmla="*/ 186 w 371"/>
                  <a:gd name="T45" fmla="*/ 297 h 370"/>
                  <a:gd name="T46" fmla="*/ 235 w 371"/>
                  <a:gd name="T47" fmla="*/ 286 h 370"/>
                  <a:gd name="T48" fmla="*/ 260 w 371"/>
                  <a:gd name="T49" fmla="*/ 327 h 370"/>
                  <a:gd name="T50" fmla="*/ 188 w 371"/>
                  <a:gd name="T51" fmla="*/ 345 h 370"/>
                  <a:gd name="T52" fmla="*/ 186 w 371"/>
                  <a:gd name="T53" fmla="*/ 273 h 370"/>
                  <a:gd name="T54" fmla="*/ 98 w 371"/>
                  <a:gd name="T55" fmla="*/ 185 h 370"/>
                  <a:gd name="T56" fmla="*/ 186 w 371"/>
                  <a:gd name="T57" fmla="*/ 97 h 370"/>
                  <a:gd name="T58" fmla="*/ 274 w 371"/>
                  <a:gd name="T59" fmla="*/ 185 h 370"/>
                  <a:gd name="T60" fmla="*/ 186 w 371"/>
                  <a:gd name="T61" fmla="*/ 273 h 370"/>
                  <a:gd name="T62" fmla="*/ 286 w 371"/>
                  <a:gd name="T63" fmla="*/ 234 h 370"/>
                  <a:gd name="T64" fmla="*/ 298 w 371"/>
                  <a:gd name="T65" fmla="*/ 185 h 370"/>
                  <a:gd name="T66" fmla="*/ 286 w 371"/>
                  <a:gd name="T67" fmla="*/ 136 h 370"/>
                  <a:gd name="T68" fmla="*/ 328 w 371"/>
                  <a:gd name="T69" fmla="*/ 111 h 370"/>
                  <a:gd name="T70" fmla="*/ 346 w 371"/>
                  <a:gd name="T71" fmla="*/ 183 h 370"/>
                  <a:gd name="T72" fmla="*/ 328 w 371"/>
                  <a:gd name="T73" fmla="*/ 259 h 370"/>
                  <a:gd name="T74" fmla="*/ 286 w 371"/>
                  <a:gd name="T75" fmla="*/ 234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371" h="370">
                    <a:moveTo>
                      <a:pt x="183" y="1"/>
                    </a:moveTo>
                    <a:cubicBezTo>
                      <a:pt x="82" y="2"/>
                      <a:pt x="0" y="86"/>
                      <a:pt x="2" y="187"/>
                    </a:cubicBezTo>
                    <a:cubicBezTo>
                      <a:pt x="3" y="289"/>
                      <a:pt x="87" y="370"/>
                      <a:pt x="188" y="369"/>
                    </a:cubicBezTo>
                    <a:cubicBezTo>
                      <a:pt x="290" y="368"/>
                      <a:pt x="371" y="284"/>
                      <a:pt x="370" y="182"/>
                    </a:cubicBezTo>
                    <a:cubicBezTo>
                      <a:pt x="368" y="81"/>
                      <a:pt x="285" y="0"/>
                      <a:pt x="183" y="1"/>
                    </a:cubicBezTo>
                    <a:close/>
                    <a:moveTo>
                      <a:pt x="184" y="25"/>
                    </a:moveTo>
                    <a:cubicBezTo>
                      <a:pt x="211" y="25"/>
                      <a:pt x="237" y="31"/>
                      <a:pt x="260" y="43"/>
                    </a:cubicBezTo>
                    <a:cubicBezTo>
                      <a:pt x="235" y="84"/>
                      <a:pt x="235" y="84"/>
                      <a:pt x="235" y="84"/>
                    </a:cubicBezTo>
                    <a:cubicBezTo>
                      <a:pt x="220" y="77"/>
                      <a:pt x="203" y="73"/>
                      <a:pt x="186" y="73"/>
                    </a:cubicBezTo>
                    <a:cubicBezTo>
                      <a:pt x="168" y="73"/>
                      <a:pt x="151" y="77"/>
                      <a:pt x="137" y="84"/>
                    </a:cubicBezTo>
                    <a:cubicBezTo>
                      <a:pt x="112" y="43"/>
                      <a:pt x="112" y="43"/>
                      <a:pt x="112" y="43"/>
                    </a:cubicBezTo>
                    <a:cubicBezTo>
                      <a:pt x="133" y="32"/>
                      <a:pt x="158" y="25"/>
                      <a:pt x="184" y="25"/>
                    </a:cubicBezTo>
                    <a:close/>
                    <a:moveTo>
                      <a:pt x="85" y="234"/>
                    </a:moveTo>
                    <a:cubicBezTo>
                      <a:pt x="44" y="259"/>
                      <a:pt x="44" y="259"/>
                      <a:pt x="44" y="259"/>
                    </a:cubicBezTo>
                    <a:cubicBezTo>
                      <a:pt x="33" y="237"/>
                      <a:pt x="26" y="213"/>
                      <a:pt x="26" y="187"/>
                    </a:cubicBezTo>
                    <a:cubicBezTo>
                      <a:pt x="25" y="160"/>
                      <a:pt x="32" y="134"/>
                      <a:pt x="44" y="111"/>
                    </a:cubicBezTo>
                    <a:cubicBezTo>
                      <a:pt x="85" y="136"/>
                      <a:pt x="85" y="136"/>
                      <a:pt x="85" y="136"/>
                    </a:cubicBezTo>
                    <a:cubicBezTo>
                      <a:pt x="78" y="151"/>
                      <a:pt x="74" y="167"/>
                      <a:pt x="74" y="185"/>
                    </a:cubicBezTo>
                    <a:cubicBezTo>
                      <a:pt x="74" y="203"/>
                      <a:pt x="78" y="219"/>
                      <a:pt x="85" y="234"/>
                    </a:cubicBezTo>
                    <a:close/>
                    <a:moveTo>
                      <a:pt x="188" y="345"/>
                    </a:moveTo>
                    <a:cubicBezTo>
                      <a:pt x="161" y="345"/>
                      <a:pt x="135" y="339"/>
                      <a:pt x="112" y="327"/>
                    </a:cubicBezTo>
                    <a:cubicBezTo>
                      <a:pt x="137" y="286"/>
                      <a:pt x="137" y="286"/>
                      <a:pt x="137" y="286"/>
                    </a:cubicBezTo>
                    <a:cubicBezTo>
                      <a:pt x="151" y="293"/>
                      <a:pt x="168" y="297"/>
                      <a:pt x="186" y="297"/>
                    </a:cubicBezTo>
                    <a:cubicBezTo>
                      <a:pt x="203" y="297"/>
                      <a:pt x="220" y="293"/>
                      <a:pt x="235" y="286"/>
                    </a:cubicBezTo>
                    <a:cubicBezTo>
                      <a:pt x="260" y="327"/>
                      <a:pt x="260" y="327"/>
                      <a:pt x="260" y="327"/>
                    </a:cubicBezTo>
                    <a:cubicBezTo>
                      <a:pt x="238" y="338"/>
                      <a:pt x="214" y="345"/>
                      <a:pt x="188" y="345"/>
                    </a:cubicBezTo>
                    <a:close/>
                    <a:moveTo>
                      <a:pt x="186" y="273"/>
                    </a:moveTo>
                    <a:cubicBezTo>
                      <a:pt x="137" y="273"/>
                      <a:pt x="98" y="233"/>
                      <a:pt x="98" y="185"/>
                    </a:cubicBezTo>
                    <a:cubicBezTo>
                      <a:pt x="98" y="136"/>
                      <a:pt x="137" y="97"/>
                      <a:pt x="186" y="97"/>
                    </a:cubicBezTo>
                    <a:cubicBezTo>
                      <a:pt x="234" y="97"/>
                      <a:pt x="274" y="136"/>
                      <a:pt x="274" y="185"/>
                    </a:cubicBezTo>
                    <a:cubicBezTo>
                      <a:pt x="274" y="233"/>
                      <a:pt x="234" y="273"/>
                      <a:pt x="186" y="273"/>
                    </a:cubicBezTo>
                    <a:close/>
                    <a:moveTo>
                      <a:pt x="286" y="234"/>
                    </a:moveTo>
                    <a:cubicBezTo>
                      <a:pt x="294" y="219"/>
                      <a:pt x="298" y="203"/>
                      <a:pt x="298" y="185"/>
                    </a:cubicBezTo>
                    <a:cubicBezTo>
                      <a:pt x="298" y="167"/>
                      <a:pt x="294" y="151"/>
                      <a:pt x="286" y="136"/>
                    </a:cubicBezTo>
                    <a:cubicBezTo>
                      <a:pt x="328" y="111"/>
                      <a:pt x="328" y="111"/>
                      <a:pt x="328" y="111"/>
                    </a:cubicBezTo>
                    <a:cubicBezTo>
                      <a:pt x="339" y="133"/>
                      <a:pt x="345" y="157"/>
                      <a:pt x="346" y="183"/>
                    </a:cubicBezTo>
                    <a:cubicBezTo>
                      <a:pt x="346" y="210"/>
                      <a:pt x="340" y="236"/>
                      <a:pt x="328" y="259"/>
                    </a:cubicBezTo>
                    <a:lnTo>
                      <a:pt x="286" y="234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defTabSz="725805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400" kern="0" dirty="0">
                  <a:solidFill>
                    <a:sysClr val="windowText" lastClr="000000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14" name="Group 99"/>
            <p:cNvGrpSpPr/>
            <p:nvPr/>
          </p:nvGrpSpPr>
          <p:grpSpPr>
            <a:xfrm>
              <a:off x="7776681" y="1428750"/>
              <a:ext cx="529120" cy="529120"/>
              <a:chOff x="7848600" y="1352550"/>
              <a:chExt cx="529120" cy="529120"/>
            </a:xfrm>
          </p:grpSpPr>
          <p:sp>
            <p:nvSpPr>
              <p:cNvPr id="29" name="Oval 87"/>
              <p:cNvSpPr/>
              <p:nvPr/>
            </p:nvSpPr>
            <p:spPr>
              <a:xfrm>
                <a:off x="7848600" y="1352550"/>
                <a:ext cx="529120" cy="529120"/>
              </a:xfrm>
              <a:prstGeom prst="ellipse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725805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400" kern="0" dirty="0">
                  <a:solidFill>
                    <a:schemeClr val="tx2"/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30" name="Group 55"/>
              <p:cNvGrpSpPr/>
              <p:nvPr/>
            </p:nvGrpSpPr>
            <p:grpSpPr>
              <a:xfrm>
                <a:off x="7974720" y="1498360"/>
                <a:ext cx="266836" cy="224488"/>
                <a:chOff x="4172623" y="2221990"/>
                <a:chExt cx="366676" cy="308484"/>
              </a:xfrm>
              <a:solidFill>
                <a:sysClr val="window" lastClr="FFFFFF"/>
              </a:solidFill>
            </p:grpSpPr>
            <p:sp>
              <p:nvSpPr>
                <p:cNvPr id="31" name="AutoShape 120"/>
                <p:cNvSpPr/>
                <p:nvPr/>
              </p:nvSpPr>
              <p:spPr bwMode="auto">
                <a:xfrm>
                  <a:off x="4264604" y="2302084"/>
                  <a:ext cx="182712" cy="182712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16948" y="16070"/>
                      </a:moveTo>
                      <a:cubicBezTo>
                        <a:pt x="14037" y="19468"/>
                        <a:pt x="8925" y="19859"/>
                        <a:pt x="5529" y="16948"/>
                      </a:cubicBezTo>
                      <a:cubicBezTo>
                        <a:pt x="2130" y="14038"/>
                        <a:pt x="1740" y="8924"/>
                        <a:pt x="4651" y="5527"/>
                      </a:cubicBezTo>
                      <a:cubicBezTo>
                        <a:pt x="7559" y="2131"/>
                        <a:pt x="12674" y="1740"/>
                        <a:pt x="16070" y="4650"/>
                      </a:cubicBezTo>
                      <a:cubicBezTo>
                        <a:pt x="19466" y="7560"/>
                        <a:pt x="19859" y="12673"/>
                        <a:pt x="16948" y="16070"/>
                      </a:cubicBezTo>
                      <a:moveTo>
                        <a:pt x="10800" y="0"/>
                      </a:moveTo>
                      <a:cubicBezTo>
                        <a:pt x="4833" y="0"/>
                        <a:pt x="0" y="4834"/>
                        <a:pt x="0" y="10800"/>
                      </a:cubicBezTo>
                      <a:cubicBezTo>
                        <a:pt x="0" y="16765"/>
                        <a:pt x="4833" y="21599"/>
                        <a:pt x="10800" y="21599"/>
                      </a:cubicBezTo>
                      <a:cubicBezTo>
                        <a:pt x="16764" y="21599"/>
                        <a:pt x="21600" y="16765"/>
                        <a:pt x="21600" y="10800"/>
                      </a:cubicBezTo>
                      <a:cubicBezTo>
                        <a:pt x="21600" y="4834"/>
                        <a:pt x="16764" y="0"/>
                        <a:pt x="10800" y="0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38100" tIns="38100" rIns="38100" bIns="38100" anchor="ctr"/>
                <a:lstStyle/>
                <a:p>
                  <a:pPr defTabSz="4572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3000" kern="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  <p:sp>
              <p:nvSpPr>
                <p:cNvPr id="32" name="AutoShape 121"/>
                <p:cNvSpPr/>
                <p:nvPr/>
              </p:nvSpPr>
              <p:spPr bwMode="auto">
                <a:xfrm>
                  <a:off x="4310283" y="2347762"/>
                  <a:ext cx="51310" cy="51310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19200" y="0"/>
                      </a:moveTo>
                      <a:cubicBezTo>
                        <a:pt x="8596" y="0"/>
                        <a:pt x="0" y="8596"/>
                        <a:pt x="0" y="19195"/>
                      </a:cubicBezTo>
                      <a:lnTo>
                        <a:pt x="0" y="19199"/>
                      </a:lnTo>
                      <a:cubicBezTo>
                        <a:pt x="0" y="20524"/>
                        <a:pt x="1068" y="21599"/>
                        <a:pt x="2400" y="21599"/>
                      </a:cubicBezTo>
                      <a:cubicBezTo>
                        <a:pt x="3721" y="21599"/>
                        <a:pt x="4800" y="20524"/>
                        <a:pt x="4800" y="19199"/>
                      </a:cubicBezTo>
                      <a:lnTo>
                        <a:pt x="4800" y="19195"/>
                      </a:lnTo>
                      <a:cubicBezTo>
                        <a:pt x="4800" y="11247"/>
                        <a:pt x="11240" y="4799"/>
                        <a:pt x="19200" y="4799"/>
                      </a:cubicBezTo>
                      <a:cubicBezTo>
                        <a:pt x="20521" y="4799"/>
                        <a:pt x="21600" y="3724"/>
                        <a:pt x="21600" y="2399"/>
                      </a:cubicBezTo>
                      <a:cubicBezTo>
                        <a:pt x="21600" y="1075"/>
                        <a:pt x="20521" y="0"/>
                        <a:pt x="19200" y="0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38100" tIns="38100" rIns="38100" bIns="38100" anchor="ctr"/>
                <a:lstStyle/>
                <a:p>
                  <a:pPr defTabSz="4572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3000" kern="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  <p:sp>
              <p:nvSpPr>
                <p:cNvPr id="33" name="AutoShape 122"/>
                <p:cNvSpPr/>
                <p:nvPr/>
              </p:nvSpPr>
              <p:spPr bwMode="auto">
                <a:xfrm>
                  <a:off x="4172623" y="2221990"/>
                  <a:ext cx="366676" cy="308484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20249" y="19199"/>
                      </a:moveTo>
                      <a:cubicBezTo>
                        <a:pt x="20249" y="19642"/>
                        <a:pt x="19948" y="19999"/>
                        <a:pt x="19575" y="19999"/>
                      </a:cubicBezTo>
                      <a:lnTo>
                        <a:pt x="2024" y="19999"/>
                      </a:lnTo>
                      <a:cubicBezTo>
                        <a:pt x="1651" y="19999"/>
                        <a:pt x="1349" y="19642"/>
                        <a:pt x="1349" y="19199"/>
                      </a:cubicBezTo>
                      <a:lnTo>
                        <a:pt x="1349" y="7200"/>
                      </a:lnTo>
                      <a:cubicBezTo>
                        <a:pt x="1349" y="6809"/>
                        <a:pt x="1588" y="6475"/>
                        <a:pt x="1914" y="6411"/>
                      </a:cubicBezTo>
                      <a:lnTo>
                        <a:pt x="5588" y="5684"/>
                      </a:lnTo>
                      <a:lnTo>
                        <a:pt x="6797" y="2103"/>
                      </a:lnTo>
                      <a:cubicBezTo>
                        <a:pt x="6900" y="1799"/>
                        <a:pt x="7148" y="1600"/>
                        <a:pt x="7424" y="1600"/>
                      </a:cubicBezTo>
                      <a:lnTo>
                        <a:pt x="14174" y="1600"/>
                      </a:lnTo>
                      <a:cubicBezTo>
                        <a:pt x="14450" y="1600"/>
                        <a:pt x="14698" y="1799"/>
                        <a:pt x="14801" y="2103"/>
                      </a:cubicBezTo>
                      <a:lnTo>
                        <a:pt x="16010" y="5684"/>
                      </a:lnTo>
                      <a:lnTo>
                        <a:pt x="19685" y="6411"/>
                      </a:lnTo>
                      <a:cubicBezTo>
                        <a:pt x="20011" y="6475"/>
                        <a:pt x="20249" y="6809"/>
                        <a:pt x="20249" y="7200"/>
                      </a:cubicBezTo>
                      <a:cubicBezTo>
                        <a:pt x="20249" y="7200"/>
                        <a:pt x="20249" y="19199"/>
                        <a:pt x="20249" y="19199"/>
                      </a:cubicBezTo>
                      <a:close/>
                      <a:moveTo>
                        <a:pt x="19907" y="4832"/>
                      </a:moveTo>
                      <a:lnTo>
                        <a:pt x="16981" y="4254"/>
                      </a:lnTo>
                      <a:lnTo>
                        <a:pt x="16054" y="1507"/>
                      </a:lnTo>
                      <a:cubicBezTo>
                        <a:pt x="15745" y="591"/>
                        <a:pt x="15006" y="0"/>
                        <a:pt x="14174" y="0"/>
                      </a:cubicBezTo>
                      <a:lnTo>
                        <a:pt x="7424" y="0"/>
                      </a:lnTo>
                      <a:cubicBezTo>
                        <a:pt x="6593" y="0"/>
                        <a:pt x="5854" y="591"/>
                        <a:pt x="5543" y="1509"/>
                      </a:cubicBezTo>
                      <a:lnTo>
                        <a:pt x="4618" y="4254"/>
                      </a:lnTo>
                      <a:lnTo>
                        <a:pt x="1692" y="4832"/>
                      </a:lnTo>
                      <a:cubicBezTo>
                        <a:pt x="711" y="5025"/>
                        <a:pt x="0" y="6020"/>
                        <a:pt x="0" y="7200"/>
                      </a:cubicBezTo>
                      <a:lnTo>
                        <a:pt x="0" y="19199"/>
                      </a:lnTo>
                      <a:cubicBezTo>
                        <a:pt x="0" y="20523"/>
                        <a:pt x="908" y="21600"/>
                        <a:pt x="2024" y="21600"/>
                      </a:cubicBezTo>
                      <a:lnTo>
                        <a:pt x="19575" y="21600"/>
                      </a:lnTo>
                      <a:cubicBezTo>
                        <a:pt x="20691" y="21600"/>
                        <a:pt x="21600" y="20523"/>
                        <a:pt x="21600" y="19199"/>
                      </a:cubicBezTo>
                      <a:lnTo>
                        <a:pt x="21600" y="7200"/>
                      </a:lnTo>
                      <a:cubicBezTo>
                        <a:pt x="21600" y="6020"/>
                        <a:pt x="20888" y="5025"/>
                        <a:pt x="19907" y="4832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38100" tIns="38100" rIns="38100" bIns="38100" anchor="ctr"/>
                <a:lstStyle/>
                <a:p>
                  <a:pPr defTabSz="4572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3000" kern="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15" name="Group 97"/>
            <p:cNvGrpSpPr/>
            <p:nvPr/>
          </p:nvGrpSpPr>
          <p:grpSpPr>
            <a:xfrm>
              <a:off x="6248400" y="1428750"/>
              <a:ext cx="529120" cy="529120"/>
              <a:chOff x="6248400" y="1352550"/>
              <a:chExt cx="529120" cy="529120"/>
            </a:xfrm>
          </p:grpSpPr>
          <p:sp>
            <p:nvSpPr>
              <p:cNvPr id="27" name="Oval 85"/>
              <p:cNvSpPr/>
              <p:nvPr/>
            </p:nvSpPr>
            <p:spPr>
              <a:xfrm>
                <a:off x="6248400" y="1352550"/>
                <a:ext cx="529120" cy="529120"/>
              </a:xfrm>
              <a:prstGeom prst="ellipse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725805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400" kern="0" dirty="0">
                  <a:solidFill>
                    <a:sysClr val="window" lastClr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8" name="AutoShape 112"/>
              <p:cNvSpPr/>
              <p:nvPr/>
            </p:nvSpPr>
            <p:spPr bwMode="auto">
              <a:xfrm>
                <a:off x="6374435" y="1478670"/>
                <a:ext cx="266380" cy="266836"/>
              </a:xfrm>
              <a:custGeom>
                <a:avLst/>
                <a:gdLst>
                  <a:gd name="T0" fmla="*/ 10510 w 21020"/>
                  <a:gd name="T1" fmla="*/ 10800 h 21600"/>
                  <a:gd name="T2" fmla="*/ 10510 w 21020"/>
                  <a:gd name="T3" fmla="*/ 10800 h 21600"/>
                  <a:gd name="T4" fmla="*/ 10510 w 21020"/>
                  <a:gd name="T5" fmla="*/ 10800 h 21600"/>
                  <a:gd name="T6" fmla="*/ 10510 w 2102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020" h="21600">
                    <a:moveTo>
                      <a:pt x="18846" y="7946"/>
                    </a:moveTo>
                    <a:lnTo>
                      <a:pt x="17740" y="9091"/>
                    </a:lnTo>
                    <a:cubicBezTo>
                      <a:pt x="17740" y="8939"/>
                      <a:pt x="17758" y="8792"/>
                      <a:pt x="17744" y="8636"/>
                    </a:cubicBezTo>
                    <a:cubicBezTo>
                      <a:pt x="17629" y="7331"/>
                      <a:pt x="17036" y="6068"/>
                      <a:pt x="16074" y="5080"/>
                    </a:cubicBezTo>
                    <a:cubicBezTo>
                      <a:pt x="15004" y="3980"/>
                      <a:pt x="13585" y="3348"/>
                      <a:pt x="12180" y="3345"/>
                    </a:cubicBezTo>
                    <a:lnTo>
                      <a:pt x="13268" y="2218"/>
                    </a:lnTo>
                    <a:cubicBezTo>
                      <a:pt x="13812" y="1659"/>
                      <a:pt x="14572" y="1350"/>
                      <a:pt x="15403" y="1350"/>
                    </a:cubicBezTo>
                    <a:cubicBezTo>
                      <a:pt x="16460" y="1350"/>
                      <a:pt x="17546" y="1840"/>
                      <a:pt x="18381" y="2696"/>
                    </a:cubicBezTo>
                    <a:cubicBezTo>
                      <a:pt x="19165" y="3500"/>
                      <a:pt x="19631" y="4499"/>
                      <a:pt x="19698" y="5510"/>
                    </a:cubicBezTo>
                    <a:cubicBezTo>
                      <a:pt x="19760" y="6453"/>
                      <a:pt x="19457" y="7317"/>
                      <a:pt x="18846" y="7946"/>
                    </a:cubicBezTo>
                    <a:moveTo>
                      <a:pt x="5828" y="19329"/>
                    </a:moveTo>
                    <a:cubicBezTo>
                      <a:pt x="5813" y="18424"/>
                      <a:pt x="5454" y="17481"/>
                      <a:pt x="4730" y="16739"/>
                    </a:cubicBezTo>
                    <a:cubicBezTo>
                      <a:pt x="4046" y="16034"/>
                      <a:pt x="3150" y="15628"/>
                      <a:pt x="2257" y="15592"/>
                    </a:cubicBezTo>
                    <a:lnTo>
                      <a:pt x="2911" y="13157"/>
                    </a:lnTo>
                    <a:cubicBezTo>
                      <a:pt x="2959" y="12995"/>
                      <a:pt x="3052" y="12835"/>
                      <a:pt x="3168" y="12695"/>
                    </a:cubicBezTo>
                    <a:cubicBezTo>
                      <a:pt x="4485" y="11726"/>
                      <a:pt x="6512" y="12012"/>
                      <a:pt x="7920" y="13460"/>
                    </a:cubicBezTo>
                    <a:cubicBezTo>
                      <a:pt x="9409" y="14990"/>
                      <a:pt x="9639" y="17230"/>
                      <a:pt x="8492" y="18568"/>
                    </a:cubicBezTo>
                    <a:cubicBezTo>
                      <a:pt x="8416" y="18609"/>
                      <a:pt x="8339" y="18648"/>
                      <a:pt x="8256" y="18675"/>
                    </a:cubicBezTo>
                    <a:cubicBezTo>
                      <a:pt x="8256" y="18675"/>
                      <a:pt x="5828" y="19329"/>
                      <a:pt x="5828" y="19329"/>
                    </a:cubicBezTo>
                    <a:close/>
                    <a:moveTo>
                      <a:pt x="2737" y="20164"/>
                    </a:moveTo>
                    <a:cubicBezTo>
                      <a:pt x="2665" y="20181"/>
                      <a:pt x="2443" y="20239"/>
                      <a:pt x="2291" y="20249"/>
                    </a:cubicBezTo>
                    <a:cubicBezTo>
                      <a:pt x="1751" y="20244"/>
                      <a:pt x="1313" y="19792"/>
                      <a:pt x="1313" y="19237"/>
                    </a:cubicBezTo>
                    <a:cubicBezTo>
                      <a:pt x="1321" y="19124"/>
                      <a:pt x="1365" y="18929"/>
                      <a:pt x="1380" y="18857"/>
                    </a:cubicBezTo>
                    <a:lnTo>
                      <a:pt x="2071" y="16283"/>
                    </a:lnTo>
                    <a:cubicBezTo>
                      <a:pt x="2822" y="16261"/>
                      <a:pt x="3630" y="16562"/>
                      <a:pt x="4265" y="17215"/>
                    </a:cubicBezTo>
                    <a:cubicBezTo>
                      <a:pt x="4911" y="17878"/>
                      <a:pt x="5214" y="18725"/>
                      <a:pt x="5181" y="19504"/>
                    </a:cubicBezTo>
                    <a:cubicBezTo>
                      <a:pt x="5181" y="19504"/>
                      <a:pt x="2737" y="20164"/>
                      <a:pt x="2737" y="20164"/>
                    </a:cubicBezTo>
                    <a:close/>
                    <a:moveTo>
                      <a:pt x="6888" y="11179"/>
                    </a:moveTo>
                    <a:cubicBezTo>
                      <a:pt x="6280" y="10927"/>
                      <a:pt x="5642" y="10783"/>
                      <a:pt x="5004" y="10774"/>
                    </a:cubicBezTo>
                    <a:lnTo>
                      <a:pt x="10063" y="5536"/>
                    </a:lnTo>
                    <a:cubicBezTo>
                      <a:pt x="10838" y="4759"/>
                      <a:pt x="11966" y="4536"/>
                      <a:pt x="13077" y="4819"/>
                    </a:cubicBezTo>
                    <a:cubicBezTo>
                      <a:pt x="13077" y="4819"/>
                      <a:pt x="6888" y="11179"/>
                      <a:pt x="6888" y="11179"/>
                    </a:cubicBezTo>
                    <a:close/>
                    <a:moveTo>
                      <a:pt x="9717" y="13672"/>
                    </a:moveTo>
                    <a:cubicBezTo>
                      <a:pt x="9473" y="13258"/>
                      <a:pt x="9194" y="12859"/>
                      <a:pt x="8848" y="12505"/>
                    </a:cubicBezTo>
                    <a:cubicBezTo>
                      <a:pt x="8447" y="12093"/>
                      <a:pt x="7986" y="11770"/>
                      <a:pt x="7507" y="11498"/>
                    </a:cubicBezTo>
                    <a:lnTo>
                      <a:pt x="13767" y="5064"/>
                    </a:lnTo>
                    <a:cubicBezTo>
                      <a:pt x="14259" y="5288"/>
                      <a:pt x="14729" y="5607"/>
                      <a:pt x="15145" y="6035"/>
                    </a:cubicBezTo>
                    <a:cubicBezTo>
                      <a:pt x="15500" y="6398"/>
                      <a:pt x="15775" y="6806"/>
                      <a:pt x="15987" y="7229"/>
                    </a:cubicBezTo>
                    <a:cubicBezTo>
                      <a:pt x="15987" y="7229"/>
                      <a:pt x="9717" y="13672"/>
                      <a:pt x="9717" y="13672"/>
                    </a:cubicBezTo>
                    <a:close/>
                    <a:moveTo>
                      <a:pt x="10519" y="16061"/>
                    </a:moveTo>
                    <a:cubicBezTo>
                      <a:pt x="10465" y="15452"/>
                      <a:pt x="10298" y="14854"/>
                      <a:pt x="10047" y="14288"/>
                    </a:cubicBezTo>
                    <a:lnTo>
                      <a:pt x="16257" y="7906"/>
                    </a:lnTo>
                    <a:cubicBezTo>
                      <a:pt x="16637" y="9140"/>
                      <a:pt x="16442" y="10429"/>
                      <a:pt x="15610" y="11284"/>
                    </a:cubicBezTo>
                    <a:cubicBezTo>
                      <a:pt x="15604" y="11290"/>
                      <a:pt x="15598" y="11293"/>
                      <a:pt x="15593" y="11298"/>
                    </a:cubicBezTo>
                    <a:lnTo>
                      <a:pt x="15602" y="11306"/>
                    </a:lnTo>
                    <a:lnTo>
                      <a:pt x="10525" y="16565"/>
                    </a:lnTo>
                    <a:cubicBezTo>
                      <a:pt x="10527" y="16397"/>
                      <a:pt x="10534" y="16232"/>
                      <a:pt x="10519" y="16061"/>
                    </a:cubicBezTo>
                    <a:moveTo>
                      <a:pt x="19308" y="1741"/>
                    </a:moveTo>
                    <a:cubicBezTo>
                      <a:pt x="18228" y="632"/>
                      <a:pt x="16805" y="0"/>
                      <a:pt x="15403" y="0"/>
                    </a:cubicBezTo>
                    <a:cubicBezTo>
                      <a:pt x="14220" y="0"/>
                      <a:pt x="13131" y="450"/>
                      <a:pt x="12335" y="1266"/>
                    </a:cubicBezTo>
                    <a:lnTo>
                      <a:pt x="9138" y="4577"/>
                    </a:lnTo>
                    <a:cubicBezTo>
                      <a:pt x="9129" y="4585"/>
                      <a:pt x="9118" y="4592"/>
                      <a:pt x="9108" y="4602"/>
                    </a:cubicBezTo>
                    <a:cubicBezTo>
                      <a:pt x="9103" y="4608"/>
                      <a:pt x="9100" y="4614"/>
                      <a:pt x="9095" y="4620"/>
                    </a:cubicBezTo>
                    <a:lnTo>
                      <a:pt x="9096" y="4621"/>
                    </a:lnTo>
                    <a:lnTo>
                      <a:pt x="2310" y="11647"/>
                    </a:lnTo>
                    <a:cubicBezTo>
                      <a:pt x="1998" y="11966"/>
                      <a:pt x="1771" y="12364"/>
                      <a:pt x="1645" y="12797"/>
                    </a:cubicBezTo>
                    <a:lnTo>
                      <a:pt x="102" y="18541"/>
                    </a:lnTo>
                    <a:cubicBezTo>
                      <a:pt x="100" y="18557"/>
                      <a:pt x="0" y="19008"/>
                      <a:pt x="0" y="19237"/>
                    </a:cubicBezTo>
                    <a:cubicBezTo>
                      <a:pt x="0" y="20541"/>
                      <a:pt x="1030" y="21599"/>
                      <a:pt x="2302" y="21599"/>
                    </a:cubicBezTo>
                    <a:cubicBezTo>
                      <a:pt x="2554" y="21599"/>
                      <a:pt x="3044" y="21475"/>
                      <a:pt x="3062" y="21473"/>
                    </a:cubicBezTo>
                    <a:lnTo>
                      <a:pt x="8630" y="19969"/>
                    </a:lnTo>
                    <a:cubicBezTo>
                      <a:pt x="9054" y="19839"/>
                      <a:pt x="9439" y="19604"/>
                      <a:pt x="9750" y="19283"/>
                    </a:cubicBezTo>
                    <a:lnTo>
                      <a:pt x="19776" y="8899"/>
                    </a:lnTo>
                    <a:cubicBezTo>
                      <a:pt x="21600" y="7023"/>
                      <a:pt x="21394" y="3881"/>
                      <a:pt x="19308" y="1741"/>
                    </a:cubicBezTo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38100" tIns="38100" rIns="38100" bIns="38100" anchor="ctr"/>
              <a:lstStyle/>
              <a:p>
                <a:pPr defTabSz="4572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+mn-ea"/>
                  <a:sym typeface="+mn-lt"/>
                </a:endParaRPr>
              </a:p>
            </p:txBody>
          </p:sp>
        </p:grpSp>
        <p:grpSp>
          <p:nvGrpSpPr>
            <p:cNvPr id="16" name="Group 98"/>
            <p:cNvGrpSpPr/>
            <p:nvPr/>
          </p:nvGrpSpPr>
          <p:grpSpPr>
            <a:xfrm>
              <a:off x="7010400" y="1428750"/>
              <a:ext cx="529120" cy="529120"/>
              <a:chOff x="7010400" y="1352550"/>
              <a:chExt cx="529120" cy="529120"/>
            </a:xfrm>
          </p:grpSpPr>
          <p:sp>
            <p:nvSpPr>
              <p:cNvPr id="17" name="Oval 86"/>
              <p:cNvSpPr/>
              <p:nvPr/>
            </p:nvSpPr>
            <p:spPr>
              <a:xfrm>
                <a:off x="7010400" y="1352550"/>
                <a:ext cx="529120" cy="529120"/>
              </a:xfrm>
              <a:prstGeom prst="ellipse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725805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400" kern="0" dirty="0">
                  <a:solidFill>
                    <a:sysClr val="window" lastClr="FFFFFF"/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18" name="Group 79"/>
              <p:cNvGrpSpPr/>
              <p:nvPr/>
            </p:nvGrpSpPr>
            <p:grpSpPr>
              <a:xfrm>
                <a:off x="7136435" y="1478585"/>
                <a:ext cx="266380" cy="266380"/>
                <a:chOff x="6417734" y="2183821"/>
                <a:chExt cx="366050" cy="366050"/>
              </a:xfrm>
              <a:solidFill>
                <a:sysClr val="window" lastClr="FFFFFF"/>
              </a:solidFill>
            </p:grpSpPr>
            <p:sp>
              <p:nvSpPr>
                <p:cNvPr id="23" name="AutoShape 52"/>
                <p:cNvSpPr/>
                <p:nvPr/>
              </p:nvSpPr>
              <p:spPr bwMode="auto">
                <a:xfrm>
                  <a:off x="6417734" y="2183821"/>
                  <a:ext cx="366050" cy="366050"/>
                </a:xfrm>
                <a:custGeom>
                  <a:avLst/>
                  <a:gdLst>
                    <a:gd name="T0" fmla="+- 0 10800 87"/>
                    <a:gd name="T1" fmla="*/ T0 w 21426"/>
                    <a:gd name="T2" fmla="+- 0 10799 73"/>
                    <a:gd name="T3" fmla="*/ 10799 h 21453"/>
                    <a:gd name="T4" fmla="+- 0 10800 87"/>
                    <a:gd name="T5" fmla="*/ T4 w 21426"/>
                    <a:gd name="T6" fmla="+- 0 10799 73"/>
                    <a:gd name="T7" fmla="*/ 10799 h 21453"/>
                    <a:gd name="T8" fmla="+- 0 10800 87"/>
                    <a:gd name="T9" fmla="*/ T8 w 21426"/>
                    <a:gd name="T10" fmla="+- 0 10799 73"/>
                    <a:gd name="T11" fmla="*/ 10799 h 21453"/>
                    <a:gd name="T12" fmla="+- 0 10800 87"/>
                    <a:gd name="T13" fmla="*/ T12 w 21426"/>
                    <a:gd name="T14" fmla="+- 0 10799 73"/>
                    <a:gd name="T15" fmla="*/ 10799 h 21453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</a:cxnLst>
                  <a:rect l="0" t="0" r="r" b="b"/>
                  <a:pathLst>
                    <a:path w="21426" h="21453">
                      <a:moveTo>
                        <a:pt x="8034" y="20112"/>
                      </a:moveTo>
                      <a:cubicBezTo>
                        <a:pt x="5816" y="17892"/>
                        <a:pt x="3556" y="15628"/>
                        <a:pt x="1338" y="13408"/>
                      </a:cubicBezTo>
                      <a:cubicBezTo>
                        <a:pt x="3241" y="7240"/>
                        <a:pt x="11488" y="7509"/>
                        <a:pt x="13391" y="1341"/>
                      </a:cubicBezTo>
                      <a:cubicBezTo>
                        <a:pt x="15609" y="3560"/>
                        <a:pt x="17869" y="5825"/>
                        <a:pt x="20087" y="8045"/>
                      </a:cubicBezTo>
                      <a:cubicBezTo>
                        <a:pt x="18184" y="14212"/>
                        <a:pt x="9937" y="13944"/>
                        <a:pt x="8034" y="20112"/>
                      </a:cubicBezTo>
                      <a:moveTo>
                        <a:pt x="21034" y="7097"/>
                      </a:moveTo>
                      <a:lnTo>
                        <a:pt x="14338" y="393"/>
                      </a:lnTo>
                      <a:cubicBezTo>
                        <a:pt x="14006" y="60"/>
                        <a:pt x="13525" y="-73"/>
                        <a:pt x="13069" y="39"/>
                      </a:cubicBezTo>
                      <a:cubicBezTo>
                        <a:pt x="12828" y="98"/>
                        <a:pt x="12614" y="222"/>
                        <a:pt x="12444" y="393"/>
                      </a:cubicBezTo>
                      <a:cubicBezTo>
                        <a:pt x="12292" y="545"/>
                        <a:pt x="12177" y="733"/>
                        <a:pt x="12112" y="944"/>
                      </a:cubicBezTo>
                      <a:cubicBezTo>
                        <a:pt x="11808" y="1929"/>
                        <a:pt x="11283" y="2785"/>
                        <a:pt x="10507" y="3562"/>
                      </a:cubicBezTo>
                      <a:cubicBezTo>
                        <a:pt x="9471" y="4598"/>
                        <a:pt x="8121" y="5384"/>
                        <a:pt x="6693" y="6214"/>
                      </a:cubicBezTo>
                      <a:cubicBezTo>
                        <a:pt x="5177" y="7094"/>
                        <a:pt x="3611" y="8006"/>
                        <a:pt x="2328" y="9290"/>
                      </a:cubicBezTo>
                      <a:cubicBezTo>
                        <a:pt x="1237" y="10383"/>
                        <a:pt x="493" y="11600"/>
                        <a:pt x="59" y="13011"/>
                      </a:cubicBezTo>
                      <a:cubicBezTo>
                        <a:pt x="-87" y="13488"/>
                        <a:pt x="40" y="14004"/>
                        <a:pt x="391" y="14356"/>
                      </a:cubicBezTo>
                      <a:lnTo>
                        <a:pt x="7087" y="21060"/>
                      </a:lnTo>
                      <a:cubicBezTo>
                        <a:pt x="7419" y="21393"/>
                        <a:pt x="7900" y="21526"/>
                        <a:pt x="8356" y="21414"/>
                      </a:cubicBezTo>
                      <a:cubicBezTo>
                        <a:pt x="8597" y="21354"/>
                        <a:pt x="8811" y="21231"/>
                        <a:pt x="8981" y="21060"/>
                      </a:cubicBezTo>
                      <a:cubicBezTo>
                        <a:pt x="9133" y="20908"/>
                        <a:pt x="9248" y="20720"/>
                        <a:pt x="9314" y="20508"/>
                      </a:cubicBezTo>
                      <a:cubicBezTo>
                        <a:pt x="9617" y="19523"/>
                        <a:pt x="10142" y="18667"/>
                        <a:pt x="10918" y="17890"/>
                      </a:cubicBezTo>
                      <a:cubicBezTo>
                        <a:pt x="11954" y="16853"/>
                        <a:pt x="13304" y="16069"/>
                        <a:pt x="14733" y="15239"/>
                      </a:cubicBezTo>
                      <a:cubicBezTo>
                        <a:pt x="16248" y="14357"/>
                        <a:pt x="17814" y="13446"/>
                        <a:pt x="19097" y="12162"/>
                      </a:cubicBezTo>
                      <a:cubicBezTo>
                        <a:pt x="20188" y="11070"/>
                        <a:pt x="20932" y="9852"/>
                        <a:pt x="21366" y="8440"/>
                      </a:cubicBezTo>
                      <a:cubicBezTo>
                        <a:pt x="21512" y="7965"/>
                        <a:pt x="21385" y="7448"/>
                        <a:pt x="21034" y="7097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38100" tIns="38100" rIns="38100" bIns="38100" anchor="ctr"/>
                <a:lstStyle/>
                <a:p>
                  <a:pPr defTabSz="4572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3000" kern="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  <p:sp>
              <p:nvSpPr>
                <p:cNvPr id="24" name="AutoShape 53"/>
                <p:cNvSpPr/>
                <p:nvPr/>
              </p:nvSpPr>
              <p:spPr bwMode="auto">
                <a:xfrm>
                  <a:off x="6555394" y="2309592"/>
                  <a:ext cx="98865" cy="102619"/>
                </a:xfrm>
                <a:custGeom>
                  <a:avLst/>
                  <a:gdLst>
                    <a:gd name="T0" fmla="+- 0 10801 59"/>
                    <a:gd name="T1" fmla="*/ T0 w 21484"/>
                    <a:gd name="T2" fmla="+- 0 10799 41"/>
                    <a:gd name="T3" fmla="*/ 10799 h 21516"/>
                    <a:gd name="T4" fmla="+- 0 10801 59"/>
                    <a:gd name="T5" fmla="*/ T4 w 21484"/>
                    <a:gd name="T6" fmla="+- 0 10799 41"/>
                    <a:gd name="T7" fmla="*/ 10799 h 21516"/>
                    <a:gd name="T8" fmla="+- 0 10801 59"/>
                    <a:gd name="T9" fmla="*/ T8 w 21484"/>
                    <a:gd name="T10" fmla="+- 0 10799 41"/>
                    <a:gd name="T11" fmla="*/ 10799 h 21516"/>
                    <a:gd name="T12" fmla="+- 0 10801 59"/>
                    <a:gd name="T13" fmla="*/ T12 w 21484"/>
                    <a:gd name="T14" fmla="+- 0 10799 41"/>
                    <a:gd name="T15" fmla="*/ 10799 h 21516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</a:cxnLst>
                  <a:rect l="0" t="0" r="r" b="b"/>
                  <a:pathLst>
                    <a:path w="21484" h="21516">
                      <a:moveTo>
                        <a:pt x="17511" y="14987"/>
                      </a:moveTo>
                      <a:cubicBezTo>
                        <a:pt x="17287" y="15384"/>
                        <a:pt x="17032" y="15740"/>
                        <a:pt x="16731" y="16049"/>
                      </a:cubicBezTo>
                      <a:cubicBezTo>
                        <a:pt x="15340" y="14692"/>
                        <a:pt x="13947" y="13205"/>
                        <a:pt x="12559" y="11675"/>
                      </a:cubicBezTo>
                      <a:cubicBezTo>
                        <a:pt x="12912" y="11521"/>
                        <a:pt x="13287" y="11362"/>
                        <a:pt x="13689" y="11198"/>
                      </a:cubicBezTo>
                      <a:cubicBezTo>
                        <a:pt x="14092" y="11034"/>
                        <a:pt x="14494" y="10927"/>
                        <a:pt x="14895" y="10861"/>
                      </a:cubicBezTo>
                      <a:cubicBezTo>
                        <a:pt x="15308" y="10801"/>
                        <a:pt x="15715" y="10819"/>
                        <a:pt x="16122" y="10913"/>
                      </a:cubicBezTo>
                      <a:cubicBezTo>
                        <a:pt x="16527" y="11011"/>
                        <a:pt x="16909" y="11222"/>
                        <a:pt x="17262" y="11554"/>
                      </a:cubicBezTo>
                      <a:cubicBezTo>
                        <a:pt x="17612" y="11890"/>
                        <a:pt x="17835" y="12244"/>
                        <a:pt x="17923" y="12620"/>
                      </a:cubicBezTo>
                      <a:cubicBezTo>
                        <a:pt x="18020" y="13004"/>
                        <a:pt x="18025" y="13392"/>
                        <a:pt x="17958" y="13789"/>
                      </a:cubicBezTo>
                      <a:cubicBezTo>
                        <a:pt x="17883" y="14187"/>
                        <a:pt x="17738" y="14585"/>
                        <a:pt x="17511" y="14987"/>
                      </a:cubicBezTo>
                      <a:moveTo>
                        <a:pt x="5799" y="10193"/>
                      </a:moveTo>
                      <a:cubicBezTo>
                        <a:pt x="5096" y="10221"/>
                        <a:pt x="4482" y="9996"/>
                        <a:pt x="3946" y="9496"/>
                      </a:cubicBezTo>
                      <a:cubicBezTo>
                        <a:pt x="3717" y="9285"/>
                        <a:pt x="3558" y="9028"/>
                        <a:pt x="3461" y="8724"/>
                      </a:cubicBezTo>
                      <a:cubicBezTo>
                        <a:pt x="3359" y="8420"/>
                        <a:pt x="3326" y="8088"/>
                        <a:pt x="3366" y="7723"/>
                      </a:cubicBezTo>
                      <a:cubicBezTo>
                        <a:pt x="3397" y="7363"/>
                        <a:pt x="3509" y="6989"/>
                        <a:pt x="3703" y="6610"/>
                      </a:cubicBezTo>
                      <a:cubicBezTo>
                        <a:pt x="3889" y="6231"/>
                        <a:pt x="4160" y="5852"/>
                        <a:pt x="4510" y="5487"/>
                      </a:cubicBezTo>
                      <a:cubicBezTo>
                        <a:pt x="5768" y="6694"/>
                        <a:pt x="7022" y="8018"/>
                        <a:pt x="8282" y="9388"/>
                      </a:cubicBezTo>
                      <a:cubicBezTo>
                        <a:pt x="7330" y="9893"/>
                        <a:pt x="6501" y="10164"/>
                        <a:pt x="5799" y="10193"/>
                      </a:cubicBezTo>
                      <a:moveTo>
                        <a:pt x="19678" y="8570"/>
                      </a:moveTo>
                      <a:cubicBezTo>
                        <a:pt x="18868" y="7915"/>
                        <a:pt x="18055" y="7470"/>
                        <a:pt x="17235" y="7250"/>
                      </a:cubicBezTo>
                      <a:cubicBezTo>
                        <a:pt x="16421" y="7031"/>
                        <a:pt x="15603" y="6942"/>
                        <a:pt x="14779" y="6998"/>
                      </a:cubicBezTo>
                      <a:cubicBezTo>
                        <a:pt x="13964" y="7059"/>
                        <a:pt x="13130" y="7236"/>
                        <a:pt x="12296" y="7545"/>
                      </a:cubicBezTo>
                      <a:cubicBezTo>
                        <a:pt x="11462" y="7859"/>
                        <a:pt x="10625" y="8200"/>
                        <a:pt x="9782" y="8593"/>
                      </a:cubicBezTo>
                      <a:cubicBezTo>
                        <a:pt x="8448" y="7115"/>
                        <a:pt x="7114" y="5658"/>
                        <a:pt x="5778" y="4299"/>
                      </a:cubicBezTo>
                      <a:cubicBezTo>
                        <a:pt x="6382" y="3775"/>
                        <a:pt x="6963" y="3509"/>
                        <a:pt x="7526" y="3490"/>
                      </a:cubicBezTo>
                      <a:cubicBezTo>
                        <a:pt x="8088" y="3467"/>
                        <a:pt x="8631" y="3523"/>
                        <a:pt x="9145" y="3649"/>
                      </a:cubicBezTo>
                      <a:cubicBezTo>
                        <a:pt x="9669" y="3775"/>
                        <a:pt x="10149" y="3883"/>
                        <a:pt x="10590" y="3967"/>
                      </a:cubicBezTo>
                      <a:cubicBezTo>
                        <a:pt x="11038" y="4051"/>
                        <a:pt x="11424" y="3958"/>
                        <a:pt x="11765" y="3682"/>
                      </a:cubicBezTo>
                      <a:cubicBezTo>
                        <a:pt x="12123" y="3382"/>
                        <a:pt x="12321" y="2994"/>
                        <a:pt x="12351" y="2526"/>
                      </a:cubicBezTo>
                      <a:cubicBezTo>
                        <a:pt x="12376" y="2054"/>
                        <a:pt x="12189" y="1596"/>
                        <a:pt x="11782" y="1147"/>
                      </a:cubicBezTo>
                      <a:cubicBezTo>
                        <a:pt x="11258" y="569"/>
                        <a:pt x="10630" y="216"/>
                        <a:pt x="9872" y="85"/>
                      </a:cubicBezTo>
                      <a:cubicBezTo>
                        <a:pt x="9126" y="-41"/>
                        <a:pt x="8358" y="-30"/>
                        <a:pt x="7564" y="136"/>
                      </a:cubicBezTo>
                      <a:cubicBezTo>
                        <a:pt x="6780" y="309"/>
                        <a:pt x="6032" y="595"/>
                        <a:pt x="5324" y="997"/>
                      </a:cubicBezTo>
                      <a:cubicBezTo>
                        <a:pt x="4617" y="1399"/>
                        <a:pt x="4048" y="1811"/>
                        <a:pt x="3626" y="2213"/>
                      </a:cubicBezTo>
                      <a:cubicBezTo>
                        <a:pt x="3464" y="2066"/>
                        <a:pt x="3302" y="1918"/>
                        <a:pt x="3141" y="1773"/>
                      </a:cubicBezTo>
                      <a:cubicBezTo>
                        <a:pt x="2963" y="1614"/>
                        <a:pt x="2739" y="1530"/>
                        <a:pt x="2471" y="1535"/>
                      </a:cubicBezTo>
                      <a:cubicBezTo>
                        <a:pt x="2200" y="1535"/>
                        <a:pt x="1977" y="1647"/>
                        <a:pt x="1793" y="1853"/>
                      </a:cubicBezTo>
                      <a:cubicBezTo>
                        <a:pt x="1615" y="2054"/>
                        <a:pt x="1530" y="2288"/>
                        <a:pt x="1565" y="2536"/>
                      </a:cubicBezTo>
                      <a:cubicBezTo>
                        <a:pt x="1589" y="2793"/>
                        <a:pt x="1696" y="2989"/>
                        <a:pt x="1880" y="3139"/>
                      </a:cubicBezTo>
                      <a:cubicBezTo>
                        <a:pt x="2044" y="3270"/>
                        <a:pt x="2203" y="3401"/>
                        <a:pt x="2364" y="3537"/>
                      </a:cubicBezTo>
                      <a:cubicBezTo>
                        <a:pt x="1731" y="4276"/>
                        <a:pt x="1207" y="5094"/>
                        <a:pt x="795" y="5957"/>
                      </a:cubicBezTo>
                      <a:cubicBezTo>
                        <a:pt x="378" y="6820"/>
                        <a:pt x="130" y="7676"/>
                        <a:pt x="37" y="8509"/>
                      </a:cubicBezTo>
                      <a:cubicBezTo>
                        <a:pt x="-59" y="9346"/>
                        <a:pt x="33" y="10113"/>
                        <a:pt x="298" y="10824"/>
                      </a:cubicBezTo>
                      <a:cubicBezTo>
                        <a:pt x="566" y="11540"/>
                        <a:pt x="1056" y="12148"/>
                        <a:pt x="1774" y="12723"/>
                      </a:cubicBezTo>
                      <a:cubicBezTo>
                        <a:pt x="2942" y="13658"/>
                        <a:pt x="4321" y="14056"/>
                        <a:pt x="5915" y="13967"/>
                      </a:cubicBezTo>
                      <a:cubicBezTo>
                        <a:pt x="7507" y="13874"/>
                        <a:pt x="9223" y="13415"/>
                        <a:pt x="11064" y="12461"/>
                      </a:cubicBezTo>
                      <a:cubicBezTo>
                        <a:pt x="12532" y="14093"/>
                        <a:pt x="14002" y="15716"/>
                        <a:pt x="15470" y="17223"/>
                      </a:cubicBezTo>
                      <a:cubicBezTo>
                        <a:pt x="14849" y="17728"/>
                        <a:pt x="14305" y="18018"/>
                        <a:pt x="13826" y="18111"/>
                      </a:cubicBezTo>
                      <a:cubicBezTo>
                        <a:pt x="13344" y="18210"/>
                        <a:pt x="12917" y="18200"/>
                        <a:pt x="12530" y="18088"/>
                      </a:cubicBezTo>
                      <a:cubicBezTo>
                        <a:pt x="12142" y="17971"/>
                        <a:pt x="11782" y="17803"/>
                        <a:pt x="11455" y="17587"/>
                      </a:cubicBezTo>
                      <a:cubicBezTo>
                        <a:pt x="11125" y="17368"/>
                        <a:pt x="10799" y="17181"/>
                        <a:pt x="10474" y="17026"/>
                      </a:cubicBezTo>
                      <a:cubicBezTo>
                        <a:pt x="10154" y="16872"/>
                        <a:pt x="9823" y="16788"/>
                        <a:pt x="9486" y="16783"/>
                      </a:cubicBezTo>
                      <a:cubicBezTo>
                        <a:pt x="9145" y="16778"/>
                        <a:pt x="8785" y="16937"/>
                        <a:pt x="8388" y="17265"/>
                      </a:cubicBezTo>
                      <a:cubicBezTo>
                        <a:pt x="7981" y="17606"/>
                        <a:pt x="7777" y="18004"/>
                        <a:pt x="7777" y="18453"/>
                      </a:cubicBezTo>
                      <a:cubicBezTo>
                        <a:pt x="7777" y="18897"/>
                        <a:pt x="7991" y="19351"/>
                        <a:pt x="8408" y="19809"/>
                      </a:cubicBezTo>
                      <a:cubicBezTo>
                        <a:pt x="8830" y="20268"/>
                        <a:pt x="9379" y="20651"/>
                        <a:pt x="10042" y="20955"/>
                      </a:cubicBezTo>
                      <a:cubicBezTo>
                        <a:pt x="10708" y="21259"/>
                        <a:pt x="11455" y="21451"/>
                        <a:pt x="12279" y="21502"/>
                      </a:cubicBezTo>
                      <a:cubicBezTo>
                        <a:pt x="13103" y="21559"/>
                        <a:pt x="13970" y="21437"/>
                        <a:pt x="14886" y="21109"/>
                      </a:cubicBezTo>
                      <a:cubicBezTo>
                        <a:pt x="15807" y="20787"/>
                        <a:pt x="16721" y="20202"/>
                        <a:pt x="17617" y="19332"/>
                      </a:cubicBezTo>
                      <a:cubicBezTo>
                        <a:pt x="18051" y="19739"/>
                        <a:pt x="18489" y="20127"/>
                        <a:pt x="18921" y="20501"/>
                      </a:cubicBezTo>
                      <a:cubicBezTo>
                        <a:pt x="19107" y="20656"/>
                        <a:pt x="19328" y="20731"/>
                        <a:pt x="19601" y="20712"/>
                      </a:cubicBezTo>
                      <a:cubicBezTo>
                        <a:pt x="19861" y="20703"/>
                        <a:pt x="20090" y="20586"/>
                        <a:pt x="20269" y="20375"/>
                      </a:cubicBezTo>
                      <a:cubicBezTo>
                        <a:pt x="20455" y="20160"/>
                        <a:pt x="20532" y="19921"/>
                        <a:pt x="20503" y="19674"/>
                      </a:cubicBezTo>
                      <a:cubicBezTo>
                        <a:pt x="20477" y="19421"/>
                        <a:pt x="20371" y="19229"/>
                        <a:pt x="20192" y="19089"/>
                      </a:cubicBezTo>
                      <a:cubicBezTo>
                        <a:pt x="19755" y="18752"/>
                        <a:pt x="19321" y="18397"/>
                        <a:pt x="18884" y="18022"/>
                      </a:cubicBezTo>
                      <a:cubicBezTo>
                        <a:pt x="19626" y="17143"/>
                        <a:pt x="20221" y="16217"/>
                        <a:pt x="20664" y="15300"/>
                      </a:cubicBezTo>
                      <a:cubicBezTo>
                        <a:pt x="21103" y="14379"/>
                        <a:pt x="21367" y="13490"/>
                        <a:pt x="21453" y="12667"/>
                      </a:cubicBezTo>
                      <a:cubicBezTo>
                        <a:pt x="21540" y="11839"/>
                        <a:pt x="21439" y="11091"/>
                        <a:pt x="21159" y="10412"/>
                      </a:cubicBezTo>
                      <a:cubicBezTo>
                        <a:pt x="20880" y="9725"/>
                        <a:pt x="20386" y="9135"/>
                        <a:pt x="19678" y="8570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38100" tIns="38100" rIns="38100" bIns="38100" anchor="ctr"/>
                <a:lstStyle/>
                <a:p>
                  <a:pPr defTabSz="4572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3000" kern="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  <p:sp>
              <p:nvSpPr>
                <p:cNvPr id="25" name="AutoShape 54"/>
                <p:cNvSpPr/>
                <p:nvPr/>
              </p:nvSpPr>
              <p:spPr bwMode="auto">
                <a:xfrm>
                  <a:off x="6543505" y="2435364"/>
                  <a:ext cx="55690" cy="58192"/>
                </a:xfrm>
                <a:custGeom>
                  <a:avLst/>
                  <a:gdLst>
                    <a:gd name="T0" fmla="+- 0 10791 197"/>
                    <a:gd name="T1" fmla="*/ T0 w 21188"/>
                    <a:gd name="T2" fmla="+- 0 10794 193"/>
                    <a:gd name="T3" fmla="*/ 10794 h 21203"/>
                    <a:gd name="T4" fmla="+- 0 10791 197"/>
                    <a:gd name="T5" fmla="*/ T4 w 21188"/>
                    <a:gd name="T6" fmla="+- 0 10794 193"/>
                    <a:gd name="T7" fmla="*/ 10794 h 21203"/>
                    <a:gd name="T8" fmla="+- 0 10791 197"/>
                    <a:gd name="T9" fmla="*/ T8 w 21188"/>
                    <a:gd name="T10" fmla="+- 0 10794 193"/>
                    <a:gd name="T11" fmla="*/ 10794 h 21203"/>
                    <a:gd name="T12" fmla="+- 0 10791 197"/>
                    <a:gd name="T13" fmla="*/ T12 w 21188"/>
                    <a:gd name="T14" fmla="+- 0 10794 193"/>
                    <a:gd name="T15" fmla="*/ 10794 h 21203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</a:cxnLst>
                  <a:rect l="0" t="0" r="r" b="b"/>
                  <a:pathLst>
                    <a:path w="21188" h="21203">
                      <a:moveTo>
                        <a:pt x="17615" y="468"/>
                      </a:moveTo>
                      <a:lnTo>
                        <a:pt x="17606" y="468"/>
                      </a:lnTo>
                      <a:cubicBezTo>
                        <a:pt x="14870" y="2476"/>
                        <a:pt x="12200" y="4590"/>
                        <a:pt x="9727" y="6958"/>
                      </a:cubicBezTo>
                      <a:cubicBezTo>
                        <a:pt x="7348" y="9227"/>
                        <a:pt x="5200" y="11619"/>
                        <a:pt x="3329" y="14060"/>
                      </a:cubicBezTo>
                      <a:lnTo>
                        <a:pt x="341" y="17962"/>
                      </a:lnTo>
                      <a:lnTo>
                        <a:pt x="350" y="17970"/>
                      </a:lnTo>
                      <a:cubicBezTo>
                        <a:pt x="-197" y="18786"/>
                        <a:pt x="-106" y="19880"/>
                        <a:pt x="638" y="20590"/>
                      </a:cubicBezTo>
                      <a:cubicBezTo>
                        <a:pt x="1491" y="21407"/>
                        <a:pt x="2889" y="21407"/>
                        <a:pt x="3746" y="20590"/>
                      </a:cubicBezTo>
                      <a:cubicBezTo>
                        <a:pt x="3877" y="20460"/>
                        <a:pt x="3984" y="20321"/>
                        <a:pt x="4069" y="20174"/>
                      </a:cubicBezTo>
                      <a:lnTo>
                        <a:pt x="6867" y="16517"/>
                      </a:lnTo>
                      <a:cubicBezTo>
                        <a:pt x="8601" y="14255"/>
                        <a:pt x="10606" y="12027"/>
                        <a:pt x="12824" y="9913"/>
                      </a:cubicBezTo>
                      <a:cubicBezTo>
                        <a:pt x="15281" y="7570"/>
                        <a:pt x="17557" y="5758"/>
                        <a:pt x="20329" y="3749"/>
                      </a:cubicBezTo>
                      <a:lnTo>
                        <a:pt x="20321" y="3741"/>
                      </a:lnTo>
                      <a:cubicBezTo>
                        <a:pt x="20400" y="3684"/>
                        <a:pt x="20473" y="3635"/>
                        <a:pt x="20543" y="3570"/>
                      </a:cubicBezTo>
                      <a:cubicBezTo>
                        <a:pt x="21402" y="2753"/>
                        <a:pt x="21402" y="1427"/>
                        <a:pt x="20543" y="606"/>
                      </a:cubicBezTo>
                      <a:cubicBezTo>
                        <a:pt x="19742" y="-161"/>
                        <a:pt x="18472" y="-193"/>
                        <a:pt x="17615" y="468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38100" tIns="38100" rIns="38100" bIns="38100" anchor="ctr"/>
                <a:lstStyle/>
                <a:p>
                  <a:pPr defTabSz="4572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3000" kern="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  <p:sp>
              <p:nvSpPr>
                <p:cNvPr id="26" name="AutoShape 55"/>
                <p:cNvSpPr/>
                <p:nvPr/>
              </p:nvSpPr>
              <p:spPr bwMode="auto">
                <a:xfrm>
                  <a:off x="6601072" y="2240762"/>
                  <a:ext cx="56315" cy="58818"/>
                </a:xfrm>
                <a:custGeom>
                  <a:avLst/>
                  <a:gdLst>
                    <a:gd name="T0" fmla="+- 0 10803 213"/>
                    <a:gd name="T1" fmla="*/ T0 w 21180"/>
                    <a:gd name="T2" fmla="+- 0 10801 203"/>
                    <a:gd name="T3" fmla="*/ 10801 h 21196"/>
                    <a:gd name="T4" fmla="+- 0 10803 213"/>
                    <a:gd name="T5" fmla="*/ T4 w 21180"/>
                    <a:gd name="T6" fmla="+- 0 10801 203"/>
                    <a:gd name="T7" fmla="*/ 10801 h 21196"/>
                    <a:gd name="T8" fmla="+- 0 10803 213"/>
                    <a:gd name="T9" fmla="*/ T8 w 21180"/>
                    <a:gd name="T10" fmla="+- 0 10801 203"/>
                    <a:gd name="T11" fmla="*/ 10801 h 21196"/>
                    <a:gd name="T12" fmla="+- 0 10803 213"/>
                    <a:gd name="T13" fmla="*/ T12 w 21180"/>
                    <a:gd name="T14" fmla="+- 0 10801 203"/>
                    <a:gd name="T15" fmla="*/ 10801 h 21196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</a:cxnLst>
                  <a:rect l="0" t="0" r="r" b="b"/>
                  <a:pathLst>
                    <a:path w="21180" h="21196">
                      <a:moveTo>
                        <a:pt x="8372" y="11356"/>
                      </a:moveTo>
                      <a:cubicBezTo>
                        <a:pt x="6122" y="13508"/>
                        <a:pt x="3675" y="15444"/>
                        <a:pt x="1144" y="17292"/>
                      </a:cubicBezTo>
                      <a:cubicBezTo>
                        <a:pt x="963" y="17388"/>
                        <a:pt x="786" y="17493"/>
                        <a:pt x="637" y="17645"/>
                      </a:cubicBezTo>
                      <a:cubicBezTo>
                        <a:pt x="-213" y="18457"/>
                        <a:pt x="-213" y="19774"/>
                        <a:pt x="637" y="20585"/>
                      </a:cubicBezTo>
                      <a:cubicBezTo>
                        <a:pt x="1464" y="21380"/>
                        <a:pt x="2796" y="21397"/>
                        <a:pt x="3652" y="20641"/>
                      </a:cubicBezTo>
                      <a:lnTo>
                        <a:pt x="3665" y="20649"/>
                      </a:lnTo>
                      <a:cubicBezTo>
                        <a:pt x="6364" y="18673"/>
                        <a:pt x="8988" y="16581"/>
                        <a:pt x="11419" y="14263"/>
                      </a:cubicBezTo>
                      <a:cubicBezTo>
                        <a:pt x="13759" y="12030"/>
                        <a:pt x="15873" y="9685"/>
                        <a:pt x="17715" y="7283"/>
                      </a:cubicBezTo>
                      <a:lnTo>
                        <a:pt x="20663" y="3427"/>
                      </a:lnTo>
                      <a:lnTo>
                        <a:pt x="20654" y="3419"/>
                      </a:lnTo>
                      <a:cubicBezTo>
                        <a:pt x="21386" y="2600"/>
                        <a:pt x="21357" y="1379"/>
                        <a:pt x="20541" y="608"/>
                      </a:cubicBezTo>
                      <a:cubicBezTo>
                        <a:pt x="19697" y="-203"/>
                        <a:pt x="18323" y="-203"/>
                        <a:pt x="17468" y="608"/>
                      </a:cubicBezTo>
                      <a:cubicBezTo>
                        <a:pt x="17313" y="760"/>
                        <a:pt x="17197" y="937"/>
                        <a:pt x="17094" y="1114"/>
                      </a:cubicBezTo>
                      <a:lnTo>
                        <a:pt x="14228" y="4857"/>
                      </a:lnTo>
                      <a:cubicBezTo>
                        <a:pt x="12526" y="7090"/>
                        <a:pt x="10552" y="9275"/>
                        <a:pt x="8372" y="11356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38100" tIns="38100" rIns="38100" bIns="38100" anchor="ctr"/>
                <a:lstStyle/>
                <a:p>
                  <a:pPr defTabSz="4572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3000" kern="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0"/>
    </mc:Choice>
    <mc:Fallback>
      <p:transition spd="med" advClick="0" advTm="0"/>
    </mc:Fallback>
  </mc:AlternateContent>
  <p:timing>
    <p:tnLst>
      <p:par>
        <p:cTn id="1" dur="indefinite" restart="never" nodeType="tmRoot"/>
      </p:par>
    </p:tnLst>
    <p:bldLst>
      <p:bldP spid="2" grpId="0" animBg="1"/>
      <p:bldP spid="22" grpId="0"/>
      <p:bldP spid="10" grpId="0" animBg="1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artisticTexturizer/>
                    </a14:imgEffect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2411730" y="1153795"/>
            <a:ext cx="4848225" cy="499110"/>
          </a:xfrm>
          <a:prstGeom prst="rect">
            <a:avLst/>
          </a:prstGeom>
        </p:spPr>
        <p:txBody>
          <a:bodyPr wrap="square" lIns="68580" tIns="34290" rIns="68580" bIns="34290" anchor="ctr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4000" b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背景</a:t>
            </a:r>
            <a:endParaRPr lang="zh-CN" altLang="en-US" sz="28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2" name="Group 100"/>
          <p:cNvGrpSpPr/>
          <p:nvPr/>
        </p:nvGrpSpPr>
        <p:grpSpPr>
          <a:xfrm>
            <a:off x="6202185" y="4598212"/>
            <a:ext cx="2335292" cy="438267"/>
            <a:chOff x="5486400" y="1428750"/>
            <a:chExt cx="2819401" cy="529120"/>
          </a:xfrm>
        </p:grpSpPr>
        <p:grpSp>
          <p:nvGrpSpPr>
            <p:cNvPr id="13" name="Group 96"/>
            <p:cNvGrpSpPr/>
            <p:nvPr/>
          </p:nvGrpSpPr>
          <p:grpSpPr>
            <a:xfrm>
              <a:off x="5486400" y="1428750"/>
              <a:ext cx="529120" cy="529120"/>
              <a:chOff x="5486400" y="1352550"/>
              <a:chExt cx="529120" cy="529120"/>
            </a:xfrm>
          </p:grpSpPr>
          <p:sp>
            <p:nvSpPr>
              <p:cNvPr id="34" name="Oval 84"/>
              <p:cNvSpPr/>
              <p:nvPr/>
            </p:nvSpPr>
            <p:spPr>
              <a:xfrm>
                <a:off x="5486400" y="1352550"/>
                <a:ext cx="529120" cy="529120"/>
              </a:xfrm>
              <a:prstGeom prst="ellipse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725805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400" kern="0" dirty="0">
                  <a:solidFill>
                    <a:sysClr val="window" lastClr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5" name="Freeform 15"/>
              <p:cNvSpPr>
                <a:spLocks noEditPoints="1"/>
              </p:cNvSpPr>
              <p:nvPr/>
            </p:nvSpPr>
            <p:spPr bwMode="auto">
              <a:xfrm>
                <a:off x="5614089" y="1480180"/>
                <a:ext cx="275220" cy="274904"/>
              </a:xfrm>
              <a:custGeom>
                <a:avLst/>
                <a:gdLst>
                  <a:gd name="T0" fmla="*/ 183 w 371"/>
                  <a:gd name="T1" fmla="*/ 1 h 370"/>
                  <a:gd name="T2" fmla="*/ 2 w 371"/>
                  <a:gd name="T3" fmla="*/ 187 h 370"/>
                  <a:gd name="T4" fmla="*/ 188 w 371"/>
                  <a:gd name="T5" fmla="*/ 369 h 370"/>
                  <a:gd name="T6" fmla="*/ 370 w 371"/>
                  <a:gd name="T7" fmla="*/ 182 h 370"/>
                  <a:gd name="T8" fmla="*/ 183 w 371"/>
                  <a:gd name="T9" fmla="*/ 1 h 370"/>
                  <a:gd name="T10" fmla="*/ 184 w 371"/>
                  <a:gd name="T11" fmla="*/ 25 h 370"/>
                  <a:gd name="T12" fmla="*/ 260 w 371"/>
                  <a:gd name="T13" fmla="*/ 43 h 370"/>
                  <a:gd name="T14" fmla="*/ 235 w 371"/>
                  <a:gd name="T15" fmla="*/ 84 h 370"/>
                  <a:gd name="T16" fmla="*/ 186 w 371"/>
                  <a:gd name="T17" fmla="*/ 73 h 370"/>
                  <a:gd name="T18" fmla="*/ 137 w 371"/>
                  <a:gd name="T19" fmla="*/ 84 h 370"/>
                  <a:gd name="T20" fmla="*/ 112 w 371"/>
                  <a:gd name="T21" fmla="*/ 43 h 370"/>
                  <a:gd name="T22" fmla="*/ 184 w 371"/>
                  <a:gd name="T23" fmla="*/ 25 h 370"/>
                  <a:gd name="T24" fmla="*/ 85 w 371"/>
                  <a:gd name="T25" fmla="*/ 234 h 370"/>
                  <a:gd name="T26" fmla="*/ 44 w 371"/>
                  <a:gd name="T27" fmla="*/ 259 h 370"/>
                  <a:gd name="T28" fmla="*/ 26 w 371"/>
                  <a:gd name="T29" fmla="*/ 187 h 370"/>
                  <a:gd name="T30" fmla="*/ 44 w 371"/>
                  <a:gd name="T31" fmla="*/ 111 h 370"/>
                  <a:gd name="T32" fmla="*/ 85 w 371"/>
                  <a:gd name="T33" fmla="*/ 136 h 370"/>
                  <a:gd name="T34" fmla="*/ 74 w 371"/>
                  <a:gd name="T35" fmla="*/ 185 h 370"/>
                  <a:gd name="T36" fmla="*/ 85 w 371"/>
                  <a:gd name="T37" fmla="*/ 234 h 370"/>
                  <a:gd name="T38" fmla="*/ 188 w 371"/>
                  <a:gd name="T39" fmla="*/ 345 h 370"/>
                  <a:gd name="T40" fmla="*/ 112 w 371"/>
                  <a:gd name="T41" fmla="*/ 327 h 370"/>
                  <a:gd name="T42" fmla="*/ 137 w 371"/>
                  <a:gd name="T43" fmla="*/ 286 h 370"/>
                  <a:gd name="T44" fmla="*/ 186 w 371"/>
                  <a:gd name="T45" fmla="*/ 297 h 370"/>
                  <a:gd name="T46" fmla="*/ 235 w 371"/>
                  <a:gd name="T47" fmla="*/ 286 h 370"/>
                  <a:gd name="T48" fmla="*/ 260 w 371"/>
                  <a:gd name="T49" fmla="*/ 327 h 370"/>
                  <a:gd name="T50" fmla="*/ 188 w 371"/>
                  <a:gd name="T51" fmla="*/ 345 h 370"/>
                  <a:gd name="T52" fmla="*/ 186 w 371"/>
                  <a:gd name="T53" fmla="*/ 273 h 370"/>
                  <a:gd name="T54" fmla="*/ 98 w 371"/>
                  <a:gd name="T55" fmla="*/ 185 h 370"/>
                  <a:gd name="T56" fmla="*/ 186 w 371"/>
                  <a:gd name="T57" fmla="*/ 97 h 370"/>
                  <a:gd name="T58" fmla="*/ 274 w 371"/>
                  <a:gd name="T59" fmla="*/ 185 h 370"/>
                  <a:gd name="T60" fmla="*/ 186 w 371"/>
                  <a:gd name="T61" fmla="*/ 273 h 370"/>
                  <a:gd name="T62" fmla="*/ 286 w 371"/>
                  <a:gd name="T63" fmla="*/ 234 h 370"/>
                  <a:gd name="T64" fmla="*/ 298 w 371"/>
                  <a:gd name="T65" fmla="*/ 185 h 370"/>
                  <a:gd name="T66" fmla="*/ 286 w 371"/>
                  <a:gd name="T67" fmla="*/ 136 h 370"/>
                  <a:gd name="T68" fmla="*/ 328 w 371"/>
                  <a:gd name="T69" fmla="*/ 111 h 370"/>
                  <a:gd name="T70" fmla="*/ 346 w 371"/>
                  <a:gd name="T71" fmla="*/ 183 h 370"/>
                  <a:gd name="T72" fmla="*/ 328 w 371"/>
                  <a:gd name="T73" fmla="*/ 259 h 370"/>
                  <a:gd name="T74" fmla="*/ 286 w 371"/>
                  <a:gd name="T75" fmla="*/ 234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371" h="370">
                    <a:moveTo>
                      <a:pt x="183" y="1"/>
                    </a:moveTo>
                    <a:cubicBezTo>
                      <a:pt x="82" y="2"/>
                      <a:pt x="0" y="86"/>
                      <a:pt x="2" y="187"/>
                    </a:cubicBezTo>
                    <a:cubicBezTo>
                      <a:pt x="3" y="289"/>
                      <a:pt x="87" y="370"/>
                      <a:pt x="188" y="369"/>
                    </a:cubicBezTo>
                    <a:cubicBezTo>
                      <a:pt x="290" y="368"/>
                      <a:pt x="371" y="284"/>
                      <a:pt x="370" y="182"/>
                    </a:cubicBezTo>
                    <a:cubicBezTo>
                      <a:pt x="368" y="81"/>
                      <a:pt x="285" y="0"/>
                      <a:pt x="183" y="1"/>
                    </a:cubicBezTo>
                    <a:close/>
                    <a:moveTo>
                      <a:pt x="184" y="25"/>
                    </a:moveTo>
                    <a:cubicBezTo>
                      <a:pt x="211" y="25"/>
                      <a:pt x="237" y="31"/>
                      <a:pt x="260" y="43"/>
                    </a:cubicBezTo>
                    <a:cubicBezTo>
                      <a:pt x="235" y="84"/>
                      <a:pt x="235" y="84"/>
                      <a:pt x="235" y="84"/>
                    </a:cubicBezTo>
                    <a:cubicBezTo>
                      <a:pt x="220" y="77"/>
                      <a:pt x="203" y="73"/>
                      <a:pt x="186" y="73"/>
                    </a:cubicBezTo>
                    <a:cubicBezTo>
                      <a:pt x="168" y="73"/>
                      <a:pt x="151" y="77"/>
                      <a:pt x="137" y="84"/>
                    </a:cubicBezTo>
                    <a:cubicBezTo>
                      <a:pt x="112" y="43"/>
                      <a:pt x="112" y="43"/>
                      <a:pt x="112" y="43"/>
                    </a:cubicBezTo>
                    <a:cubicBezTo>
                      <a:pt x="133" y="32"/>
                      <a:pt x="158" y="25"/>
                      <a:pt x="184" y="25"/>
                    </a:cubicBezTo>
                    <a:close/>
                    <a:moveTo>
                      <a:pt x="85" y="234"/>
                    </a:moveTo>
                    <a:cubicBezTo>
                      <a:pt x="44" y="259"/>
                      <a:pt x="44" y="259"/>
                      <a:pt x="44" y="259"/>
                    </a:cubicBezTo>
                    <a:cubicBezTo>
                      <a:pt x="33" y="237"/>
                      <a:pt x="26" y="213"/>
                      <a:pt x="26" y="187"/>
                    </a:cubicBezTo>
                    <a:cubicBezTo>
                      <a:pt x="25" y="160"/>
                      <a:pt x="32" y="134"/>
                      <a:pt x="44" y="111"/>
                    </a:cubicBezTo>
                    <a:cubicBezTo>
                      <a:pt x="85" y="136"/>
                      <a:pt x="85" y="136"/>
                      <a:pt x="85" y="136"/>
                    </a:cubicBezTo>
                    <a:cubicBezTo>
                      <a:pt x="78" y="151"/>
                      <a:pt x="74" y="167"/>
                      <a:pt x="74" y="185"/>
                    </a:cubicBezTo>
                    <a:cubicBezTo>
                      <a:pt x="74" y="203"/>
                      <a:pt x="78" y="219"/>
                      <a:pt x="85" y="234"/>
                    </a:cubicBezTo>
                    <a:close/>
                    <a:moveTo>
                      <a:pt x="188" y="345"/>
                    </a:moveTo>
                    <a:cubicBezTo>
                      <a:pt x="161" y="345"/>
                      <a:pt x="135" y="339"/>
                      <a:pt x="112" y="327"/>
                    </a:cubicBezTo>
                    <a:cubicBezTo>
                      <a:pt x="137" y="286"/>
                      <a:pt x="137" y="286"/>
                      <a:pt x="137" y="286"/>
                    </a:cubicBezTo>
                    <a:cubicBezTo>
                      <a:pt x="151" y="293"/>
                      <a:pt x="168" y="297"/>
                      <a:pt x="186" y="297"/>
                    </a:cubicBezTo>
                    <a:cubicBezTo>
                      <a:pt x="203" y="297"/>
                      <a:pt x="220" y="293"/>
                      <a:pt x="235" y="286"/>
                    </a:cubicBezTo>
                    <a:cubicBezTo>
                      <a:pt x="260" y="327"/>
                      <a:pt x="260" y="327"/>
                      <a:pt x="260" y="327"/>
                    </a:cubicBezTo>
                    <a:cubicBezTo>
                      <a:pt x="238" y="338"/>
                      <a:pt x="214" y="345"/>
                      <a:pt x="188" y="345"/>
                    </a:cubicBezTo>
                    <a:close/>
                    <a:moveTo>
                      <a:pt x="186" y="273"/>
                    </a:moveTo>
                    <a:cubicBezTo>
                      <a:pt x="137" y="273"/>
                      <a:pt x="98" y="233"/>
                      <a:pt x="98" y="185"/>
                    </a:cubicBezTo>
                    <a:cubicBezTo>
                      <a:pt x="98" y="136"/>
                      <a:pt x="137" y="97"/>
                      <a:pt x="186" y="97"/>
                    </a:cubicBezTo>
                    <a:cubicBezTo>
                      <a:pt x="234" y="97"/>
                      <a:pt x="274" y="136"/>
                      <a:pt x="274" y="185"/>
                    </a:cubicBezTo>
                    <a:cubicBezTo>
                      <a:pt x="274" y="233"/>
                      <a:pt x="234" y="273"/>
                      <a:pt x="186" y="273"/>
                    </a:cubicBezTo>
                    <a:close/>
                    <a:moveTo>
                      <a:pt x="286" y="234"/>
                    </a:moveTo>
                    <a:cubicBezTo>
                      <a:pt x="294" y="219"/>
                      <a:pt x="298" y="203"/>
                      <a:pt x="298" y="185"/>
                    </a:cubicBezTo>
                    <a:cubicBezTo>
                      <a:pt x="298" y="167"/>
                      <a:pt x="294" y="151"/>
                      <a:pt x="286" y="136"/>
                    </a:cubicBezTo>
                    <a:cubicBezTo>
                      <a:pt x="328" y="111"/>
                      <a:pt x="328" y="111"/>
                      <a:pt x="328" y="111"/>
                    </a:cubicBezTo>
                    <a:cubicBezTo>
                      <a:pt x="339" y="133"/>
                      <a:pt x="345" y="157"/>
                      <a:pt x="346" y="183"/>
                    </a:cubicBezTo>
                    <a:cubicBezTo>
                      <a:pt x="346" y="210"/>
                      <a:pt x="340" y="236"/>
                      <a:pt x="328" y="259"/>
                    </a:cubicBezTo>
                    <a:lnTo>
                      <a:pt x="286" y="234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defTabSz="725805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400" kern="0" dirty="0">
                  <a:solidFill>
                    <a:sysClr val="windowText" lastClr="000000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14" name="Group 99"/>
            <p:cNvGrpSpPr/>
            <p:nvPr/>
          </p:nvGrpSpPr>
          <p:grpSpPr>
            <a:xfrm>
              <a:off x="7776681" y="1428750"/>
              <a:ext cx="529120" cy="529120"/>
              <a:chOff x="7848600" y="1352550"/>
              <a:chExt cx="529120" cy="529120"/>
            </a:xfrm>
          </p:grpSpPr>
          <p:sp>
            <p:nvSpPr>
              <p:cNvPr id="29" name="Oval 87"/>
              <p:cNvSpPr/>
              <p:nvPr/>
            </p:nvSpPr>
            <p:spPr>
              <a:xfrm>
                <a:off x="7848600" y="1352550"/>
                <a:ext cx="529120" cy="529120"/>
              </a:xfrm>
              <a:prstGeom prst="ellipse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725805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400" kern="0" dirty="0">
                  <a:solidFill>
                    <a:schemeClr val="tx2"/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30" name="Group 55"/>
              <p:cNvGrpSpPr/>
              <p:nvPr/>
            </p:nvGrpSpPr>
            <p:grpSpPr>
              <a:xfrm>
                <a:off x="7974720" y="1498360"/>
                <a:ext cx="266836" cy="224488"/>
                <a:chOff x="4172623" y="2221990"/>
                <a:chExt cx="366676" cy="308484"/>
              </a:xfrm>
              <a:solidFill>
                <a:sysClr val="window" lastClr="FFFFFF"/>
              </a:solidFill>
            </p:grpSpPr>
            <p:sp>
              <p:nvSpPr>
                <p:cNvPr id="31" name="AutoShape 120"/>
                <p:cNvSpPr/>
                <p:nvPr/>
              </p:nvSpPr>
              <p:spPr bwMode="auto">
                <a:xfrm>
                  <a:off x="4264604" y="2302084"/>
                  <a:ext cx="182712" cy="182712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16948" y="16070"/>
                      </a:moveTo>
                      <a:cubicBezTo>
                        <a:pt x="14037" y="19468"/>
                        <a:pt x="8925" y="19859"/>
                        <a:pt x="5529" y="16948"/>
                      </a:cubicBezTo>
                      <a:cubicBezTo>
                        <a:pt x="2130" y="14038"/>
                        <a:pt x="1740" y="8924"/>
                        <a:pt x="4651" y="5527"/>
                      </a:cubicBezTo>
                      <a:cubicBezTo>
                        <a:pt x="7559" y="2131"/>
                        <a:pt x="12674" y="1740"/>
                        <a:pt x="16070" y="4650"/>
                      </a:cubicBezTo>
                      <a:cubicBezTo>
                        <a:pt x="19466" y="7560"/>
                        <a:pt x="19859" y="12673"/>
                        <a:pt x="16948" y="16070"/>
                      </a:cubicBezTo>
                      <a:moveTo>
                        <a:pt x="10800" y="0"/>
                      </a:moveTo>
                      <a:cubicBezTo>
                        <a:pt x="4833" y="0"/>
                        <a:pt x="0" y="4834"/>
                        <a:pt x="0" y="10800"/>
                      </a:cubicBezTo>
                      <a:cubicBezTo>
                        <a:pt x="0" y="16765"/>
                        <a:pt x="4833" y="21599"/>
                        <a:pt x="10800" y="21599"/>
                      </a:cubicBezTo>
                      <a:cubicBezTo>
                        <a:pt x="16764" y="21599"/>
                        <a:pt x="21600" y="16765"/>
                        <a:pt x="21600" y="10800"/>
                      </a:cubicBezTo>
                      <a:cubicBezTo>
                        <a:pt x="21600" y="4834"/>
                        <a:pt x="16764" y="0"/>
                        <a:pt x="10800" y="0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38100" tIns="38100" rIns="38100" bIns="38100" anchor="ctr"/>
                <a:lstStyle/>
                <a:p>
                  <a:pPr defTabSz="4572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3000" kern="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  <p:sp>
              <p:nvSpPr>
                <p:cNvPr id="32" name="AutoShape 121"/>
                <p:cNvSpPr/>
                <p:nvPr/>
              </p:nvSpPr>
              <p:spPr bwMode="auto">
                <a:xfrm>
                  <a:off x="4310283" y="2347762"/>
                  <a:ext cx="51310" cy="51310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19200" y="0"/>
                      </a:moveTo>
                      <a:cubicBezTo>
                        <a:pt x="8596" y="0"/>
                        <a:pt x="0" y="8596"/>
                        <a:pt x="0" y="19195"/>
                      </a:cubicBezTo>
                      <a:lnTo>
                        <a:pt x="0" y="19199"/>
                      </a:lnTo>
                      <a:cubicBezTo>
                        <a:pt x="0" y="20524"/>
                        <a:pt x="1068" y="21599"/>
                        <a:pt x="2400" y="21599"/>
                      </a:cubicBezTo>
                      <a:cubicBezTo>
                        <a:pt x="3721" y="21599"/>
                        <a:pt x="4800" y="20524"/>
                        <a:pt x="4800" y="19199"/>
                      </a:cubicBezTo>
                      <a:lnTo>
                        <a:pt x="4800" y="19195"/>
                      </a:lnTo>
                      <a:cubicBezTo>
                        <a:pt x="4800" y="11247"/>
                        <a:pt x="11240" y="4799"/>
                        <a:pt x="19200" y="4799"/>
                      </a:cubicBezTo>
                      <a:cubicBezTo>
                        <a:pt x="20521" y="4799"/>
                        <a:pt x="21600" y="3724"/>
                        <a:pt x="21600" y="2399"/>
                      </a:cubicBezTo>
                      <a:cubicBezTo>
                        <a:pt x="21600" y="1075"/>
                        <a:pt x="20521" y="0"/>
                        <a:pt x="19200" y="0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38100" tIns="38100" rIns="38100" bIns="38100" anchor="ctr"/>
                <a:lstStyle/>
                <a:p>
                  <a:pPr defTabSz="4572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3000" kern="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  <p:sp>
              <p:nvSpPr>
                <p:cNvPr id="33" name="AutoShape 122"/>
                <p:cNvSpPr/>
                <p:nvPr/>
              </p:nvSpPr>
              <p:spPr bwMode="auto">
                <a:xfrm>
                  <a:off x="4172623" y="2221990"/>
                  <a:ext cx="366676" cy="308484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20249" y="19199"/>
                      </a:moveTo>
                      <a:cubicBezTo>
                        <a:pt x="20249" y="19642"/>
                        <a:pt x="19948" y="19999"/>
                        <a:pt x="19575" y="19999"/>
                      </a:cubicBezTo>
                      <a:lnTo>
                        <a:pt x="2024" y="19999"/>
                      </a:lnTo>
                      <a:cubicBezTo>
                        <a:pt x="1651" y="19999"/>
                        <a:pt x="1349" y="19642"/>
                        <a:pt x="1349" y="19199"/>
                      </a:cubicBezTo>
                      <a:lnTo>
                        <a:pt x="1349" y="7200"/>
                      </a:lnTo>
                      <a:cubicBezTo>
                        <a:pt x="1349" y="6809"/>
                        <a:pt x="1588" y="6475"/>
                        <a:pt x="1914" y="6411"/>
                      </a:cubicBezTo>
                      <a:lnTo>
                        <a:pt x="5588" y="5684"/>
                      </a:lnTo>
                      <a:lnTo>
                        <a:pt x="6797" y="2103"/>
                      </a:lnTo>
                      <a:cubicBezTo>
                        <a:pt x="6900" y="1799"/>
                        <a:pt x="7148" y="1600"/>
                        <a:pt x="7424" y="1600"/>
                      </a:cubicBezTo>
                      <a:lnTo>
                        <a:pt x="14174" y="1600"/>
                      </a:lnTo>
                      <a:cubicBezTo>
                        <a:pt x="14450" y="1600"/>
                        <a:pt x="14698" y="1799"/>
                        <a:pt x="14801" y="2103"/>
                      </a:cubicBezTo>
                      <a:lnTo>
                        <a:pt x="16010" y="5684"/>
                      </a:lnTo>
                      <a:lnTo>
                        <a:pt x="19685" y="6411"/>
                      </a:lnTo>
                      <a:cubicBezTo>
                        <a:pt x="20011" y="6475"/>
                        <a:pt x="20249" y="6809"/>
                        <a:pt x="20249" y="7200"/>
                      </a:cubicBezTo>
                      <a:cubicBezTo>
                        <a:pt x="20249" y="7200"/>
                        <a:pt x="20249" y="19199"/>
                        <a:pt x="20249" y="19199"/>
                      </a:cubicBezTo>
                      <a:close/>
                      <a:moveTo>
                        <a:pt x="19907" y="4832"/>
                      </a:moveTo>
                      <a:lnTo>
                        <a:pt x="16981" y="4254"/>
                      </a:lnTo>
                      <a:lnTo>
                        <a:pt x="16054" y="1507"/>
                      </a:lnTo>
                      <a:cubicBezTo>
                        <a:pt x="15745" y="591"/>
                        <a:pt x="15006" y="0"/>
                        <a:pt x="14174" y="0"/>
                      </a:cubicBezTo>
                      <a:lnTo>
                        <a:pt x="7424" y="0"/>
                      </a:lnTo>
                      <a:cubicBezTo>
                        <a:pt x="6593" y="0"/>
                        <a:pt x="5854" y="591"/>
                        <a:pt x="5543" y="1509"/>
                      </a:cubicBezTo>
                      <a:lnTo>
                        <a:pt x="4618" y="4254"/>
                      </a:lnTo>
                      <a:lnTo>
                        <a:pt x="1692" y="4832"/>
                      </a:lnTo>
                      <a:cubicBezTo>
                        <a:pt x="711" y="5025"/>
                        <a:pt x="0" y="6020"/>
                        <a:pt x="0" y="7200"/>
                      </a:cubicBezTo>
                      <a:lnTo>
                        <a:pt x="0" y="19199"/>
                      </a:lnTo>
                      <a:cubicBezTo>
                        <a:pt x="0" y="20523"/>
                        <a:pt x="908" y="21600"/>
                        <a:pt x="2024" y="21600"/>
                      </a:cubicBezTo>
                      <a:lnTo>
                        <a:pt x="19575" y="21600"/>
                      </a:lnTo>
                      <a:cubicBezTo>
                        <a:pt x="20691" y="21600"/>
                        <a:pt x="21600" y="20523"/>
                        <a:pt x="21600" y="19199"/>
                      </a:cubicBezTo>
                      <a:lnTo>
                        <a:pt x="21600" y="7200"/>
                      </a:lnTo>
                      <a:cubicBezTo>
                        <a:pt x="21600" y="6020"/>
                        <a:pt x="20888" y="5025"/>
                        <a:pt x="19907" y="4832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38100" tIns="38100" rIns="38100" bIns="38100" anchor="ctr"/>
                <a:lstStyle/>
                <a:p>
                  <a:pPr defTabSz="4572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3000" kern="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15" name="Group 97"/>
            <p:cNvGrpSpPr/>
            <p:nvPr/>
          </p:nvGrpSpPr>
          <p:grpSpPr>
            <a:xfrm>
              <a:off x="6248400" y="1428750"/>
              <a:ext cx="529120" cy="529120"/>
              <a:chOff x="6248400" y="1352550"/>
              <a:chExt cx="529120" cy="529120"/>
            </a:xfrm>
          </p:grpSpPr>
          <p:sp>
            <p:nvSpPr>
              <p:cNvPr id="27" name="Oval 85"/>
              <p:cNvSpPr/>
              <p:nvPr/>
            </p:nvSpPr>
            <p:spPr>
              <a:xfrm>
                <a:off x="6248400" y="1352550"/>
                <a:ext cx="529120" cy="529120"/>
              </a:xfrm>
              <a:prstGeom prst="ellipse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725805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400" kern="0" dirty="0">
                  <a:solidFill>
                    <a:sysClr val="window" lastClr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8" name="AutoShape 112"/>
              <p:cNvSpPr/>
              <p:nvPr/>
            </p:nvSpPr>
            <p:spPr bwMode="auto">
              <a:xfrm>
                <a:off x="6374435" y="1478670"/>
                <a:ext cx="266380" cy="266836"/>
              </a:xfrm>
              <a:custGeom>
                <a:avLst/>
                <a:gdLst>
                  <a:gd name="T0" fmla="*/ 10510 w 21020"/>
                  <a:gd name="T1" fmla="*/ 10800 h 21600"/>
                  <a:gd name="T2" fmla="*/ 10510 w 21020"/>
                  <a:gd name="T3" fmla="*/ 10800 h 21600"/>
                  <a:gd name="T4" fmla="*/ 10510 w 21020"/>
                  <a:gd name="T5" fmla="*/ 10800 h 21600"/>
                  <a:gd name="T6" fmla="*/ 10510 w 2102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020" h="21600">
                    <a:moveTo>
                      <a:pt x="18846" y="7946"/>
                    </a:moveTo>
                    <a:lnTo>
                      <a:pt x="17740" y="9091"/>
                    </a:lnTo>
                    <a:cubicBezTo>
                      <a:pt x="17740" y="8939"/>
                      <a:pt x="17758" y="8792"/>
                      <a:pt x="17744" y="8636"/>
                    </a:cubicBezTo>
                    <a:cubicBezTo>
                      <a:pt x="17629" y="7331"/>
                      <a:pt x="17036" y="6068"/>
                      <a:pt x="16074" y="5080"/>
                    </a:cubicBezTo>
                    <a:cubicBezTo>
                      <a:pt x="15004" y="3980"/>
                      <a:pt x="13585" y="3348"/>
                      <a:pt x="12180" y="3345"/>
                    </a:cubicBezTo>
                    <a:lnTo>
                      <a:pt x="13268" y="2218"/>
                    </a:lnTo>
                    <a:cubicBezTo>
                      <a:pt x="13812" y="1659"/>
                      <a:pt x="14572" y="1350"/>
                      <a:pt x="15403" y="1350"/>
                    </a:cubicBezTo>
                    <a:cubicBezTo>
                      <a:pt x="16460" y="1350"/>
                      <a:pt x="17546" y="1840"/>
                      <a:pt x="18381" y="2696"/>
                    </a:cubicBezTo>
                    <a:cubicBezTo>
                      <a:pt x="19165" y="3500"/>
                      <a:pt x="19631" y="4499"/>
                      <a:pt x="19698" y="5510"/>
                    </a:cubicBezTo>
                    <a:cubicBezTo>
                      <a:pt x="19760" y="6453"/>
                      <a:pt x="19457" y="7317"/>
                      <a:pt x="18846" y="7946"/>
                    </a:cubicBezTo>
                    <a:moveTo>
                      <a:pt x="5828" y="19329"/>
                    </a:moveTo>
                    <a:cubicBezTo>
                      <a:pt x="5813" y="18424"/>
                      <a:pt x="5454" y="17481"/>
                      <a:pt x="4730" y="16739"/>
                    </a:cubicBezTo>
                    <a:cubicBezTo>
                      <a:pt x="4046" y="16034"/>
                      <a:pt x="3150" y="15628"/>
                      <a:pt x="2257" y="15592"/>
                    </a:cubicBezTo>
                    <a:lnTo>
                      <a:pt x="2911" y="13157"/>
                    </a:lnTo>
                    <a:cubicBezTo>
                      <a:pt x="2959" y="12995"/>
                      <a:pt x="3052" y="12835"/>
                      <a:pt x="3168" y="12695"/>
                    </a:cubicBezTo>
                    <a:cubicBezTo>
                      <a:pt x="4485" y="11726"/>
                      <a:pt x="6512" y="12012"/>
                      <a:pt x="7920" y="13460"/>
                    </a:cubicBezTo>
                    <a:cubicBezTo>
                      <a:pt x="9409" y="14990"/>
                      <a:pt x="9639" y="17230"/>
                      <a:pt x="8492" y="18568"/>
                    </a:cubicBezTo>
                    <a:cubicBezTo>
                      <a:pt x="8416" y="18609"/>
                      <a:pt x="8339" y="18648"/>
                      <a:pt x="8256" y="18675"/>
                    </a:cubicBezTo>
                    <a:cubicBezTo>
                      <a:pt x="8256" y="18675"/>
                      <a:pt x="5828" y="19329"/>
                      <a:pt x="5828" y="19329"/>
                    </a:cubicBezTo>
                    <a:close/>
                    <a:moveTo>
                      <a:pt x="2737" y="20164"/>
                    </a:moveTo>
                    <a:cubicBezTo>
                      <a:pt x="2665" y="20181"/>
                      <a:pt x="2443" y="20239"/>
                      <a:pt x="2291" y="20249"/>
                    </a:cubicBezTo>
                    <a:cubicBezTo>
                      <a:pt x="1751" y="20244"/>
                      <a:pt x="1313" y="19792"/>
                      <a:pt x="1313" y="19237"/>
                    </a:cubicBezTo>
                    <a:cubicBezTo>
                      <a:pt x="1321" y="19124"/>
                      <a:pt x="1365" y="18929"/>
                      <a:pt x="1380" y="18857"/>
                    </a:cubicBezTo>
                    <a:lnTo>
                      <a:pt x="2071" y="16283"/>
                    </a:lnTo>
                    <a:cubicBezTo>
                      <a:pt x="2822" y="16261"/>
                      <a:pt x="3630" y="16562"/>
                      <a:pt x="4265" y="17215"/>
                    </a:cubicBezTo>
                    <a:cubicBezTo>
                      <a:pt x="4911" y="17878"/>
                      <a:pt x="5214" y="18725"/>
                      <a:pt x="5181" y="19504"/>
                    </a:cubicBezTo>
                    <a:cubicBezTo>
                      <a:pt x="5181" y="19504"/>
                      <a:pt x="2737" y="20164"/>
                      <a:pt x="2737" y="20164"/>
                    </a:cubicBezTo>
                    <a:close/>
                    <a:moveTo>
                      <a:pt x="6888" y="11179"/>
                    </a:moveTo>
                    <a:cubicBezTo>
                      <a:pt x="6280" y="10927"/>
                      <a:pt x="5642" y="10783"/>
                      <a:pt x="5004" y="10774"/>
                    </a:cubicBezTo>
                    <a:lnTo>
                      <a:pt x="10063" y="5536"/>
                    </a:lnTo>
                    <a:cubicBezTo>
                      <a:pt x="10838" y="4759"/>
                      <a:pt x="11966" y="4536"/>
                      <a:pt x="13077" y="4819"/>
                    </a:cubicBezTo>
                    <a:cubicBezTo>
                      <a:pt x="13077" y="4819"/>
                      <a:pt x="6888" y="11179"/>
                      <a:pt x="6888" y="11179"/>
                    </a:cubicBezTo>
                    <a:close/>
                    <a:moveTo>
                      <a:pt x="9717" y="13672"/>
                    </a:moveTo>
                    <a:cubicBezTo>
                      <a:pt x="9473" y="13258"/>
                      <a:pt x="9194" y="12859"/>
                      <a:pt x="8848" y="12505"/>
                    </a:cubicBezTo>
                    <a:cubicBezTo>
                      <a:pt x="8447" y="12093"/>
                      <a:pt x="7986" y="11770"/>
                      <a:pt x="7507" y="11498"/>
                    </a:cubicBezTo>
                    <a:lnTo>
                      <a:pt x="13767" y="5064"/>
                    </a:lnTo>
                    <a:cubicBezTo>
                      <a:pt x="14259" y="5288"/>
                      <a:pt x="14729" y="5607"/>
                      <a:pt x="15145" y="6035"/>
                    </a:cubicBezTo>
                    <a:cubicBezTo>
                      <a:pt x="15500" y="6398"/>
                      <a:pt x="15775" y="6806"/>
                      <a:pt x="15987" y="7229"/>
                    </a:cubicBezTo>
                    <a:cubicBezTo>
                      <a:pt x="15987" y="7229"/>
                      <a:pt x="9717" y="13672"/>
                      <a:pt x="9717" y="13672"/>
                    </a:cubicBezTo>
                    <a:close/>
                    <a:moveTo>
                      <a:pt x="10519" y="16061"/>
                    </a:moveTo>
                    <a:cubicBezTo>
                      <a:pt x="10465" y="15452"/>
                      <a:pt x="10298" y="14854"/>
                      <a:pt x="10047" y="14288"/>
                    </a:cubicBezTo>
                    <a:lnTo>
                      <a:pt x="16257" y="7906"/>
                    </a:lnTo>
                    <a:cubicBezTo>
                      <a:pt x="16637" y="9140"/>
                      <a:pt x="16442" y="10429"/>
                      <a:pt x="15610" y="11284"/>
                    </a:cubicBezTo>
                    <a:cubicBezTo>
                      <a:pt x="15604" y="11290"/>
                      <a:pt x="15598" y="11293"/>
                      <a:pt x="15593" y="11298"/>
                    </a:cubicBezTo>
                    <a:lnTo>
                      <a:pt x="15602" y="11306"/>
                    </a:lnTo>
                    <a:lnTo>
                      <a:pt x="10525" y="16565"/>
                    </a:lnTo>
                    <a:cubicBezTo>
                      <a:pt x="10527" y="16397"/>
                      <a:pt x="10534" y="16232"/>
                      <a:pt x="10519" y="16061"/>
                    </a:cubicBezTo>
                    <a:moveTo>
                      <a:pt x="19308" y="1741"/>
                    </a:moveTo>
                    <a:cubicBezTo>
                      <a:pt x="18228" y="632"/>
                      <a:pt x="16805" y="0"/>
                      <a:pt x="15403" y="0"/>
                    </a:cubicBezTo>
                    <a:cubicBezTo>
                      <a:pt x="14220" y="0"/>
                      <a:pt x="13131" y="450"/>
                      <a:pt x="12335" y="1266"/>
                    </a:cubicBezTo>
                    <a:lnTo>
                      <a:pt x="9138" y="4577"/>
                    </a:lnTo>
                    <a:cubicBezTo>
                      <a:pt x="9129" y="4585"/>
                      <a:pt x="9118" y="4592"/>
                      <a:pt x="9108" y="4602"/>
                    </a:cubicBezTo>
                    <a:cubicBezTo>
                      <a:pt x="9103" y="4608"/>
                      <a:pt x="9100" y="4614"/>
                      <a:pt x="9095" y="4620"/>
                    </a:cubicBezTo>
                    <a:lnTo>
                      <a:pt x="9096" y="4621"/>
                    </a:lnTo>
                    <a:lnTo>
                      <a:pt x="2310" y="11647"/>
                    </a:lnTo>
                    <a:cubicBezTo>
                      <a:pt x="1998" y="11966"/>
                      <a:pt x="1771" y="12364"/>
                      <a:pt x="1645" y="12797"/>
                    </a:cubicBezTo>
                    <a:lnTo>
                      <a:pt x="102" y="18541"/>
                    </a:lnTo>
                    <a:cubicBezTo>
                      <a:pt x="100" y="18557"/>
                      <a:pt x="0" y="19008"/>
                      <a:pt x="0" y="19237"/>
                    </a:cubicBezTo>
                    <a:cubicBezTo>
                      <a:pt x="0" y="20541"/>
                      <a:pt x="1030" y="21599"/>
                      <a:pt x="2302" y="21599"/>
                    </a:cubicBezTo>
                    <a:cubicBezTo>
                      <a:pt x="2554" y="21599"/>
                      <a:pt x="3044" y="21475"/>
                      <a:pt x="3062" y="21473"/>
                    </a:cubicBezTo>
                    <a:lnTo>
                      <a:pt x="8630" y="19969"/>
                    </a:lnTo>
                    <a:cubicBezTo>
                      <a:pt x="9054" y="19839"/>
                      <a:pt x="9439" y="19604"/>
                      <a:pt x="9750" y="19283"/>
                    </a:cubicBezTo>
                    <a:lnTo>
                      <a:pt x="19776" y="8899"/>
                    </a:lnTo>
                    <a:cubicBezTo>
                      <a:pt x="21600" y="7023"/>
                      <a:pt x="21394" y="3881"/>
                      <a:pt x="19308" y="1741"/>
                    </a:cubicBezTo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38100" tIns="38100" rIns="38100" bIns="38100" anchor="ctr"/>
              <a:lstStyle/>
              <a:p>
                <a:pPr defTabSz="4572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+mn-ea"/>
                  <a:sym typeface="+mn-lt"/>
                </a:endParaRPr>
              </a:p>
            </p:txBody>
          </p:sp>
        </p:grpSp>
        <p:grpSp>
          <p:nvGrpSpPr>
            <p:cNvPr id="16" name="Group 98"/>
            <p:cNvGrpSpPr/>
            <p:nvPr/>
          </p:nvGrpSpPr>
          <p:grpSpPr>
            <a:xfrm>
              <a:off x="7010400" y="1428750"/>
              <a:ext cx="529120" cy="529120"/>
              <a:chOff x="7010400" y="1352550"/>
              <a:chExt cx="529120" cy="529120"/>
            </a:xfrm>
          </p:grpSpPr>
          <p:sp>
            <p:nvSpPr>
              <p:cNvPr id="17" name="Oval 86"/>
              <p:cNvSpPr/>
              <p:nvPr/>
            </p:nvSpPr>
            <p:spPr>
              <a:xfrm>
                <a:off x="7010400" y="1352550"/>
                <a:ext cx="529120" cy="529120"/>
              </a:xfrm>
              <a:prstGeom prst="ellipse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725805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400" kern="0" dirty="0">
                  <a:solidFill>
                    <a:sysClr val="window" lastClr="FFFFFF"/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18" name="Group 79"/>
              <p:cNvGrpSpPr/>
              <p:nvPr/>
            </p:nvGrpSpPr>
            <p:grpSpPr>
              <a:xfrm>
                <a:off x="7136435" y="1478585"/>
                <a:ext cx="266380" cy="266380"/>
                <a:chOff x="6417734" y="2183821"/>
                <a:chExt cx="366050" cy="366050"/>
              </a:xfrm>
              <a:solidFill>
                <a:sysClr val="window" lastClr="FFFFFF"/>
              </a:solidFill>
            </p:grpSpPr>
            <p:sp>
              <p:nvSpPr>
                <p:cNvPr id="23" name="AutoShape 52"/>
                <p:cNvSpPr/>
                <p:nvPr/>
              </p:nvSpPr>
              <p:spPr bwMode="auto">
                <a:xfrm>
                  <a:off x="6417734" y="2183821"/>
                  <a:ext cx="366050" cy="366050"/>
                </a:xfrm>
                <a:custGeom>
                  <a:avLst/>
                  <a:gdLst>
                    <a:gd name="T0" fmla="+- 0 10800 87"/>
                    <a:gd name="T1" fmla="*/ T0 w 21426"/>
                    <a:gd name="T2" fmla="+- 0 10799 73"/>
                    <a:gd name="T3" fmla="*/ 10799 h 21453"/>
                    <a:gd name="T4" fmla="+- 0 10800 87"/>
                    <a:gd name="T5" fmla="*/ T4 w 21426"/>
                    <a:gd name="T6" fmla="+- 0 10799 73"/>
                    <a:gd name="T7" fmla="*/ 10799 h 21453"/>
                    <a:gd name="T8" fmla="+- 0 10800 87"/>
                    <a:gd name="T9" fmla="*/ T8 w 21426"/>
                    <a:gd name="T10" fmla="+- 0 10799 73"/>
                    <a:gd name="T11" fmla="*/ 10799 h 21453"/>
                    <a:gd name="T12" fmla="+- 0 10800 87"/>
                    <a:gd name="T13" fmla="*/ T12 w 21426"/>
                    <a:gd name="T14" fmla="+- 0 10799 73"/>
                    <a:gd name="T15" fmla="*/ 10799 h 21453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</a:cxnLst>
                  <a:rect l="0" t="0" r="r" b="b"/>
                  <a:pathLst>
                    <a:path w="21426" h="21453">
                      <a:moveTo>
                        <a:pt x="8034" y="20112"/>
                      </a:moveTo>
                      <a:cubicBezTo>
                        <a:pt x="5816" y="17892"/>
                        <a:pt x="3556" y="15628"/>
                        <a:pt x="1338" y="13408"/>
                      </a:cubicBezTo>
                      <a:cubicBezTo>
                        <a:pt x="3241" y="7240"/>
                        <a:pt x="11488" y="7509"/>
                        <a:pt x="13391" y="1341"/>
                      </a:cubicBezTo>
                      <a:cubicBezTo>
                        <a:pt x="15609" y="3560"/>
                        <a:pt x="17869" y="5825"/>
                        <a:pt x="20087" y="8045"/>
                      </a:cubicBezTo>
                      <a:cubicBezTo>
                        <a:pt x="18184" y="14212"/>
                        <a:pt x="9937" y="13944"/>
                        <a:pt x="8034" y="20112"/>
                      </a:cubicBezTo>
                      <a:moveTo>
                        <a:pt x="21034" y="7097"/>
                      </a:moveTo>
                      <a:lnTo>
                        <a:pt x="14338" y="393"/>
                      </a:lnTo>
                      <a:cubicBezTo>
                        <a:pt x="14006" y="60"/>
                        <a:pt x="13525" y="-73"/>
                        <a:pt x="13069" y="39"/>
                      </a:cubicBezTo>
                      <a:cubicBezTo>
                        <a:pt x="12828" y="98"/>
                        <a:pt x="12614" y="222"/>
                        <a:pt x="12444" y="393"/>
                      </a:cubicBezTo>
                      <a:cubicBezTo>
                        <a:pt x="12292" y="545"/>
                        <a:pt x="12177" y="733"/>
                        <a:pt x="12112" y="944"/>
                      </a:cubicBezTo>
                      <a:cubicBezTo>
                        <a:pt x="11808" y="1929"/>
                        <a:pt x="11283" y="2785"/>
                        <a:pt x="10507" y="3562"/>
                      </a:cubicBezTo>
                      <a:cubicBezTo>
                        <a:pt x="9471" y="4598"/>
                        <a:pt x="8121" y="5384"/>
                        <a:pt x="6693" y="6214"/>
                      </a:cubicBezTo>
                      <a:cubicBezTo>
                        <a:pt x="5177" y="7094"/>
                        <a:pt x="3611" y="8006"/>
                        <a:pt x="2328" y="9290"/>
                      </a:cubicBezTo>
                      <a:cubicBezTo>
                        <a:pt x="1237" y="10383"/>
                        <a:pt x="493" y="11600"/>
                        <a:pt x="59" y="13011"/>
                      </a:cubicBezTo>
                      <a:cubicBezTo>
                        <a:pt x="-87" y="13488"/>
                        <a:pt x="40" y="14004"/>
                        <a:pt x="391" y="14356"/>
                      </a:cubicBezTo>
                      <a:lnTo>
                        <a:pt x="7087" y="21060"/>
                      </a:lnTo>
                      <a:cubicBezTo>
                        <a:pt x="7419" y="21393"/>
                        <a:pt x="7900" y="21526"/>
                        <a:pt x="8356" y="21414"/>
                      </a:cubicBezTo>
                      <a:cubicBezTo>
                        <a:pt x="8597" y="21354"/>
                        <a:pt x="8811" y="21231"/>
                        <a:pt x="8981" y="21060"/>
                      </a:cubicBezTo>
                      <a:cubicBezTo>
                        <a:pt x="9133" y="20908"/>
                        <a:pt x="9248" y="20720"/>
                        <a:pt x="9314" y="20508"/>
                      </a:cubicBezTo>
                      <a:cubicBezTo>
                        <a:pt x="9617" y="19523"/>
                        <a:pt x="10142" y="18667"/>
                        <a:pt x="10918" y="17890"/>
                      </a:cubicBezTo>
                      <a:cubicBezTo>
                        <a:pt x="11954" y="16853"/>
                        <a:pt x="13304" y="16069"/>
                        <a:pt x="14733" y="15239"/>
                      </a:cubicBezTo>
                      <a:cubicBezTo>
                        <a:pt x="16248" y="14357"/>
                        <a:pt x="17814" y="13446"/>
                        <a:pt x="19097" y="12162"/>
                      </a:cubicBezTo>
                      <a:cubicBezTo>
                        <a:pt x="20188" y="11070"/>
                        <a:pt x="20932" y="9852"/>
                        <a:pt x="21366" y="8440"/>
                      </a:cubicBezTo>
                      <a:cubicBezTo>
                        <a:pt x="21512" y="7965"/>
                        <a:pt x="21385" y="7448"/>
                        <a:pt x="21034" y="7097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38100" tIns="38100" rIns="38100" bIns="38100" anchor="ctr"/>
                <a:lstStyle/>
                <a:p>
                  <a:pPr defTabSz="4572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3000" kern="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  <p:sp>
              <p:nvSpPr>
                <p:cNvPr id="24" name="AutoShape 53"/>
                <p:cNvSpPr/>
                <p:nvPr/>
              </p:nvSpPr>
              <p:spPr bwMode="auto">
                <a:xfrm>
                  <a:off x="6555394" y="2309592"/>
                  <a:ext cx="98865" cy="102619"/>
                </a:xfrm>
                <a:custGeom>
                  <a:avLst/>
                  <a:gdLst>
                    <a:gd name="T0" fmla="+- 0 10801 59"/>
                    <a:gd name="T1" fmla="*/ T0 w 21484"/>
                    <a:gd name="T2" fmla="+- 0 10799 41"/>
                    <a:gd name="T3" fmla="*/ 10799 h 21516"/>
                    <a:gd name="T4" fmla="+- 0 10801 59"/>
                    <a:gd name="T5" fmla="*/ T4 w 21484"/>
                    <a:gd name="T6" fmla="+- 0 10799 41"/>
                    <a:gd name="T7" fmla="*/ 10799 h 21516"/>
                    <a:gd name="T8" fmla="+- 0 10801 59"/>
                    <a:gd name="T9" fmla="*/ T8 w 21484"/>
                    <a:gd name="T10" fmla="+- 0 10799 41"/>
                    <a:gd name="T11" fmla="*/ 10799 h 21516"/>
                    <a:gd name="T12" fmla="+- 0 10801 59"/>
                    <a:gd name="T13" fmla="*/ T12 w 21484"/>
                    <a:gd name="T14" fmla="+- 0 10799 41"/>
                    <a:gd name="T15" fmla="*/ 10799 h 21516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</a:cxnLst>
                  <a:rect l="0" t="0" r="r" b="b"/>
                  <a:pathLst>
                    <a:path w="21484" h="21516">
                      <a:moveTo>
                        <a:pt x="17511" y="14987"/>
                      </a:moveTo>
                      <a:cubicBezTo>
                        <a:pt x="17287" y="15384"/>
                        <a:pt x="17032" y="15740"/>
                        <a:pt x="16731" y="16049"/>
                      </a:cubicBezTo>
                      <a:cubicBezTo>
                        <a:pt x="15340" y="14692"/>
                        <a:pt x="13947" y="13205"/>
                        <a:pt x="12559" y="11675"/>
                      </a:cubicBezTo>
                      <a:cubicBezTo>
                        <a:pt x="12912" y="11521"/>
                        <a:pt x="13287" y="11362"/>
                        <a:pt x="13689" y="11198"/>
                      </a:cubicBezTo>
                      <a:cubicBezTo>
                        <a:pt x="14092" y="11034"/>
                        <a:pt x="14494" y="10927"/>
                        <a:pt x="14895" y="10861"/>
                      </a:cubicBezTo>
                      <a:cubicBezTo>
                        <a:pt x="15308" y="10801"/>
                        <a:pt x="15715" y="10819"/>
                        <a:pt x="16122" y="10913"/>
                      </a:cubicBezTo>
                      <a:cubicBezTo>
                        <a:pt x="16527" y="11011"/>
                        <a:pt x="16909" y="11222"/>
                        <a:pt x="17262" y="11554"/>
                      </a:cubicBezTo>
                      <a:cubicBezTo>
                        <a:pt x="17612" y="11890"/>
                        <a:pt x="17835" y="12244"/>
                        <a:pt x="17923" y="12620"/>
                      </a:cubicBezTo>
                      <a:cubicBezTo>
                        <a:pt x="18020" y="13004"/>
                        <a:pt x="18025" y="13392"/>
                        <a:pt x="17958" y="13789"/>
                      </a:cubicBezTo>
                      <a:cubicBezTo>
                        <a:pt x="17883" y="14187"/>
                        <a:pt x="17738" y="14585"/>
                        <a:pt x="17511" y="14987"/>
                      </a:cubicBezTo>
                      <a:moveTo>
                        <a:pt x="5799" y="10193"/>
                      </a:moveTo>
                      <a:cubicBezTo>
                        <a:pt x="5096" y="10221"/>
                        <a:pt x="4482" y="9996"/>
                        <a:pt x="3946" y="9496"/>
                      </a:cubicBezTo>
                      <a:cubicBezTo>
                        <a:pt x="3717" y="9285"/>
                        <a:pt x="3558" y="9028"/>
                        <a:pt x="3461" y="8724"/>
                      </a:cubicBezTo>
                      <a:cubicBezTo>
                        <a:pt x="3359" y="8420"/>
                        <a:pt x="3326" y="8088"/>
                        <a:pt x="3366" y="7723"/>
                      </a:cubicBezTo>
                      <a:cubicBezTo>
                        <a:pt x="3397" y="7363"/>
                        <a:pt x="3509" y="6989"/>
                        <a:pt x="3703" y="6610"/>
                      </a:cubicBezTo>
                      <a:cubicBezTo>
                        <a:pt x="3889" y="6231"/>
                        <a:pt x="4160" y="5852"/>
                        <a:pt x="4510" y="5487"/>
                      </a:cubicBezTo>
                      <a:cubicBezTo>
                        <a:pt x="5768" y="6694"/>
                        <a:pt x="7022" y="8018"/>
                        <a:pt x="8282" y="9388"/>
                      </a:cubicBezTo>
                      <a:cubicBezTo>
                        <a:pt x="7330" y="9893"/>
                        <a:pt x="6501" y="10164"/>
                        <a:pt x="5799" y="10193"/>
                      </a:cubicBezTo>
                      <a:moveTo>
                        <a:pt x="19678" y="8570"/>
                      </a:moveTo>
                      <a:cubicBezTo>
                        <a:pt x="18868" y="7915"/>
                        <a:pt x="18055" y="7470"/>
                        <a:pt x="17235" y="7250"/>
                      </a:cubicBezTo>
                      <a:cubicBezTo>
                        <a:pt x="16421" y="7031"/>
                        <a:pt x="15603" y="6942"/>
                        <a:pt x="14779" y="6998"/>
                      </a:cubicBezTo>
                      <a:cubicBezTo>
                        <a:pt x="13964" y="7059"/>
                        <a:pt x="13130" y="7236"/>
                        <a:pt x="12296" y="7545"/>
                      </a:cubicBezTo>
                      <a:cubicBezTo>
                        <a:pt x="11462" y="7859"/>
                        <a:pt x="10625" y="8200"/>
                        <a:pt x="9782" y="8593"/>
                      </a:cubicBezTo>
                      <a:cubicBezTo>
                        <a:pt x="8448" y="7115"/>
                        <a:pt x="7114" y="5658"/>
                        <a:pt x="5778" y="4299"/>
                      </a:cubicBezTo>
                      <a:cubicBezTo>
                        <a:pt x="6382" y="3775"/>
                        <a:pt x="6963" y="3509"/>
                        <a:pt x="7526" y="3490"/>
                      </a:cubicBezTo>
                      <a:cubicBezTo>
                        <a:pt x="8088" y="3467"/>
                        <a:pt x="8631" y="3523"/>
                        <a:pt x="9145" y="3649"/>
                      </a:cubicBezTo>
                      <a:cubicBezTo>
                        <a:pt x="9669" y="3775"/>
                        <a:pt x="10149" y="3883"/>
                        <a:pt x="10590" y="3967"/>
                      </a:cubicBezTo>
                      <a:cubicBezTo>
                        <a:pt x="11038" y="4051"/>
                        <a:pt x="11424" y="3958"/>
                        <a:pt x="11765" y="3682"/>
                      </a:cubicBezTo>
                      <a:cubicBezTo>
                        <a:pt x="12123" y="3382"/>
                        <a:pt x="12321" y="2994"/>
                        <a:pt x="12351" y="2526"/>
                      </a:cubicBezTo>
                      <a:cubicBezTo>
                        <a:pt x="12376" y="2054"/>
                        <a:pt x="12189" y="1596"/>
                        <a:pt x="11782" y="1147"/>
                      </a:cubicBezTo>
                      <a:cubicBezTo>
                        <a:pt x="11258" y="569"/>
                        <a:pt x="10630" y="216"/>
                        <a:pt x="9872" y="85"/>
                      </a:cubicBezTo>
                      <a:cubicBezTo>
                        <a:pt x="9126" y="-41"/>
                        <a:pt x="8358" y="-30"/>
                        <a:pt x="7564" y="136"/>
                      </a:cubicBezTo>
                      <a:cubicBezTo>
                        <a:pt x="6780" y="309"/>
                        <a:pt x="6032" y="595"/>
                        <a:pt x="5324" y="997"/>
                      </a:cubicBezTo>
                      <a:cubicBezTo>
                        <a:pt x="4617" y="1399"/>
                        <a:pt x="4048" y="1811"/>
                        <a:pt x="3626" y="2213"/>
                      </a:cubicBezTo>
                      <a:cubicBezTo>
                        <a:pt x="3464" y="2066"/>
                        <a:pt x="3302" y="1918"/>
                        <a:pt x="3141" y="1773"/>
                      </a:cubicBezTo>
                      <a:cubicBezTo>
                        <a:pt x="2963" y="1614"/>
                        <a:pt x="2739" y="1530"/>
                        <a:pt x="2471" y="1535"/>
                      </a:cubicBezTo>
                      <a:cubicBezTo>
                        <a:pt x="2200" y="1535"/>
                        <a:pt x="1977" y="1647"/>
                        <a:pt x="1793" y="1853"/>
                      </a:cubicBezTo>
                      <a:cubicBezTo>
                        <a:pt x="1615" y="2054"/>
                        <a:pt x="1530" y="2288"/>
                        <a:pt x="1565" y="2536"/>
                      </a:cubicBezTo>
                      <a:cubicBezTo>
                        <a:pt x="1589" y="2793"/>
                        <a:pt x="1696" y="2989"/>
                        <a:pt x="1880" y="3139"/>
                      </a:cubicBezTo>
                      <a:cubicBezTo>
                        <a:pt x="2044" y="3270"/>
                        <a:pt x="2203" y="3401"/>
                        <a:pt x="2364" y="3537"/>
                      </a:cubicBezTo>
                      <a:cubicBezTo>
                        <a:pt x="1731" y="4276"/>
                        <a:pt x="1207" y="5094"/>
                        <a:pt x="795" y="5957"/>
                      </a:cubicBezTo>
                      <a:cubicBezTo>
                        <a:pt x="378" y="6820"/>
                        <a:pt x="130" y="7676"/>
                        <a:pt x="37" y="8509"/>
                      </a:cubicBezTo>
                      <a:cubicBezTo>
                        <a:pt x="-59" y="9346"/>
                        <a:pt x="33" y="10113"/>
                        <a:pt x="298" y="10824"/>
                      </a:cubicBezTo>
                      <a:cubicBezTo>
                        <a:pt x="566" y="11540"/>
                        <a:pt x="1056" y="12148"/>
                        <a:pt x="1774" y="12723"/>
                      </a:cubicBezTo>
                      <a:cubicBezTo>
                        <a:pt x="2942" y="13658"/>
                        <a:pt x="4321" y="14056"/>
                        <a:pt x="5915" y="13967"/>
                      </a:cubicBezTo>
                      <a:cubicBezTo>
                        <a:pt x="7507" y="13874"/>
                        <a:pt x="9223" y="13415"/>
                        <a:pt x="11064" y="12461"/>
                      </a:cubicBezTo>
                      <a:cubicBezTo>
                        <a:pt x="12532" y="14093"/>
                        <a:pt x="14002" y="15716"/>
                        <a:pt x="15470" y="17223"/>
                      </a:cubicBezTo>
                      <a:cubicBezTo>
                        <a:pt x="14849" y="17728"/>
                        <a:pt x="14305" y="18018"/>
                        <a:pt x="13826" y="18111"/>
                      </a:cubicBezTo>
                      <a:cubicBezTo>
                        <a:pt x="13344" y="18210"/>
                        <a:pt x="12917" y="18200"/>
                        <a:pt x="12530" y="18088"/>
                      </a:cubicBezTo>
                      <a:cubicBezTo>
                        <a:pt x="12142" y="17971"/>
                        <a:pt x="11782" y="17803"/>
                        <a:pt x="11455" y="17587"/>
                      </a:cubicBezTo>
                      <a:cubicBezTo>
                        <a:pt x="11125" y="17368"/>
                        <a:pt x="10799" y="17181"/>
                        <a:pt x="10474" y="17026"/>
                      </a:cubicBezTo>
                      <a:cubicBezTo>
                        <a:pt x="10154" y="16872"/>
                        <a:pt x="9823" y="16788"/>
                        <a:pt x="9486" y="16783"/>
                      </a:cubicBezTo>
                      <a:cubicBezTo>
                        <a:pt x="9145" y="16778"/>
                        <a:pt x="8785" y="16937"/>
                        <a:pt x="8388" y="17265"/>
                      </a:cubicBezTo>
                      <a:cubicBezTo>
                        <a:pt x="7981" y="17606"/>
                        <a:pt x="7777" y="18004"/>
                        <a:pt x="7777" y="18453"/>
                      </a:cubicBezTo>
                      <a:cubicBezTo>
                        <a:pt x="7777" y="18897"/>
                        <a:pt x="7991" y="19351"/>
                        <a:pt x="8408" y="19809"/>
                      </a:cubicBezTo>
                      <a:cubicBezTo>
                        <a:pt x="8830" y="20268"/>
                        <a:pt x="9379" y="20651"/>
                        <a:pt x="10042" y="20955"/>
                      </a:cubicBezTo>
                      <a:cubicBezTo>
                        <a:pt x="10708" y="21259"/>
                        <a:pt x="11455" y="21451"/>
                        <a:pt x="12279" y="21502"/>
                      </a:cubicBezTo>
                      <a:cubicBezTo>
                        <a:pt x="13103" y="21559"/>
                        <a:pt x="13970" y="21437"/>
                        <a:pt x="14886" y="21109"/>
                      </a:cubicBezTo>
                      <a:cubicBezTo>
                        <a:pt x="15807" y="20787"/>
                        <a:pt x="16721" y="20202"/>
                        <a:pt x="17617" y="19332"/>
                      </a:cubicBezTo>
                      <a:cubicBezTo>
                        <a:pt x="18051" y="19739"/>
                        <a:pt x="18489" y="20127"/>
                        <a:pt x="18921" y="20501"/>
                      </a:cubicBezTo>
                      <a:cubicBezTo>
                        <a:pt x="19107" y="20656"/>
                        <a:pt x="19328" y="20731"/>
                        <a:pt x="19601" y="20712"/>
                      </a:cubicBezTo>
                      <a:cubicBezTo>
                        <a:pt x="19861" y="20703"/>
                        <a:pt x="20090" y="20586"/>
                        <a:pt x="20269" y="20375"/>
                      </a:cubicBezTo>
                      <a:cubicBezTo>
                        <a:pt x="20455" y="20160"/>
                        <a:pt x="20532" y="19921"/>
                        <a:pt x="20503" y="19674"/>
                      </a:cubicBezTo>
                      <a:cubicBezTo>
                        <a:pt x="20477" y="19421"/>
                        <a:pt x="20371" y="19229"/>
                        <a:pt x="20192" y="19089"/>
                      </a:cubicBezTo>
                      <a:cubicBezTo>
                        <a:pt x="19755" y="18752"/>
                        <a:pt x="19321" y="18397"/>
                        <a:pt x="18884" y="18022"/>
                      </a:cubicBezTo>
                      <a:cubicBezTo>
                        <a:pt x="19626" y="17143"/>
                        <a:pt x="20221" y="16217"/>
                        <a:pt x="20664" y="15300"/>
                      </a:cubicBezTo>
                      <a:cubicBezTo>
                        <a:pt x="21103" y="14379"/>
                        <a:pt x="21367" y="13490"/>
                        <a:pt x="21453" y="12667"/>
                      </a:cubicBezTo>
                      <a:cubicBezTo>
                        <a:pt x="21540" y="11839"/>
                        <a:pt x="21439" y="11091"/>
                        <a:pt x="21159" y="10412"/>
                      </a:cubicBezTo>
                      <a:cubicBezTo>
                        <a:pt x="20880" y="9725"/>
                        <a:pt x="20386" y="9135"/>
                        <a:pt x="19678" y="8570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38100" tIns="38100" rIns="38100" bIns="38100" anchor="ctr"/>
                <a:lstStyle/>
                <a:p>
                  <a:pPr defTabSz="4572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3000" kern="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  <p:sp>
              <p:nvSpPr>
                <p:cNvPr id="25" name="AutoShape 54"/>
                <p:cNvSpPr/>
                <p:nvPr/>
              </p:nvSpPr>
              <p:spPr bwMode="auto">
                <a:xfrm>
                  <a:off x="6543505" y="2435364"/>
                  <a:ext cx="55690" cy="58192"/>
                </a:xfrm>
                <a:custGeom>
                  <a:avLst/>
                  <a:gdLst>
                    <a:gd name="T0" fmla="+- 0 10791 197"/>
                    <a:gd name="T1" fmla="*/ T0 w 21188"/>
                    <a:gd name="T2" fmla="+- 0 10794 193"/>
                    <a:gd name="T3" fmla="*/ 10794 h 21203"/>
                    <a:gd name="T4" fmla="+- 0 10791 197"/>
                    <a:gd name="T5" fmla="*/ T4 w 21188"/>
                    <a:gd name="T6" fmla="+- 0 10794 193"/>
                    <a:gd name="T7" fmla="*/ 10794 h 21203"/>
                    <a:gd name="T8" fmla="+- 0 10791 197"/>
                    <a:gd name="T9" fmla="*/ T8 w 21188"/>
                    <a:gd name="T10" fmla="+- 0 10794 193"/>
                    <a:gd name="T11" fmla="*/ 10794 h 21203"/>
                    <a:gd name="T12" fmla="+- 0 10791 197"/>
                    <a:gd name="T13" fmla="*/ T12 w 21188"/>
                    <a:gd name="T14" fmla="+- 0 10794 193"/>
                    <a:gd name="T15" fmla="*/ 10794 h 21203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</a:cxnLst>
                  <a:rect l="0" t="0" r="r" b="b"/>
                  <a:pathLst>
                    <a:path w="21188" h="21203">
                      <a:moveTo>
                        <a:pt x="17615" y="468"/>
                      </a:moveTo>
                      <a:lnTo>
                        <a:pt x="17606" y="468"/>
                      </a:lnTo>
                      <a:cubicBezTo>
                        <a:pt x="14870" y="2476"/>
                        <a:pt x="12200" y="4590"/>
                        <a:pt x="9727" y="6958"/>
                      </a:cubicBezTo>
                      <a:cubicBezTo>
                        <a:pt x="7348" y="9227"/>
                        <a:pt x="5200" y="11619"/>
                        <a:pt x="3329" y="14060"/>
                      </a:cubicBezTo>
                      <a:lnTo>
                        <a:pt x="341" y="17962"/>
                      </a:lnTo>
                      <a:lnTo>
                        <a:pt x="350" y="17970"/>
                      </a:lnTo>
                      <a:cubicBezTo>
                        <a:pt x="-197" y="18786"/>
                        <a:pt x="-106" y="19880"/>
                        <a:pt x="638" y="20590"/>
                      </a:cubicBezTo>
                      <a:cubicBezTo>
                        <a:pt x="1491" y="21407"/>
                        <a:pt x="2889" y="21407"/>
                        <a:pt x="3746" y="20590"/>
                      </a:cubicBezTo>
                      <a:cubicBezTo>
                        <a:pt x="3877" y="20460"/>
                        <a:pt x="3984" y="20321"/>
                        <a:pt x="4069" y="20174"/>
                      </a:cubicBezTo>
                      <a:lnTo>
                        <a:pt x="6867" y="16517"/>
                      </a:lnTo>
                      <a:cubicBezTo>
                        <a:pt x="8601" y="14255"/>
                        <a:pt x="10606" y="12027"/>
                        <a:pt x="12824" y="9913"/>
                      </a:cubicBezTo>
                      <a:cubicBezTo>
                        <a:pt x="15281" y="7570"/>
                        <a:pt x="17557" y="5758"/>
                        <a:pt x="20329" y="3749"/>
                      </a:cubicBezTo>
                      <a:lnTo>
                        <a:pt x="20321" y="3741"/>
                      </a:lnTo>
                      <a:cubicBezTo>
                        <a:pt x="20400" y="3684"/>
                        <a:pt x="20473" y="3635"/>
                        <a:pt x="20543" y="3570"/>
                      </a:cubicBezTo>
                      <a:cubicBezTo>
                        <a:pt x="21402" y="2753"/>
                        <a:pt x="21402" y="1427"/>
                        <a:pt x="20543" y="606"/>
                      </a:cubicBezTo>
                      <a:cubicBezTo>
                        <a:pt x="19742" y="-161"/>
                        <a:pt x="18472" y="-193"/>
                        <a:pt x="17615" y="468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38100" tIns="38100" rIns="38100" bIns="38100" anchor="ctr"/>
                <a:lstStyle/>
                <a:p>
                  <a:pPr defTabSz="4572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3000" kern="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  <p:sp>
              <p:nvSpPr>
                <p:cNvPr id="26" name="AutoShape 55"/>
                <p:cNvSpPr/>
                <p:nvPr/>
              </p:nvSpPr>
              <p:spPr bwMode="auto">
                <a:xfrm>
                  <a:off x="6601072" y="2240762"/>
                  <a:ext cx="56315" cy="58818"/>
                </a:xfrm>
                <a:custGeom>
                  <a:avLst/>
                  <a:gdLst>
                    <a:gd name="T0" fmla="+- 0 10803 213"/>
                    <a:gd name="T1" fmla="*/ T0 w 21180"/>
                    <a:gd name="T2" fmla="+- 0 10801 203"/>
                    <a:gd name="T3" fmla="*/ 10801 h 21196"/>
                    <a:gd name="T4" fmla="+- 0 10803 213"/>
                    <a:gd name="T5" fmla="*/ T4 w 21180"/>
                    <a:gd name="T6" fmla="+- 0 10801 203"/>
                    <a:gd name="T7" fmla="*/ 10801 h 21196"/>
                    <a:gd name="T8" fmla="+- 0 10803 213"/>
                    <a:gd name="T9" fmla="*/ T8 w 21180"/>
                    <a:gd name="T10" fmla="+- 0 10801 203"/>
                    <a:gd name="T11" fmla="*/ 10801 h 21196"/>
                    <a:gd name="T12" fmla="+- 0 10803 213"/>
                    <a:gd name="T13" fmla="*/ T12 w 21180"/>
                    <a:gd name="T14" fmla="+- 0 10801 203"/>
                    <a:gd name="T15" fmla="*/ 10801 h 21196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</a:cxnLst>
                  <a:rect l="0" t="0" r="r" b="b"/>
                  <a:pathLst>
                    <a:path w="21180" h="21196">
                      <a:moveTo>
                        <a:pt x="8372" y="11356"/>
                      </a:moveTo>
                      <a:cubicBezTo>
                        <a:pt x="6122" y="13508"/>
                        <a:pt x="3675" y="15444"/>
                        <a:pt x="1144" y="17292"/>
                      </a:cubicBezTo>
                      <a:cubicBezTo>
                        <a:pt x="963" y="17388"/>
                        <a:pt x="786" y="17493"/>
                        <a:pt x="637" y="17645"/>
                      </a:cubicBezTo>
                      <a:cubicBezTo>
                        <a:pt x="-213" y="18457"/>
                        <a:pt x="-213" y="19774"/>
                        <a:pt x="637" y="20585"/>
                      </a:cubicBezTo>
                      <a:cubicBezTo>
                        <a:pt x="1464" y="21380"/>
                        <a:pt x="2796" y="21397"/>
                        <a:pt x="3652" y="20641"/>
                      </a:cubicBezTo>
                      <a:lnTo>
                        <a:pt x="3665" y="20649"/>
                      </a:lnTo>
                      <a:cubicBezTo>
                        <a:pt x="6364" y="18673"/>
                        <a:pt x="8988" y="16581"/>
                        <a:pt x="11419" y="14263"/>
                      </a:cubicBezTo>
                      <a:cubicBezTo>
                        <a:pt x="13759" y="12030"/>
                        <a:pt x="15873" y="9685"/>
                        <a:pt x="17715" y="7283"/>
                      </a:cubicBezTo>
                      <a:lnTo>
                        <a:pt x="20663" y="3427"/>
                      </a:lnTo>
                      <a:lnTo>
                        <a:pt x="20654" y="3419"/>
                      </a:lnTo>
                      <a:cubicBezTo>
                        <a:pt x="21386" y="2600"/>
                        <a:pt x="21357" y="1379"/>
                        <a:pt x="20541" y="608"/>
                      </a:cubicBezTo>
                      <a:cubicBezTo>
                        <a:pt x="19697" y="-203"/>
                        <a:pt x="18323" y="-203"/>
                        <a:pt x="17468" y="608"/>
                      </a:cubicBezTo>
                      <a:cubicBezTo>
                        <a:pt x="17313" y="760"/>
                        <a:pt x="17197" y="937"/>
                        <a:pt x="17094" y="1114"/>
                      </a:cubicBezTo>
                      <a:lnTo>
                        <a:pt x="14228" y="4857"/>
                      </a:lnTo>
                      <a:cubicBezTo>
                        <a:pt x="12526" y="7090"/>
                        <a:pt x="10552" y="9275"/>
                        <a:pt x="8372" y="11356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38100" tIns="38100" rIns="38100" bIns="38100" anchor="ctr"/>
                <a:lstStyle/>
                <a:p>
                  <a:pPr defTabSz="4572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3000" kern="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</p:grpSp>
        </p:grpSp>
      </p:grpSp>
      <p:sp>
        <p:nvSpPr>
          <p:cNvPr id="5" name="TextBox 21"/>
          <p:cNvSpPr txBox="1"/>
          <p:nvPr>
            <p:custDataLst>
              <p:tags r:id="rId3"/>
            </p:custDataLst>
          </p:nvPr>
        </p:nvSpPr>
        <p:spPr>
          <a:xfrm>
            <a:off x="2411730" y="1731645"/>
            <a:ext cx="4848225" cy="499110"/>
          </a:xfrm>
          <a:prstGeom prst="rect">
            <a:avLst/>
          </a:prstGeom>
        </p:spPr>
        <p:txBody>
          <a:bodyPr wrap="square" lIns="68580" tIns="34290" rIns="68580" bIns="34290" anchor="ctr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4000" b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资配订单匹配问题的变量解释</a:t>
            </a:r>
            <a:endParaRPr lang="zh-CN" altLang="en-US" sz="28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2" name="TextBox 21"/>
          <p:cNvSpPr txBox="1"/>
          <p:nvPr>
            <p:custDataLst>
              <p:tags r:id="rId4"/>
            </p:custDataLst>
          </p:nvPr>
        </p:nvSpPr>
        <p:spPr>
          <a:xfrm>
            <a:off x="2411730" y="2306955"/>
            <a:ext cx="4848225" cy="499110"/>
          </a:xfrm>
          <a:prstGeom prst="rect">
            <a:avLst/>
          </a:prstGeom>
        </p:spPr>
        <p:txBody>
          <a:bodyPr wrap="square" lIns="68580" tIns="34290" rIns="68580" bIns="34290" anchor="ctr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4000" b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方案一：匈牙利算法</a:t>
            </a:r>
            <a:endParaRPr lang="zh-CN" altLang="en-US" sz="28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4" name="TextBox 21"/>
          <p:cNvSpPr txBox="1"/>
          <p:nvPr>
            <p:custDataLst>
              <p:tags r:id="rId5"/>
            </p:custDataLst>
          </p:nvPr>
        </p:nvSpPr>
        <p:spPr>
          <a:xfrm>
            <a:off x="2411730" y="2882900"/>
            <a:ext cx="4848225" cy="499110"/>
          </a:xfrm>
          <a:prstGeom prst="rect">
            <a:avLst/>
          </a:prstGeom>
        </p:spPr>
        <p:txBody>
          <a:bodyPr wrap="square" lIns="68580" tIns="34290" rIns="68580" bIns="34290" anchor="ctr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4000" b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方案二：KM算法</a:t>
            </a:r>
            <a:endParaRPr lang="zh-CN" altLang="en-US" sz="28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6" name="TextBox 21"/>
          <p:cNvSpPr txBox="1"/>
          <p:nvPr>
            <p:custDataLst>
              <p:tags r:id="rId6"/>
            </p:custDataLst>
          </p:nvPr>
        </p:nvSpPr>
        <p:spPr>
          <a:xfrm>
            <a:off x="2411730" y="3459480"/>
            <a:ext cx="4848225" cy="499110"/>
          </a:xfrm>
          <a:prstGeom prst="rect">
            <a:avLst/>
          </a:prstGeom>
        </p:spPr>
        <p:txBody>
          <a:bodyPr wrap="square" lIns="68580" tIns="34290" rIns="68580" bIns="34290" anchor="ctr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4000" b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方案三：推荐模型</a:t>
            </a:r>
            <a:endParaRPr lang="zh-CN" altLang="en-US" sz="28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8" name="TextBox 21"/>
          <p:cNvSpPr txBox="1"/>
          <p:nvPr>
            <p:custDataLst>
              <p:tags r:id="rId7"/>
            </p:custDataLst>
          </p:nvPr>
        </p:nvSpPr>
        <p:spPr>
          <a:xfrm>
            <a:off x="2408555" y="4002405"/>
            <a:ext cx="4848225" cy="499110"/>
          </a:xfrm>
          <a:prstGeom prst="rect">
            <a:avLst/>
          </a:prstGeom>
        </p:spPr>
        <p:txBody>
          <a:bodyPr wrap="square" lIns="68580" tIns="34290" rIns="68580" bIns="34290" anchor="ctr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4000" b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部署</a:t>
            </a:r>
            <a:endParaRPr lang="zh-CN" altLang="en-US" sz="28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0" name="TextBox 21"/>
          <p:cNvSpPr txBox="1"/>
          <p:nvPr>
            <p:custDataLst>
              <p:tags r:id="rId8"/>
            </p:custDataLst>
          </p:nvPr>
        </p:nvSpPr>
        <p:spPr>
          <a:xfrm>
            <a:off x="1783715" y="267018"/>
            <a:ext cx="5576570" cy="622300"/>
          </a:xfrm>
          <a:prstGeom prst="rect">
            <a:avLst/>
          </a:prstGeom>
        </p:spPr>
        <p:txBody>
          <a:bodyPr wrap="square" lIns="68580" tIns="34290" rIns="68580" bIns="34290" anchor="ctr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4000" b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6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目录</a:t>
            </a:r>
            <a:endParaRPr lang="zh-CN" altLang="en-US" sz="36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0"/>
    </mc:Choice>
    <mc:Fallback>
      <p:transition spd="med" advClick="0" advTm="0"/>
    </mc:Fallback>
  </mc:AlternateContent>
  <p:timing>
    <p:tnLst>
      <p:par>
        <p:cTn id="1" dur="indefinite" restart="never" nodeType="tmRoot"/>
      </p:par>
    </p:tnLst>
    <p:bldLst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539115" y="915670"/>
            <a:ext cx="7977505" cy="3692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政策收紧、资产大于资金，需要精细化运营给资金方匹配更好的</a:t>
            </a: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资产。</a:t>
            </a:r>
            <a:endParaRPr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类似的场景（经验可</a:t>
            </a: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参考）：</a:t>
            </a:r>
            <a:endParaRPr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出行领域：滴滴/货拉拉的司乘匹配，美团外卖的骑手订单匹配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电商领域：淘宝/京东的商品推荐，拼多多的团购匹配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金融领域：同业的资金资产匹配，助贷平台的借贷匹配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常见的解决方案：</a:t>
            </a:r>
            <a:endParaRPr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二分图最优化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（如匈牙利算法/KM算法）侧重于</a:t>
            </a:r>
            <a:r>
              <a:rPr lang="zh-CN" altLang="en-US" sz="1200" b="1" dirty="0">
                <a:solidFill>
                  <a:srgbClr val="FF0000"/>
                </a:solidFill>
                <a:cs typeface="+mn-ea"/>
                <a:sym typeface="+mn-lt"/>
              </a:rPr>
              <a:t>全局最优解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，通过数学建模确保匹配结果在理论上达到最优；缺点就是</a:t>
            </a:r>
            <a:r>
              <a:rPr lang="zh-CN" altLang="en-US" sz="1200" b="1" dirty="0">
                <a:solidFill>
                  <a:srgbClr val="FF0000"/>
                </a:solidFill>
                <a:cs typeface="+mn-ea"/>
                <a:sym typeface="+mn-lt"/>
              </a:rPr>
              <a:t>实时性稍差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推荐算法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则更注重当前订单的</a:t>
            </a:r>
            <a:r>
              <a:rPr lang="zh-CN" altLang="en-US" sz="1200" b="1" dirty="0">
                <a:solidFill>
                  <a:srgbClr val="FF0000"/>
                </a:solidFill>
                <a:cs typeface="+mn-ea"/>
                <a:sym typeface="+mn-lt"/>
              </a:rPr>
              <a:t>个性化匹配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，通过机器学习模型学习历史数据中的复杂模式，在处理大规模数据时具有更好的可扩展性和实时性；缺点也一样，从历史数据中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定义</a:t>
            </a:r>
            <a:r>
              <a:rPr lang="zh-CN" altLang="en-US" sz="1200" b="1" dirty="0">
                <a:solidFill>
                  <a:srgbClr val="FF0000"/>
                </a:solidFill>
                <a:cs typeface="+mn-ea"/>
                <a:sym typeface="+mn-lt"/>
              </a:rPr>
              <a:t>全局最优较难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1" name="TextBox 108"/>
          <p:cNvSpPr txBox="1">
            <a:spLocks noChangeArrowheads="1"/>
          </p:cNvSpPr>
          <p:nvPr/>
        </p:nvSpPr>
        <p:spPr bwMode="auto">
          <a:xfrm>
            <a:off x="539552" y="267494"/>
            <a:ext cx="6400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背景</a:t>
            </a:r>
            <a:endParaRPr lang="zh-CN" altLang="en-US" dirty="0">
              <a:solidFill>
                <a:prstClr val="black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107544" y="245001"/>
            <a:ext cx="360000" cy="360000"/>
            <a:chOff x="1965186" y="1419622"/>
            <a:chExt cx="302558" cy="314067"/>
          </a:xfrm>
        </p:grpSpPr>
        <p:sp>
          <p:nvSpPr>
            <p:cNvPr id="33" name="矩形 32"/>
            <p:cNvSpPr/>
            <p:nvPr userDrawn="1"/>
          </p:nvSpPr>
          <p:spPr>
            <a:xfrm>
              <a:off x="1965186" y="1419622"/>
              <a:ext cx="252000" cy="252000"/>
            </a:xfrm>
            <a:prstGeom prst="rect">
              <a:avLst/>
            </a:prstGeom>
            <a:solidFill>
              <a:srgbClr val="4144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矩形 33"/>
            <p:cNvSpPr/>
            <p:nvPr userDrawn="1"/>
          </p:nvSpPr>
          <p:spPr>
            <a:xfrm>
              <a:off x="2087744" y="1553689"/>
              <a:ext cx="180000" cy="180000"/>
            </a:xfrm>
            <a:prstGeom prst="rect">
              <a:avLst/>
            </a:prstGeom>
            <a:solidFill>
              <a:srgbClr val="0E90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0"/>
    </mc:Choice>
    <mc:Fallback>
      <p:transition spd="med" advClick="0" advTm="0"/>
    </mc:Fallback>
  </mc:AlternateContent>
  <p:timing>
    <p:tnLst>
      <p:par>
        <p:cTn id="1" dur="indefinite" restart="never" nodeType="tmRoot"/>
      </p:par>
    </p:tnLst>
    <p:bldLst>
      <p:bldP spid="3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49935" y="0"/>
            <a:ext cx="7643495" cy="51149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0"/>
    </mc:Choice>
    <mc:Fallback>
      <p:transition spd="med" advClick="0" advTm="0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108"/>
          <p:cNvSpPr txBox="1">
            <a:spLocks noChangeArrowheads="1"/>
          </p:cNvSpPr>
          <p:nvPr/>
        </p:nvSpPr>
        <p:spPr bwMode="auto">
          <a:xfrm>
            <a:off x="539552" y="267494"/>
            <a:ext cx="22402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方案</a:t>
            </a:r>
            <a:r>
              <a:rPr lang="zh-CN" altLang="en-US"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一、匈牙利算法</a:t>
            </a:r>
            <a:endParaRPr lang="zh-CN" altLang="en-US" dirty="0">
              <a:solidFill>
                <a:prstClr val="black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107544" y="245001"/>
            <a:ext cx="360000" cy="360000"/>
            <a:chOff x="1965186" y="1419622"/>
            <a:chExt cx="302558" cy="314067"/>
          </a:xfrm>
        </p:grpSpPr>
        <p:sp>
          <p:nvSpPr>
            <p:cNvPr id="33" name="矩形 32"/>
            <p:cNvSpPr/>
            <p:nvPr userDrawn="1"/>
          </p:nvSpPr>
          <p:spPr>
            <a:xfrm>
              <a:off x="1965186" y="1419622"/>
              <a:ext cx="252000" cy="252000"/>
            </a:xfrm>
            <a:prstGeom prst="rect">
              <a:avLst/>
            </a:prstGeom>
            <a:solidFill>
              <a:srgbClr val="4144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矩形 33"/>
            <p:cNvSpPr/>
            <p:nvPr userDrawn="1"/>
          </p:nvSpPr>
          <p:spPr>
            <a:xfrm>
              <a:off x="2087744" y="1553689"/>
              <a:ext cx="180000" cy="180000"/>
            </a:xfrm>
            <a:prstGeom prst="rect">
              <a:avLst/>
            </a:prstGeom>
            <a:solidFill>
              <a:srgbClr val="0E90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407670" y="3428365"/>
            <a:ext cx="435864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算法难点：</a:t>
            </a:r>
            <a:endParaRPr lang="zh-CN" altLang="en-US" sz="1200" b="1" dirty="0">
              <a:solidFill>
                <a:srgbClr val="FF0000"/>
              </a:solidFill>
              <a:cs typeface="+mn-ea"/>
              <a:sym typeface="+mn-lt"/>
            </a:endParaRP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11505" y="3796665"/>
            <a:ext cx="8020050" cy="100965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68000" y="914400"/>
            <a:ext cx="7534275" cy="25050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0"/>
    </mc:Choice>
    <mc:Fallback>
      <p:transition spd="med" advClick="0" advTm="0"/>
    </mc:Fallback>
  </mc:AlternateContent>
  <p:timing>
    <p:tnLst>
      <p:par>
        <p:cTn id="1" dur="indefinite" restart="never" nodeType="tmRoot"/>
      </p:par>
    </p:tnLst>
    <p:bldLst>
      <p:bldP spid="3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108"/>
          <p:cNvSpPr txBox="1">
            <a:spLocks noChangeArrowheads="1"/>
          </p:cNvSpPr>
          <p:nvPr/>
        </p:nvSpPr>
        <p:spPr bwMode="auto">
          <a:xfrm>
            <a:off x="539552" y="267494"/>
            <a:ext cx="305562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方案</a:t>
            </a:r>
            <a:r>
              <a:rPr lang="zh-CN" altLang="en-US"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二、Kuhn</a:t>
            </a:r>
            <a:r>
              <a:rPr lang="en-US" altLang="zh-CN"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Munkres</a:t>
            </a:r>
            <a:r>
              <a:rPr lang="zh-CN" altLang="en-US"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算法</a:t>
            </a:r>
            <a:endParaRPr lang="zh-CN" altLang="en-US" dirty="0">
              <a:solidFill>
                <a:prstClr val="black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107544" y="245001"/>
            <a:ext cx="360000" cy="360000"/>
            <a:chOff x="1965186" y="1419622"/>
            <a:chExt cx="302558" cy="314067"/>
          </a:xfrm>
        </p:grpSpPr>
        <p:sp>
          <p:nvSpPr>
            <p:cNvPr id="33" name="矩形 32"/>
            <p:cNvSpPr/>
            <p:nvPr userDrawn="1"/>
          </p:nvSpPr>
          <p:spPr>
            <a:xfrm>
              <a:off x="1965186" y="1419622"/>
              <a:ext cx="252000" cy="252000"/>
            </a:xfrm>
            <a:prstGeom prst="rect">
              <a:avLst/>
            </a:prstGeom>
            <a:solidFill>
              <a:srgbClr val="4144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矩形 33"/>
            <p:cNvSpPr/>
            <p:nvPr userDrawn="1"/>
          </p:nvSpPr>
          <p:spPr>
            <a:xfrm>
              <a:off x="2087744" y="1553689"/>
              <a:ext cx="180000" cy="180000"/>
            </a:xfrm>
            <a:prstGeom prst="rect">
              <a:avLst/>
            </a:prstGeom>
            <a:solidFill>
              <a:srgbClr val="0E90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407670" y="3428365"/>
            <a:ext cx="435864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算法难点：</a:t>
            </a:r>
            <a:endParaRPr lang="zh-CN" altLang="en-US" sz="1200" b="1" dirty="0">
              <a:solidFill>
                <a:srgbClr val="FF0000"/>
              </a:solidFill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39750" y="3766185"/>
            <a:ext cx="7943850" cy="13620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68000" y="914400"/>
            <a:ext cx="5286375" cy="2476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0"/>
    </mc:Choice>
    <mc:Fallback>
      <p:transition spd="med" advClick="0" advTm="0"/>
    </mc:Fallback>
  </mc:AlternateContent>
  <p:timing>
    <p:tnLst>
      <p:par>
        <p:cTn id="1" dur="indefinite" restart="never" nodeType="tmRoot"/>
      </p:par>
    </p:tnLst>
    <p:bldLst>
      <p:bldP spid="3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108"/>
          <p:cNvSpPr txBox="1">
            <a:spLocks noChangeArrowheads="1"/>
          </p:cNvSpPr>
          <p:nvPr/>
        </p:nvSpPr>
        <p:spPr bwMode="auto">
          <a:xfrm>
            <a:off x="539552" y="267494"/>
            <a:ext cx="361124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方案</a:t>
            </a:r>
            <a:r>
              <a:rPr lang="zh-CN" altLang="en-US"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二、Kuhn</a:t>
            </a:r>
            <a:r>
              <a:rPr lang="en-US" altLang="zh-CN"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Munkres算法</a:t>
            </a:r>
            <a:r>
              <a:rPr lang="en-US" altLang="zh-CN"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解法</a:t>
            </a:r>
            <a:endParaRPr lang="zh-CN" altLang="en-US" dirty="0">
              <a:solidFill>
                <a:prstClr val="black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107544" y="245001"/>
            <a:ext cx="360000" cy="360000"/>
            <a:chOff x="1965186" y="1419622"/>
            <a:chExt cx="302558" cy="314067"/>
          </a:xfrm>
        </p:grpSpPr>
        <p:sp>
          <p:nvSpPr>
            <p:cNvPr id="33" name="矩形 32"/>
            <p:cNvSpPr/>
            <p:nvPr userDrawn="1"/>
          </p:nvSpPr>
          <p:spPr>
            <a:xfrm>
              <a:off x="1965186" y="1419622"/>
              <a:ext cx="252000" cy="252000"/>
            </a:xfrm>
            <a:prstGeom prst="rect">
              <a:avLst/>
            </a:prstGeom>
            <a:solidFill>
              <a:srgbClr val="4144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矩形 33"/>
            <p:cNvSpPr/>
            <p:nvPr userDrawn="1"/>
          </p:nvSpPr>
          <p:spPr>
            <a:xfrm>
              <a:off x="2087744" y="1553689"/>
              <a:ext cx="180000" cy="180000"/>
            </a:xfrm>
            <a:prstGeom prst="rect">
              <a:avLst/>
            </a:prstGeom>
            <a:solidFill>
              <a:srgbClr val="0E90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8" name="图片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53365" y="772160"/>
            <a:ext cx="8489315" cy="4025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0"/>
    </mc:Choice>
    <mc:Fallback>
      <p:transition spd="med" advClick="0" advTm="0"/>
    </mc:Fallback>
  </mc:AlternateContent>
  <p:timing>
    <p:tnLst>
      <p:par>
        <p:cTn id="1" dur="indefinite" restart="never" nodeType="tmRoot"/>
      </p:par>
    </p:tnLst>
    <p:bldLst>
      <p:bldP spid="3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108"/>
          <p:cNvSpPr txBox="1">
            <a:spLocks noChangeArrowheads="1"/>
          </p:cNvSpPr>
          <p:nvPr/>
        </p:nvSpPr>
        <p:spPr bwMode="auto">
          <a:xfrm>
            <a:off x="539552" y="267494"/>
            <a:ext cx="53022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方案三、</a:t>
            </a:r>
            <a:r>
              <a:rPr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基于深度学习/传统机器学习推荐模型方案</a:t>
            </a:r>
            <a:endParaRPr dirty="0">
              <a:solidFill>
                <a:prstClr val="black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107544" y="245001"/>
            <a:ext cx="360000" cy="360000"/>
            <a:chOff x="1965186" y="1419622"/>
            <a:chExt cx="302558" cy="314067"/>
          </a:xfrm>
        </p:grpSpPr>
        <p:sp>
          <p:nvSpPr>
            <p:cNvPr id="33" name="矩形 32"/>
            <p:cNvSpPr/>
            <p:nvPr userDrawn="1"/>
          </p:nvSpPr>
          <p:spPr>
            <a:xfrm>
              <a:off x="1965186" y="1419622"/>
              <a:ext cx="252000" cy="252000"/>
            </a:xfrm>
            <a:prstGeom prst="rect">
              <a:avLst/>
            </a:prstGeom>
            <a:solidFill>
              <a:srgbClr val="4144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矩形 33"/>
            <p:cNvSpPr/>
            <p:nvPr userDrawn="1"/>
          </p:nvSpPr>
          <p:spPr>
            <a:xfrm>
              <a:off x="2087744" y="1553689"/>
              <a:ext cx="180000" cy="180000"/>
            </a:xfrm>
            <a:prstGeom prst="rect">
              <a:avLst/>
            </a:prstGeom>
            <a:solidFill>
              <a:srgbClr val="0E90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467360" y="843915"/>
            <a:ext cx="435864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推理阶段目标函数（以通过率最大化为例）：</a:t>
            </a:r>
            <a:endParaRPr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39750" y="1275715"/>
            <a:ext cx="4076700" cy="1114425"/>
          </a:xfrm>
          <a:prstGeom prst="rect">
            <a:avLst/>
          </a:prstGeom>
        </p:spPr>
      </p:pic>
      <p:sp>
        <p:nvSpPr>
          <p:cNvPr id="3" name="矩形 2"/>
          <p:cNvSpPr/>
          <p:nvPr>
            <p:custDataLst>
              <p:tags r:id="rId4"/>
            </p:custDataLst>
          </p:nvPr>
        </p:nvSpPr>
        <p:spPr>
          <a:xfrm>
            <a:off x="467360" y="2643505"/>
            <a:ext cx="7047230" cy="175323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tx1"/>
                </a:solidFill>
                <a:cs typeface="+mn-ea"/>
                <a:sym typeface="+mn-lt"/>
              </a:rPr>
              <a:t>算法难点：</a:t>
            </a:r>
            <a:endParaRPr lang="zh-CN" altLang="en-US" sz="1200" b="1" dirty="0">
              <a:solidFill>
                <a:schemeClr val="tx1"/>
              </a:solidFill>
              <a:cs typeface="+mn-ea"/>
              <a:sym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 b="1" dirty="0">
                <a:solidFill>
                  <a:srgbClr val="FF0000"/>
                </a:solidFill>
                <a:cs typeface="+mn-ea"/>
                <a:sym typeface="+mn-lt"/>
              </a:rPr>
              <a:t>多目标优化困难</a:t>
            </a:r>
            <a:r>
              <a:rPr lang="zh-CN" altLang="en-US" sz="1000" b="1" dirty="0">
                <a:solidFill>
                  <a:schemeClr val="tx1"/>
                </a:solidFill>
                <a:cs typeface="+mn-ea"/>
                <a:sym typeface="+mn-lt"/>
              </a:rPr>
              <a:t>：</a:t>
            </a:r>
            <a:r>
              <a:rPr lang="zh-CN" altLang="en-US" sz="1000" dirty="0">
                <a:solidFill>
                  <a:schemeClr val="tx1"/>
                </a:solidFill>
                <a:cs typeface="+mn-ea"/>
                <a:sym typeface="+mn-lt"/>
              </a:rPr>
              <a:t>资配场景需同时优化资金利用率、通过率、盈利金额等多个目标，直接作为推荐系统优化目标会导致模型训练困难，难以收敛到全局最优解。</a:t>
            </a:r>
            <a:endParaRPr lang="zh-CN" altLang="en-US" sz="1000" b="1" dirty="0">
              <a:solidFill>
                <a:schemeClr val="tx1"/>
              </a:solidFill>
              <a:cs typeface="+mn-ea"/>
              <a:sym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 b="1" dirty="0">
                <a:solidFill>
                  <a:srgbClr val="FF0000"/>
                </a:solidFill>
                <a:cs typeface="+mn-ea"/>
                <a:sym typeface="+mn-lt"/>
              </a:rPr>
              <a:t>目标函数定义模糊</a:t>
            </a:r>
            <a:r>
              <a:rPr lang="zh-CN" altLang="en-US" sz="1000" b="1" dirty="0">
                <a:solidFill>
                  <a:schemeClr val="tx1"/>
                </a:solidFill>
                <a:cs typeface="+mn-ea"/>
                <a:sym typeface="+mn-lt"/>
              </a:rPr>
              <a:t>：</a:t>
            </a:r>
            <a:r>
              <a:rPr lang="zh-CN" altLang="en-US" sz="1000" dirty="0">
                <a:solidFill>
                  <a:schemeClr val="tx1"/>
                </a:solidFill>
                <a:cs typeface="+mn-ea"/>
                <a:sym typeface="+mn-lt"/>
              </a:rPr>
              <a:t>最优匹配标准涉及多维度主观权衡，难以用单一标签准确表达复杂的业务目标，使得推荐系统的模仿学习缺乏明确优化方向。</a:t>
            </a:r>
            <a:endParaRPr lang="zh-CN" altLang="en-US" sz="1000" b="1" dirty="0">
              <a:solidFill>
                <a:schemeClr val="tx1"/>
              </a:solidFill>
              <a:cs typeface="+mn-ea"/>
              <a:sym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 b="1" dirty="0">
                <a:solidFill>
                  <a:srgbClr val="FF0000"/>
                </a:solidFill>
                <a:cs typeface="+mn-ea"/>
                <a:sym typeface="+mn-lt"/>
              </a:rPr>
              <a:t>特征-&gt;y映射复杂</a:t>
            </a:r>
            <a:r>
              <a:rPr lang="zh-CN" altLang="en-US" sz="1000" b="1" dirty="0">
                <a:solidFill>
                  <a:schemeClr val="tx1"/>
                </a:solidFill>
                <a:cs typeface="+mn-ea"/>
                <a:sym typeface="+mn-lt"/>
              </a:rPr>
              <a:t>：</a:t>
            </a:r>
            <a:r>
              <a:rPr lang="zh-CN" altLang="en-US" sz="1000" dirty="0">
                <a:solidFill>
                  <a:schemeClr val="tx1"/>
                </a:solidFill>
                <a:cs typeface="+mn-ea"/>
                <a:sym typeface="+mn-lt"/>
              </a:rPr>
              <a:t>订单通过与否受静态特征和动态市场环境共同影响，传统特征工程难以完全捕获这种复杂的因果关系，导致模型效果受限。</a:t>
            </a:r>
            <a:endParaRPr lang="zh-CN" altLang="en-US" sz="1000" dirty="0">
              <a:solidFill>
                <a:schemeClr val="tx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0"/>
    </mc:Choice>
    <mc:Fallback>
      <p:transition spd="med" advClick="0" advTm="0"/>
    </mc:Fallback>
  </mc:AlternateContent>
  <p:timing>
    <p:tnLst>
      <p:par>
        <p:cTn id="1" dur="indefinite" restart="never" nodeType="tmRoot"/>
      </p:par>
    </p:tnLst>
    <p:bldLst>
      <p:bldP spid="3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108"/>
          <p:cNvSpPr txBox="1">
            <a:spLocks noChangeArrowheads="1"/>
          </p:cNvSpPr>
          <p:nvPr/>
        </p:nvSpPr>
        <p:spPr bwMode="auto">
          <a:xfrm>
            <a:off x="539552" y="267494"/>
            <a:ext cx="599376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方案三、</a:t>
            </a:r>
            <a:r>
              <a:rPr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基于深度学习/传统机器学习推荐模型方案</a:t>
            </a:r>
            <a:r>
              <a:rPr lang="en-US"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 - </a:t>
            </a:r>
            <a:r>
              <a:rPr lang="zh-CN" altLang="en-US"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解法</a:t>
            </a:r>
            <a:endParaRPr lang="zh-CN" altLang="en-US" dirty="0">
              <a:solidFill>
                <a:prstClr val="black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107544" y="245001"/>
            <a:ext cx="360000" cy="360000"/>
            <a:chOff x="1965186" y="1419622"/>
            <a:chExt cx="302558" cy="314067"/>
          </a:xfrm>
        </p:grpSpPr>
        <p:sp>
          <p:nvSpPr>
            <p:cNvPr id="33" name="矩形 32"/>
            <p:cNvSpPr/>
            <p:nvPr userDrawn="1"/>
          </p:nvSpPr>
          <p:spPr>
            <a:xfrm>
              <a:off x="1965186" y="1419622"/>
              <a:ext cx="252000" cy="252000"/>
            </a:xfrm>
            <a:prstGeom prst="rect">
              <a:avLst/>
            </a:prstGeom>
            <a:solidFill>
              <a:srgbClr val="4144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矩形 33"/>
            <p:cNvSpPr/>
            <p:nvPr userDrawn="1"/>
          </p:nvSpPr>
          <p:spPr>
            <a:xfrm>
              <a:off x="2087744" y="1553689"/>
              <a:ext cx="180000" cy="180000"/>
            </a:xfrm>
            <a:prstGeom prst="rect">
              <a:avLst/>
            </a:prstGeom>
            <a:solidFill>
              <a:srgbClr val="0E90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40385" y="843280"/>
            <a:ext cx="6101715" cy="4300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0"/>
    </mc:Choice>
    <mc:Fallback>
      <p:transition spd="med" advClick="0" advTm="0"/>
    </mc:Fallback>
  </mc:AlternateContent>
  <p:timing>
    <p:tnLst>
      <p:par>
        <p:cTn id="1" dur="indefinite" restart="never" nodeType="tmRoot"/>
      </p:par>
    </p:tnLst>
    <p:bldLst>
      <p:bldP spid="3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979930" y="2355850"/>
            <a:ext cx="5391150" cy="2676525"/>
          </a:xfrm>
          <a:prstGeom prst="rect">
            <a:avLst/>
          </a:prstGeom>
        </p:spPr>
      </p:pic>
      <p:sp>
        <p:nvSpPr>
          <p:cNvPr id="31" name="TextBox 108"/>
          <p:cNvSpPr txBox="1">
            <a:spLocks noChangeArrowheads="1"/>
          </p:cNvSpPr>
          <p:nvPr/>
        </p:nvSpPr>
        <p:spPr bwMode="auto">
          <a:xfrm>
            <a:off x="539552" y="267494"/>
            <a:ext cx="10972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dirty="0">
                <a:solidFill>
                  <a:prstClr val="black"/>
                </a:solidFill>
                <a:cs typeface="+mn-ea"/>
                <a:sym typeface="+mn-lt"/>
              </a:rPr>
              <a:t>实施计划</a:t>
            </a:r>
            <a:endParaRPr lang="zh-CN" altLang="en-US" dirty="0">
              <a:solidFill>
                <a:prstClr val="black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107544" y="245001"/>
            <a:ext cx="360000" cy="360000"/>
            <a:chOff x="1965186" y="1419622"/>
            <a:chExt cx="302558" cy="314067"/>
          </a:xfrm>
        </p:grpSpPr>
        <p:sp>
          <p:nvSpPr>
            <p:cNvPr id="33" name="矩形 32"/>
            <p:cNvSpPr/>
            <p:nvPr userDrawn="1"/>
          </p:nvSpPr>
          <p:spPr>
            <a:xfrm>
              <a:off x="1965186" y="1419622"/>
              <a:ext cx="252000" cy="252000"/>
            </a:xfrm>
            <a:prstGeom prst="rect">
              <a:avLst/>
            </a:prstGeom>
            <a:solidFill>
              <a:srgbClr val="4144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矩形 33"/>
            <p:cNvSpPr/>
            <p:nvPr userDrawn="1"/>
          </p:nvSpPr>
          <p:spPr>
            <a:xfrm>
              <a:off x="2087744" y="1553689"/>
              <a:ext cx="180000" cy="180000"/>
            </a:xfrm>
            <a:prstGeom prst="rect">
              <a:avLst/>
            </a:prstGeom>
            <a:solidFill>
              <a:srgbClr val="0E90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539750" y="771525"/>
            <a:ext cx="7977505" cy="216852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仿真系统构建：</a:t>
            </a:r>
            <a:endParaRPr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核心设计理念：构建高保真的离线仿真环境，支持多算法方案的安全对比实验，避免线上测试对业务大盘的冲击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仿真精度控制：基本还原订单历史路由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的环境，精度&gt;95%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仿真能力边界：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✅ 支持：算法逻辑验证、指标对比、参数调优</a:t>
            </a:r>
            <a:endParaRPr lang="zh-CN" altLang="en-US" sz="10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❌ 不支持：实时资方反馈、外部环境变化影响</a:t>
            </a:r>
            <a:endParaRPr lang="zh-CN" altLang="en-US" sz="10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🔄 近似模拟：资方决策延迟、系统负载影响</a:t>
            </a:r>
            <a:endParaRPr lang="zh-CN" altLang="en-US" sz="10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输出各项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仿真指标：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0"/>
    </mc:Choice>
    <mc:Fallback>
      <p:transition spd="med" advClick="0" advTm="0"/>
    </mc:Fallback>
  </mc:AlternateContent>
  <p:timing>
    <p:tnLst>
      <p:par>
        <p:cTn id="1" dur="indefinite" restart="never" nodeType="tmRoot"/>
      </p:par>
    </p:tnLst>
    <p:bldLst>
      <p:bldP spid="3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108"/>
          <p:cNvSpPr txBox="1">
            <a:spLocks noChangeArrowheads="1"/>
          </p:cNvSpPr>
          <p:nvPr/>
        </p:nvSpPr>
        <p:spPr bwMode="auto">
          <a:xfrm>
            <a:off x="539552" y="267494"/>
            <a:ext cx="10972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部署方案</a:t>
            </a:r>
            <a:endParaRPr dirty="0">
              <a:solidFill>
                <a:prstClr val="black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107544" y="245001"/>
            <a:ext cx="360000" cy="360000"/>
            <a:chOff x="1965186" y="1419622"/>
            <a:chExt cx="302558" cy="314067"/>
          </a:xfrm>
        </p:grpSpPr>
        <p:sp>
          <p:nvSpPr>
            <p:cNvPr id="33" name="矩形 32"/>
            <p:cNvSpPr/>
            <p:nvPr userDrawn="1"/>
          </p:nvSpPr>
          <p:spPr>
            <a:xfrm>
              <a:off x="1965186" y="1419622"/>
              <a:ext cx="252000" cy="252000"/>
            </a:xfrm>
            <a:prstGeom prst="rect">
              <a:avLst/>
            </a:prstGeom>
            <a:solidFill>
              <a:srgbClr val="4144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矩形 33"/>
            <p:cNvSpPr/>
            <p:nvPr userDrawn="1"/>
          </p:nvSpPr>
          <p:spPr>
            <a:xfrm>
              <a:off x="2087744" y="1553689"/>
              <a:ext cx="180000" cy="180000"/>
            </a:xfrm>
            <a:prstGeom prst="rect">
              <a:avLst/>
            </a:prstGeom>
            <a:solidFill>
              <a:srgbClr val="0E90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539750" y="771525"/>
            <a:ext cx="7977505" cy="341503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1. </a:t>
            </a: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加入对比的算法方案：</a:t>
            </a:r>
            <a:endParaRPr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现有规则引擎的贪心算法（基准）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现有的资配首推模型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聚类+KM算法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推荐算法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2. </a:t>
            </a: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在仿真系统上有显著效果后可进行A/B实验上线验证。</a:t>
            </a:r>
            <a:endParaRPr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第一阶段：5%流量（A组2.5% vs B组2.5%），观察2周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第二阶段：20%流量（A组10% vs B组10%），观察2周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关键指标：资金利用率、通过率、匹配成功率、响应时间、系统稳定性</a:t>
            </a:r>
            <a:endParaRPr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1200" b="1" dirty="0">
                <a:solidFill>
                  <a:srgbClr val="FF0000"/>
                </a:solidFill>
                <a:cs typeface="+mn-ea"/>
                <a:sym typeface="+mn-lt"/>
              </a:rPr>
              <a:t>3. </a:t>
            </a:r>
            <a:r>
              <a:rPr lang="zh-CN" altLang="en-US" sz="1200" b="1" dirty="0">
                <a:solidFill>
                  <a:srgbClr val="FF0000"/>
                </a:solidFill>
                <a:cs typeface="+mn-ea"/>
                <a:sym typeface="+mn-lt"/>
              </a:rPr>
              <a:t>在仿真环境及灰度实验上有显著效果后</a:t>
            </a:r>
            <a:r>
              <a:rPr lang="zh-CN" altLang="en-US" sz="1200" b="1" dirty="0">
                <a:solidFill>
                  <a:srgbClr val="FF0000"/>
                </a:solidFill>
                <a:cs typeface="+mn-ea"/>
                <a:sym typeface="+mn-lt"/>
              </a:rPr>
              <a:t>即可全量推流。</a:t>
            </a:r>
            <a:endParaRPr lang="zh-CN" altLang="en-US" sz="1200" b="1" dirty="0">
              <a:solidFill>
                <a:srgbClr val="FF0000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0"/>
    </mc:Choice>
    <mc:Fallback>
      <p:transition spd="med" advClick="0" advTm="0"/>
    </mc:Fallback>
  </mc:AlternateContent>
  <p:timing>
    <p:tnLst>
      <p:par>
        <p:cTn id="1" dur="indefinite" restart="never" nodeType="tmRoot"/>
      </p:par>
    </p:tnLst>
    <p:bldLst>
      <p:bldP spid="31" grpId="0"/>
    </p:bld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ISPRING_PRESENTATION_TITLE" val="严谨实用2015"/>
  <p:tag name="KSO_WPP_MARK_KEY" val="49691da9-5a55-4180-abcd-24d8aac4b289"/>
  <p:tag name="COMMONDATA" val="eyJoZGlkIjoiM2ZjN2JjMTE5MDYzZTVlYjE4MDMzYzllYzhkNmQ4ZDQifQ==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1xwu21v3">
      <a:majorFont>
        <a:latin typeface="微软雅黑 Light"/>
        <a:ea typeface="微软雅黑 Light"/>
        <a:cs typeface=""/>
      </a:majorFont>
      <a:minorFont>
        <a:latin typeface="微软雅黑 Light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1029</Words>
  <Application>WPS 演示</Application>
  <PresentationFormat>全屏显示(16:9)</PresentationFormat>
  <Paragraphs>79</Paragraphs>
  <Slides>11</Slides>
  <Notes>36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Calibri</vt:lpstr>
      <vt:lpstr>微软雅黑 Light</vt:lpstr>
      <vt:lpstr>Arial Unicode MS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  <Manager>第一PPT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年终总结新年计划</dc:title>
  <dc:creator>第一PPT</dc:creator>
  <cp:keywords>www.1ppt.com</cp:keywords>
  <dc:description>www.1ppt.com</dc:description>
  <cp:lastModifiedBy>乐观的摸摸头</cp:lastModifiedBy>
  <cp:revision>300</cp:revision>
  <dcterms:created xsi:type="dcterms:W3CDTF">2014-09-01T11:16:00Z</dcterms:created>
  <dcterms:modified xsi:type="dcterms:W3CDTF">2025-07-18T14:53:07Z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96FCF1C6CC7F44F6A1C6FADF67186839</vt:lpwstr>
  </property>
  <property fmtid="{D5CDD505-2E9C-101B-9397-08002B2CF9AE}" pid="3" name="KSOProductBuildVer">
    <vt:lpwstr>2052-11.1.0.14309</vt:lpwstr>
  </property>
</Properties>
</file>