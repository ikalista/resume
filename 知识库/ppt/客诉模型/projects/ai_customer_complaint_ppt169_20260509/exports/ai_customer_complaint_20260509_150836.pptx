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这一页先回答为什么要做 AI 专项。核心不是做一个单点分类模型，而是把电话、工单、短信、退费和投诉结果串成一条业务闭环，让模型识别风险、输出客群分类，再转化成分流、话术和退费策略。这样 AI 同时服务三件事：提前压降外诉、提升退费处置的议价空间，并把专家经验沉淀成可复用能力。</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执行上，专项用四个人各投入零点五人力即可启动，但关键是两条路径必须并行。专家路径负责把已有业务经验下钻成分类规则、风险信号、退费矩阵和干预话术；模型路径负责从通话文本和工单里自底向上发现新的客群和行为模式。两路结果最终汇合成统一标签体系和评测集，再进入小流量验证和工具化落地。</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9FC"/>
            </a:solidFill>
            <a:ln>
              <a:noFill/>
            </a:ln>
          </p:spPr>
        </p:sp>
        <p:sp>
          <p:nvSpPr>
            <p:cNvPr id="3" name="Rectangle 3"/>
            <p:cNvSpPr/>
            <p:nvPr/>
          </p:nvSpPr>
          <p:spPr>
            <a:xfrm>
              <a:off x="0" y="0"/>
              <a:ext cx="12192000" cy="66675"/>
            </a:xfrm>
            <a:prstGeom prst="rect">
              <a:avLst/>
            </a:prstGeom>
            <a:gradFill>
              <a:gsLst>
                <a:gs pos="0">
                  <a:srgbClr val="1E3A5F"/>
                </a:gs>
                <a:gs pos="100000">
                  <a:srgbClr val="00A6A6"/>
                </a:gs>
              </a:gsLst>
              <a:lin ang="0" scaled="1"/>
            </a:gradFill>
            <a:ln>
              <a:noFill/>
            </a:ln>
          </p:spPr>
        </p:sp>
      </p:grpSp>
      <p:grpSp>
        <p:nvGrpSpPr>
          <p:cNvPr id="7" name="Group 7"/>
          <p:cNvGrpSpPr/>
          <p:nvPr/>
        </p:nvGrpSpPr>
        <p:grpSpPr>
          <a:xfrm>
            <a:off x="386715" y="220028"/>
            <a:ext cx="8511426" cy="661034"/>
            <a:chOff x="386715" y="220028"/>
            <a:chExt cx="8511426" cy="661034"/>
          </a:xfrm>
        </p:grpSpPr>
        <p:sp>
          <p:nvSpPr>
            <p:cNvPr id="5" name="TextBox 5"/>
            <p:cNvSpPr txBox="1"/>
            <p:nvPr/>
          </p:nvSpPr>
          <p:spPr>
            <a:xfrm>
              <a:off x="386715" y="220028"/>
              <a:ext cx="8511426" cy="518160"/>
            </a:xfrm>
            <a:prstGeom prst="rect">
              <a:avLst/>
            </a:prstGeom>
            <a:noFill/>
            <a:ln>
              <a:noFill/>
            </a:ln>
          </p:spPr>
          <p:txBody>
            <a:bodyPr wrap="none" lIns="0" tIns="0" rIns="0" bIns="0" anchor="t" anchorCtr="0">
              <a:spAutoFit/>
            </a:bodyPr>
            <a:lstStyle/>
            <a:p>
              <a:pPr algn="l"/>
              <a:r>
                <a:rPr lang="zh-CN" sz="2550" b="1" dirty="0">
                  <a:solidFill>
                    <a:srgbClr val="172033"/>
                  </a:solidFill>
                  <a:latin typeface="Arial"/>
                  <a:ea typeface="Microsoft YaHei"/>
                  <a:cs typeface="Arial"/>
                </a:rPr>
                <a:t>AI专项要形成“识别—分类—策略—反馈”的业务闭环</a:t>
              </a:r>
            </a:p>
          </p:txBody>
        </p:sp>
        <p:sp>
          <p:nvSpPr>
            <p:cNvPr id="6" name="TextBox 6"/>
            <p:cNvSpPr txBox="1"/>
            <p:nvPr/>
          </p:nvSpPr>
          <p:spPr>
            <a:xfrm>
              <a:off x="405765" y="667702"/>
              <a:ext cx="4933950"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a:ea typeface="Microsoft YaHei"/>
                  <a:cs typeface="Arial"/>
                </a:rPr>
                <a:t>从客户通话与工单数据出发，把模型判断转化为外诉压降和退费处置动作</a:t>
              </a:r>
            </a:p>
          </p:txBody>
        </p:sp>
      </p:grpSp>
      <p:grpSp>
        <p:nvGrpSpPr>
          <p:cNvPr id="10" name="Group 10"/>
          <p:cNvGrpSpPr/>
          <p:nvPr/>
        </p:nvGrpSpPr>
        <p:grpSpPr>
          <a:xfrm>
            <a:off x="419100" y="990600"/>
            <a:ext cx="11353800" cy="495300"/>
            <a:chOff x="419100" y="990600"/>
            <a:chExt cx="11353800" cy="495300"/>
          </a:xfrm>
        </p:grpSpPr>
        <p:sp>
          <p:nvSpPr>
            <p:cNvPr id="8" name="Rectangle 8"/>
            <p:cNvSpPr/>
            <p:nvPr/>
          </p:nvSpPr>
          <p:spPr>
            <a:xfrm>
              <a:off x="419100" y="990600"/>
              <a:ext cx="11353800" cy="495300"/>
            </a:xfrm>
            <a:prstGeom prst="roundRect">
              <a:avLst>
                <a:gd name="adj" fmla="val 15385"/>
              </a:avLst>
            </a:prstGeom>
            <a:solidFill>
              <a:srgbClr val="1E3A5F"/>
            </a:solidFill>
            <a:ln>
              <a:noFill/>
            </a:ln>
          </p:spPr>
        </p:sp>
        <p:sp>
          <p:nvSpPr>
            <p:cNvPr id="9" name="TextBox 9"/>
            <p:cNvSpPr txBox="1"/>
            <p:nvPr/>
          </p:nvSpPr>
          <p:spPr>
            <a:xfrm>
              <a:off x="628650" y="1143000"/>
              <a:ext cx="8353639"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核心结论：AI 的价值不在单点分类，而在同时压降外诉、优化退费、沉淀专家经验</a:t>
              </a:r>
            </a:p>
          </p:txBody>
        </p:sp>
      </p:grpSp>
      <p:grpSp>
        <p:nvGrpSpPr>
          <p:cNvPr id="15" name="Group 15"/>
          <p:cNvGrpSpPr/>
          <p:nvPr/>
        </p:nvGrpSpPr>
        <p:grpSpPr>
          <a:xfrm>
            <a:off x="2409825" y="2819400"/>
            <a:ext cx="6657975" cy="1"/>
            <a:chOff x="2409825" y="2819400"/>
            <a:chExt cx="6657975" cy="1"/>
          </a:xfrm>
        </p:grpSpPr>
        <p:sp>
          <p:nvSpPr>
            <p:cNvPr id="11" name="Line 11"/>
            <p:cNvSpPr/>
            <p:nvPr/>
          </p:nvSpPr>
          <p:spPr>
            <a:xfrm>
              <a:off x="2409825" y="2819400"/>
              <a:ext cx="371475" cy="1"/>
            </a:xfrm>
            <a:prstGeom prst="line">
              <a:avLst/>
            </a:prstGeom>
            <a:noFill/>
            <a:ln w="28575">
              <a:solidFill>
                <a:srgbClr val="4A90A4"/>
              </a:solidFill>
              <a:tailEnd type="triangle" w="lg" len="lg"/>
            </a:ln>
          </p:spPr>
        </p:sp>
        <p:sp>
          <p:nvSpPr>
            <p:cNvPr id="12" name="Line 12"/>
            <p:cNvSpPr/>
            <p:nvPr/>
          </p:nvSpPr>
          <p:spPr>
            <a:xfrm>
              <a:off x="4505325" y="2819400"/>
              <a:ext cx="371475" cy="1"/>
            </a:xfrm>
            <a:prstGeom prst="line">
              <a:avLst/>
            </a:prstGeom>
            <a:noFill/>
            <a:ln w="28575">
              <a:solidFill>
                <a:srgbClr val="4A90A4"/>
              </a:solidFill>
              <a:tailEnd type="triangle" w="lg" len="lg"/>
            </a:ln>
          </p:spPr>
        </p:sp>
        <p:sp>
          <p:nvSpPr>
            <p:cNvPr id="13" name="Line 13"/>
            <p:cNvSpPr/>
            <p:nvPr/>
          </p:nvSpPr>
          <p:spPr>
            <a:xfrm>
              <a:off x="6600825" y="2819400"/>
              <a:ext cx="371475" cy="1"/>
            </a:xfrm>
            <a:prstGeom prst="line">
              <a:avLst/>
            </a:prstGeom>
            <a:noFill/>
            <a:ln w="28575">
              <a:solidFill>
                <a:srgbClr val="4A90A4"/>
              </a:solidFill>
              <a:tailEnd type="triangle" w="lg" len="lg"/>
            </a:ln>
          </p:spPr>
        </p:sp>
        <p:sp>
          <p:nvSpPr>
            <p:cNvPr id="14" name="Line 14"/>
            <p:cNvSpPr/>
            <p:nvPr/>
          </p:nvSpPr>
          <p:spPr>
            <a:xfrm>
              <a:off x="8696325" y="2819400"/>
              <a:ext cx="371475" cy="1"/>
            </a:xfrm>
            <a:prstGeom prst="line">
              <a:avLst/>
            </a:prstGeom>
            <a:noFill/>
            <a:ln w="28575">
              <a:solidFill>
                <a:srgbClr val="4A90A4"/>
              </a:solidFill>
              <a:tailEnd type="triangle" w="lg" len="lg"/>
            </a:ln>
          </p:spPr>
        </p:sp>
      </p:grpSp>
      <p:grpSp>
        <p:nvGrpSpPr>
          <p:cNvPr id="24" name="Group 24"/>
          <p:cNvGrpSpPr/>
          <p:nvPr/>
        </p:nvGrpSpPr>
        <p:grpSpPr>
          <a:xfrm>
            <a:off x="419100" y="1885950"/>
            <a:ext cx="1990725" cy="1866900"/>
            <a:chOff x="419100" y="1885950"/>
            <a:chExt cx="1990725" cy="1866900"/>
          </a:xfrm>
        </p:grpSpPr>
        <p:sp>
          <p:nvSpPr>
            <p:cNvPr id="16" name="Rectangle 16"/>
            <p:cNvSpPr/>
            <p:nvPr/>
          </p:nvSpPr>
          <p:spPr>
            <a:xfrm>
              <a:off x="419100" y="1885950"/>
              <a:ext cx="1990725" cy="1866900"/>
            </a:xfrm>
            <a:prstGeom prst="roundRect">
              <a:avLst>
                <a:gd name="adj" fmla="val 4082"/>
              </a:avLst>
            </a:prstGeom>
            <a:solidFill>
              <a:srgbClr val="FFFFFF"/>
            </a:solidFill>
            <a:ln w="14288">
              <a:solidFill>
                <a:srgbClr val="D9E2EC"/>
              </a:solidFill>
            </a:ln>
          </p:spPr>
        </p:sp>
        <p:sp>
          <p:nvSpPr>
            <p:cNvPr id="17" name="Rectangle 17"/>
            <p:cNvSpPr/>
            <p:nvPr/>
          </p:nvSpPr>
          <p:spPr>
            <a:xfrm>
              <a:off x="419100" y="1885950"/>
              <a:ext cx="1990725" cy="76200"/>
            </a:xfrm>
            <a:prstGeom prst="roundRect">
              <a:avLst>
                <a:gd name="adj" fmla="val 50000"/>
              </a:avLst>
            </a:prstGeom>
            <a:solidFill>
              <a:srgbClr val="1E3A5F"/>
            </a:solidFill>
            <a:ln>
              <a:noFill/>
            </a:ln>
          </p:spPr>
        </p:sp>
        <p:sp>
          <p:nvSpPr>
            <p:cNvPr id="18" name="Freeform 18"/>
            <p:cNvSpPr/>
            <p:nvPr/>
          </p:nvSpPr>
          <p:spPr>
            <a:xfrm>
              <a:off x="629841" y="2153841"/>
              <a:ext cx="283369" cy="283369"/>
            </a:xfrm>
            <a:custGeom>
              <a:avLst/>
              <a:gdLst/>
              <a:ahLst/>
              <a:cxnLst/>
              <a:rect l="l" t="t" r="r" b="b"/>
              <a:pathLst>
                <a:path w="283369" h="283369">
                  <a:moveTo>
                    <a:pt x="0" y="80962"/>
                  </a:moveTo>
                  <a:lnTo>
                    <a:pt x="0" y="0"/>
                  </a:lnTo>
                  <a:lnTo>
                    <a:pt x="121444" y="0"/>
                  </a:lnTo>
                  <a:lnTo>
                    <a:pt x="121444" y="80962"/>
                  </a:lnTo>
                  <a:lnTo>
                    <a:pt x="70842" y="131564"/>
                  </a:lnTo>
                  <a:lnTo>
                    <a:pt x="151805" y="212527"/>
                  </a:lnTo>
                  <a:lnTo>
                    <a:pt x="202406" y="161925"/>
                  </a:lnTo>
                  <a:lnTo>
                    <a:pt x="283369" y="161925"/>
                  </a:lnTo>
                  <a:lnTo>
                    <a:pt x="283369" y="283369"/>
                  </a:lnTo>
                  <a:lnTo>
                    <a:pt x="202406" y="283369"/>
                  </a:lnTo>
                  <a:cubicBezTo>
                    <a:pt x="90620" y="283369"/>
                    <a:pt x="0" y="192747"/>
                    <a:pt x="0" y="80962"/>
                  </a:cubicBezTo>
                  <a:close/>
                </a:path>
              </a:pathLst>
            </a:custGeom>
            <a:solidFill>
              <a:srgbClr val="1E3A5F"/>
            </a:solidFill>
            <a:ln>
              <a:noFill/>
            </a:ln>
          </p:spPr>
        </p:sp>
        <p:sp>
          <p:nvSpPr>
            <p:cNvPr id="19" name="TextBox 19"/>
            <p:cNvSpPr txBox="1"/>
            <p:nvPr/>
          </p:nvSpPr>
          <p:spPr>
            <a:xfrm>
              <a:off x="1026795" y="2203132"/>
              <a:ext cx="547973"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Arial"/>
                  <a:ea typeface="Microsoft YaHei"/>
                  <a:cs typeface="Arial"/>
                </a:rPr>
                <a:t>电话</a:t>
              </a:r>
            </a:p>
          </p:txBody>
        </p:sp>
        <p:sp>
          <p:nvSpPr>
            <p:cNvPr id="20" name="TextBox 20"/>
            <p:cNvSpPr txBox="1"/>
            <p:nvPr/>
          </p:nvSpPr>
          <p:spPr>
            <a:xfrm>
              <a:off x="595312" y="2659856"/>
              <a:ext cx="1589484"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通话文本、12378拨打</a:t>
              </a:r>
            </a:p>
          </p:txBody>
        </p:sp>
        <p:sp>
          <p:nvSpPr>
            <p:cNvPr id="21" name="TextBox 21"/>
            <p:cNvSpPr txBox="1"/>
            <p:nvPr/>
          </p:nvSpPr>
          <p:spPr>
            <a:xfrm>
              <a:off x="595312" y="2907506"/>
              <a:ext cx="1178719"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工单、短信触达</a:t>
              </a:r>
            </a:p>
          </p:txBody>
        </p:sp>
        <p:sp>
          <p:nvSpPr>
            <p:cNvPr id="22" name="TextBox 22"/>
            <p:cNvSpPr txBox="1"/>
            <p:nvPr/>
          </p:nvSpPr>
          <p:spPr>
            <a:xfrm>
              <a:off x="595312" y="3155156"/>
              <a:ext cx="1178719"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退费与投诉结果</a:t>
              </a:r>
            </a:p>
          </p:txBody>
        </p:sp>
        <p:sp>
          <p:nvSpPr>
            <p:cNvPr id="23" name="TextBox 23"/>
            <p:cNvSpPr txBox="1"/>
            <p:nvPr/>
          </p:nvSpPr>
          <p:spPr>
            <a:xfrm>
              <a:off x="597218" y="3428524"/>
              <a:ext cx="1669471"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Arial"/>
                  <a:ea typeface="Microsoft YaHei"/>
                  <a:cs typeface="Arial"/>
                </a:rPr>
                <a:t>输入：多源客户行为数据</a:t>
              </a:r>
            </a:p>
          </p:txBody>
        </p:sp>
      </p:grpSp>
      <p:grpSp>
        <p:nvGrpSpPr>
          <p:cNvPr id="33" name="Group 33"/>
          <p:cNvGrpSpPr/>
          <p:nvPr/>
        </p:nvGrpSpPr>
        <p:grpSpPr>
          <a:xfrm>
            <a:off x="2781300" y="1885950"/>
            <a:ext cx="1724025" cy="1866900"/>
            <a:chOff x="2781300" y="1885950"/>
            <a:chExt cx="1724025" cy="1866900"/>
          </a:xfrm>
        </p:grpSpPr>
        <p:sp>
          <p:nvSpPr>
            <p:cNvPr id="25" name="Rectangle 25"/>
            <p:cNvSpPr/>
            <p:nvPr/>
          </p:nvSpPr>
          <p:spPr>
            <a:xfrm>
              <a:off x="2781300" y="1885950"/>
              <a:ext cx="1724025" cy="1866900"/>
            </a:xfrm>
            <a:prstGeom prst="roundRect">
              <a:avLst>
                <a:gd name="adj" fmla="val 4420"/>
              </a:avLst>
            </a:prstGeom>
            <a:solidFill>
              <a:srgbClr val="FFFFFF"/>
            </a:solidFill>
            <a:ln w="14288">
              <a:solidFill>
                <a:srgbClr val="D9E2EC"/>
              </a:solidFill>
            </a:ln>
          </p:spPr>
        </p:sp>
        <p:sp>
          <p:nvSpPr>
            <p:cNvPr id="26" name="Rectangle 26"/>
            <p:cNvSpPr/>
            <p:nvPr/>
          </p:nvSpPr>
          <p:spPr>
            <a:xfrm>
              <a:off x="2781300" y="1885950"/>
              <a:ext cx="1724025" cy="76200"/>
            </a:xfrm>
            <a:prstGeom prst="roundRect">
              <a:avLst>
                <a:gd name="adj" fmla="val 50000"/>
              </a:avLst>
            </a:prstGeom>
            <a:solidFill>
              <a:srgbClr val="00A6A6"/>
            </a:solidFill>
            <a:ln>
              <a:noFill/>
            </a:ln>
          </p:spPr>
        </p:sp>
        <p:sp>
          <p:nvSpPr>
            <p:cNvPr id="27" name="Freeform 27"/>
            <p:cNvSpPr/>
            <p:nvPr/>
          </p:nvSpPr>
          <p:spPr>
            <a:xfrm>
              <a:off x="3012281" y="2133600"/>
              <a:ext cx="242888" cy="323850"/>
            </a:xfrm>
            <a:custGeom>
              <a:avLst/>
              <a:gdLst/>
              <a:ahLst/>
              <a:cxnLst/>
              <a:rect l="l" t="t" r="r" b="b"/>
              <a:pathLst>
                <a:path w="242888" h="323850">
                  <a:moveTo>
                    <a:pt x="141684" y="141684"/>
                  </a:moveTo>
                  <a:lnTo>
                    <a:pt x="161925" y="0"/>
                  </a:lnTo>
                  <a:lnTo>
                    <a:pt x="121444" y="0"/>
                  </a:lnTo>
                  <a:lnTo>
                    <a:pt x="0" y="141684"/>
                  </a:lnTo>
                  <a:lnTo>
                    <a:pt x="0" y="182166"/>
                  </a:lnTo>
                  <a:lnTo>
                    <a:pt x="101203" y="182166"/>
                  </a:lnTo>
                  <a:lnTo>
                    <a:pt x="80962" y="323850"/>
                  </a:lnTo>
                  <a:lnTo>
                    <a:pt x="121444" y="323850"/>
                  </a:lnTo>
                  <a:lnTo>
                    <a:pt x="242888" y="182166"/>
                  </a:lnTo>
                  <a:lnTo>
                    <a:pt x="242888" y="141684"/>
                  </a:lnTo>
                  <a:lnTo>
                    <a:pt x="141684" y="141684"/>
                  </a:lnTo>
                  <a:close/>
                </a:path>
              </a:pathLst>
            </a:custGeom>
            <a:solidFill>
              <a:srgbClr val="00A6A6"/>
            </a:solidFill>
            <a:ln>
              <a:noFill/>
            </a:ln>
          </p:spPr>
        </p:sp>
        <p:sp>
          <p:nvSpPr>
            <p:cNvPr id="28" name="TextBox 28"/>
            <p:cNvSpPr txBox="1"/>
            <p:nvPr/>
          </p:nvSpPr>
          <p:spPr>
            <a:xfrm>
              <a:off x="3388995" y="2203132"/>
              <a:ext cx="801005"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Arial"/>
                  <a:ea typeface="Microsoft YaHei"/>
                  <a:cs typeface="Arial"/>
                </a:rPr>
                <a:t>大模型</a:t>
              </a:r>
            </a:p>
          </p:txBody>
        </p:sp>
        <p:sp>
          <p:nvSpPr>
            <p:cNvPr id="29" name="TextBox 29"/>
            <p:cNvSpPr txBox="1"/>
            <p:nvPr/>
          </p:nvSpPr>
          <p:spPr>
            <a:xfrm>
              <a:off x="2957512" y="2659856"/>
              <a:ext cx="1014412"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嵌入专家经验</a:t>
              </a:r>
            </a:p>
          </p:txBody>
        </p:sp>
        <p:sp>
          <p:nvSpPr>
            <p:cNvPr id="30" name="TextBox 30"/>
            <p:cNvSpPr txBox="1"/>
            <p:nvPr/>
          </p:nvSpPr>
          <p:spPr>
            <a:xfrm>
              <a:off x="2957512" y="2907506"/>
              <a:ext cx="1507331"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规则下钻和聚类并行</a:t>
              </a:r>
            </a:p>
          </p:txBody>
        </p:sp>
        <p:sp>
          <p:nvSpPr>
            <p:cNvPr id="31" name="TextBox 31"/>
            <p:cNvSpPr txBox="1"/>
            <p:nvPr/>
          </p:nvSpPr>
          <p:spPr>
            <a:xfrm>
              <a:off x="2957512" y="3155156"/>
              <a:ext cx="1178719"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多基座交叉验证</a:t>
              </a:r>
            </a:p>
          </p:txBody>
        </p:sp>
        <p:sp>
          <p:nvSpPr>
            <p:cNvPr id="32" name="TextBox 32"/>
            <p:cNvSpPr txBox="1"/>
            <p:nvPr/>
          </p:nvSpPr>
          <p:spPr>
            <a:xfrm>
              <a:off x="2959418" y="3428524"/>
              <a:ext cx="1220914" cy="198120"/>
            </a:xfrm>
            <a:prstGeom prst="rect">
              <a:avLst/>
            </a:prstGeom>
            <a:noFill/>
            <a:ln>
              <a:noFill/>
            </a:ln>
          </p:spPr>
          <p:txBody>
            <a:bodyPr wrap="none" lIns="0" tIns="0" rIns="0" bIns="0" anchor="t" anchorCtr="0">
              <a:spAutoFit/>
            </a:bodyPr>
            <a:lstStyle/>
            <a:p>
              <a:pPr algn="l"/>
              <a:r>
                <a:rPr lang="zh-CN" sz="975" b="1" dirty="0">
                  <a:solidFill>
                    <a:srgbClr val="00A6A6"/>
                  </a:solidFill>
                  <a:latin typeface="Arial"/>
                  <a:ea typeface="Microsoft YaHei"/>
                  <a:cs typeface="Arial"/>
                </a:rPr>
                <a:t>能力：可解释判断</a:t>
              </a:r>
            </a:p>
          </p:txBody>
        </p:sp>
      </p:grpSp>
      <p:grpSp>
        <p:nvGrpSpPr>
          <p:cNvPr id="44" name="Group 44"/>
          <p:cNvGrpSpPr/>
          <p:nvPr/>
        </p:nvGrpSpPr>
        <p:grpSpPr>
          <a:xfrm>
            <a:off x="4876800" y="1885950"/>
            <a:ext cx="1724025" cy="1866900"/>
            <a:chOff x="4876800" y="1885950"/>
            <a:chExt cx="1724025" cy="1866900"/>
          </a:xfrm>
        </p:grpSpPr>
        <p:sp>
          <p:nvSpPr>
            <p:cNvPr id="34" name="Rectangle 34"/>
            <p:cNvSpPr/>
            <p:nvPr/>
          </p:nvSpPr>
          <p:spPr>
            <a:xfrm>
              <a:off x="4876800" y="1885950"/>
              <a:ext cx="1724025" cy="1866900"/>
            </a:xfrm>
            <a:prstGeom prst="roundRect">
              <a:avLst>
                <a:gd name="adj" fmla="val 4420"/>
              </a:avLst>
            </a:prstGeom>
            <a:solidFill>
              <a:srgbClr val="FFFFFF"/>
            </a:solidFill>
            <a:ln w="14288">
              <a:solidFill>
                <a:srgbClr val="D9E2EC"/>
              </a:solidFill>
            </a:ln>
          </p:spPr>
        </p:sp>
        <p:sp>
          <p:nvSpPr>
            <p:cNvPr id="35" name="Rectangle 35"/>
            <p:cNvSpPr/>
            <p:nvPr/>
          </p:nvSpPr>
          <p:spPr>
            <a:xfrm>
              <a:off x="4876800" y="1885950"/>
              <a:ext cx="1724025" cy="76200"/>
            </a:xfrm>
            <a:prstGeom prst="roundRect">
              <a:avLst>
                <a:gd name="adj" fmla="val 50000"/>
              </a:avLst>
            </a:prstGeom>
            <a:solidFill>
              <a:srgbClr val="4A90A4"/>
            </a:solidFill>
            <a:ln>
              <a:noFill/>
            </a:ln>
          </p:spPr>
        </p:sp>
        <p:grpSp>
          <p:nvGrpSpPr>
            <p:cNvPr id="38" name="Group 38"/>
            <p:cNvGrpSpPr/>
            <p:nvPr/>
          </p:nvGrpSpPr>
          <p:grpSpPr>
            <a:xfrm>
              <a:off x="5067300" y="2133600"/>
              <a:ext cx="323850" cy="323850"/>
              <a:chOff x="5067300" y="2133600"/>
              <a:chExt cx="323850" cy="323850"/>
            </a:xfrm>
          </p:grpSpPr>
          <p:sp>
            <p:nvSpPr>
              <p:cNvPr id="36" name="Freeform 36"/>
              <p:cNvSpPr/>
              <p:nvPr/>
            </p:nvSpPr>
            <p:spPr>
              <a:xfrm>
                <a:off x="5148262" y="2214562"/>
                <a:ext cx="161925" cy="161925"/>
              </a:xfrm>
              <a:custGeom>
                <a:avLst/>
                <a:gdLst/>
                <a:ahLst/>
                <a:cxnLst/>
                <a:rect l="l" t="t" r="r" b="b"/>
                <a:pathLst>
                  <a:path w="161925" h="161925">
                    <a:moveTo>
                      <a:pt x="80962" y="0"/>
                    </a:moveTo>
                    <a:cubicBezTo>
                      <a:pt x="36248" y="0"/>
                      <a:pt x="0" y="36248"/>
                      <a:pt x="0" y="80962"/>
                    </a:cubicBezTo>
                    <a:cubicBezTo>
                      <a:pt x="0" y="125676"/>
                      <a:pt x="36248" y="161925"/>
                      <a:pt x="80962" y="161925"/>
                    </a:cubicBezTo>
                    <a:cubicBezTo>
                      <a:pt x="125676" y="161925"/>
                      <a:pt x="161925" y="125676"/>
                      <a:pt x="161925" y="80962"/>
                    </a:cubicBezTo>
                    <a:cubicBezTo>
                      <a:pt x="161925" y="36248"/>
                      <a:pt x="125676" y="0"/>
                      <a:pt x="80962" y="0"/>
                    </a:cubicBezTo>
                    <a:close/>
                    <a:moveTo>
                      <a:pt x="40481" y="80962"/>
                    </a:moveTo>
                    <a:cubicBezTo>
                      <a:pt x="40481" y="58605"/>
                      <a:pt x="58605" y="40481"/>
                      <a:pt x="80962" y="40481"/>
                    </a:cubicBezTo>
                    <a:cubicBezTo>
                      <a:pt x="103320" y="40481"/>
                      <a:pt x="121444" y="58605"/>
                      <a:pt x="121444" y="80962"/>
                    </a:cubicBezTo>
                    <a:cubicBezTo>
                      <a:pt x="121444" y="103320"/>
                      <a:pt x="103320" y="121444"/>
                      <a:pt x="80962" y="121444"/>
                    </a:cubicBezTo>
                    <a:cubicBezTo>
                      <a:pt x="58605" y="121444"/>
                      <a:pt x="40481" y="103320"/>
                      <a:pt x="40481" y="80962"/>
                    </a:cubicBezTo>
                    <a:close/>
                  </a:path>
                </a:pathLst>
              </a:custGeom>
              <a:solidFill>
                <a:srgbClr val="4A90A4"/>
              </a:solidFill>
              <a:ln>
                <a:noFill/>
              </a:ln>
            </p:spPr>
          </p:sp>
          <p:sp>
            <p:nvSpPr>
              <p:cNvPr id="37" name="Freeform 37"/>
              <p:cNvSpPr/>
              <p:nvPr/>
            </p:nvSpPr>
            <p:spPr>
              <a:xfrm>
                <a:off x="5067300" y="2133600"/>
                <a:ext cx="323850" cy="323850"/>
              </a:xfrm>
              <a:custGeom>
                <a:avLst/>
                <a:gdLst/>
                <a:ahLst/>
                <a:cxnLst/>
                <a:rect l="l" t="t" r="r" b="b"/>
                <a:pathLst>
                  <a:path w="323850" h="323850">
                    <a:moveTo>
                      <a:pt x="161925" y="0"/>
                    </a:moveTo>
                    <a:cubicBezTo>
                      <a:pt x="72496" y="0"/>
                      <a:pt x="0" y="72496"/>
                      <a:pt x="0" y="161925"/>
                    </a:cubicBezTo>
                    <a:cubicBezTo>
                      <a:pt x="0" y="251354"/>
                      <a:pt x="72496" y="323850"/>
                      <a:pt x="161925" y="323850"/>
                    </a:cubicBezTo>
                    <a:cubicBezTo>
                      <a:pt x="251354" y="323850"/>
                      <a:pt x="323850" y="251354"/>
                      <a:pt x="323850" y="161925"/>
                    </a:cubicBezTo>
                    <a:cubicBezTo>
                      <a:pt x="323850" y="72496"/>
                      <a:pt x="251354" y="0"/>
                      <a:pt x="161925" y="0"/>
                    </a:cubicBezTo>
                    <a:close/>
                    <a:moveTo>
                      <a:pt x="40481" y="161925"/>
                    </a:moveTo>
                    <a:cubicBezTo>
                      <a:pt x="40481" y="94853"/>
                      <a:pt x="94853" y="40481"/>
                      <a:pt x="161925" y="40481"/>
                    </a:cubicBezTo>
                    <a:cubicBezTo>
                      <a:pt x="228996" y="40481"/>
                      <a:pt x="283369" y="94853"/>
                      <a:pt x="283369" y="161925"/>
                    </a:cubicBezTo>
                    <a:cubicBezTo>
                      <a:pt x="283369" y="228996"/>
                      <a:pt x="228996" y="283369"/>
                      <a:pt x="161925" y="283369"/>
                    </a:cubicBezTo>
                    <a:cubicBezTo>
                      <a:pt x="94853" y="283369"/>
                      <a:pt x="40481" y="228996"/>
                      <a:pt x="40481" y="161925"/>
                    </a:cubicBezTo>
                    <a:close/>
                  </a:path>
                </a:pathLst>
              </a:custGeom>
              <a:solidFill>
                <a:srgbClr val="4A90A4"/>
              </a:solidFill>
              <a:ln>
                <a:noFill/>
              </a:ln>
            </p:spPr>
          </p:sp>
        </p:grpSp>
        <p:sp>
          <p:nvSpPr>
            <p:cNvPr id="39" name="TextBox 39"/>
            <p:cNvSpPr txBox="1"/>
            <p:nvPr/>
          </p:nvSpPr>
          <p:spPr>
            <a:xfrm>
              <a:off x="5484495" y="2203132"/>
              <a:ext cx="1054036"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Arial"/>
                  <a:ea typeface="Microsoft YaHei"/>
                  <a:cs typeface="Arial"/>
                </a:rPr>
                <a:t>行为识别</a:t>
              </a:r>
            </a:p>
          </p:txBody>
        </p:sp>
        <p:sp>
          <p:nvSpPr>
            <p:cNvPr id="40" name="TextBox 40"/>
            <p:cNvSpPr txBox="1"/>
            <p:nvPr/>
          </p:nvSpPr>
          <p:spPr>
            <a:xfrm>
              <a:off x="5053012" y="2659856"/>
              <a:ext cx="685800"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投诉倾向</a:t>
              </a:r>
            </a:p>
          </p:txBody>
        </p:sp>
        <p:sp>
          <p:nvSpPr>
            <p:cNvPr id="41" name="TextBox 41"/>
            <p:cNvSpPr txBox="1"/>
            <p:nvPr/>
          </p:nvSpPr>
          <p:spPr>
            <a:xfrm>
              <a:off x="5053012" y="2907506"/>
              <a:ext cx="685800"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外溢风险</a:t>
              </a:r>
            </a:p>
          </p:txBody>
        </p:sp>
        <p:sp>
          <p:nvSpPr>
            <p:cNvPr id="42" name="TextBox 42"/>
            <p:cNvSpPr txBox="1"/>
            <p:nvPr/>
          </p:nvSpPr>
          <p:spPr>
            <a:xfrm>
              <a:off x="5053012" y="3155156"/>
              <a:ext cx="1507331"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诉求强度和沟通方式</a:t>
              </a:r>
            </a:p>
          </p:txBody>
        </p:sp>
        <p:sp>
          <p:nvSpPr>
            <p:cNvPr id="43" name="TextBox 43"/>
            <p:cNvSpPr txBox="1"/>
            <p:nvPr/>
          </p:nvSpPr>
          <p:spPr>
            <a:xfrm>
              <a:off x="5054918" y="3428524"/>
              <a:ext cx="1519952" cy="198120"/>
            </a:xfrm>
            <a:prstGeom prst="rect">
              <a:avLst/>
            </a:prstGeom>
            <a:noFill/>
            <a:ln>
              <a:noFill/>
            </a:ln>
          </p:spPr>
          <p:txBody>
            <a:bodyPr wrap="none" lIns="0" tIns="0" rIns="0" bIns="0" anchor="t" anchorCtr="0">
              <a:spAutoFit/>
            </a:bodyPr>
            <a:lstStyle/>
            <a:p>
              <a:pPr algn="l"/>
              <a:r>
                <a:rPr lang="zh-CN" sz="975" b="1" dirty="0">
                  <a:solidFill>
                    <a:srgbClr val="4A90A4"/>
                  </a:solidFill>
                  <a:latin typeface="Arial"/>
                  <a:ea typeface="Microsoft YaHei"/>
                  <a:cs typeface="Arial"/>
                </a:rPr>
                <a:t>输出：风险与诉求信号</a:t>
              </a:r>
            </a:p>
          </p:txBody>
        </p:sp>
      </p:grpSp>
      <p:grpSp>
        <p:nvGrpSpPr>
          <p:cNvPr id="57" name="Group 57"/>
          <p:cNvGrpSpPr/>
          <p:nvPr/>
        </p:nvGrpSpPr>
        <p:grpSpPr>
          <a:xfrm>
            <a:off x="6972300" y="1885950"/>
            <a:ext cx="1724025" cy="1866900"/>
            <a:chOff x="6972300" y="1885950"/>
            <a:chExt cx="1724025" cy="1866900"/>
          </a:xfrm>
        </p:grpSpPr>
        <p:sp>
          <p:nvSpPr>
            <p:cNvPr id="45" name="Rectangle 45"/>
            <p:cNvSpPr/>
            <p:nvPr/>
          </p:nvSpPr>
          <p:spPr>
            <a:xfrm>
              <a:off x="6972300" y="1885950"/>
              <a:ext cx="1724025" cy="1866900"/>
            </a:xfrm>
            <a:prstGeom prst="roundRect">
              <a:avLst>
                <a:gd name="adj" fmla="val 4420"/>
              </a:avLst>
            </a:prstGeom>
            <a:solidFill>
              <a:srgbClr val="FFFFFF"/>
            </a:solidFill>
            <a:ln w="14288">
              <a:solidFill>
                <a:srgbClr val="D9E2EC"/>
              </a:solidFill>
            </a:ln>
          </p:spPr>
        </p:sp>
        <p:sp>
          <p:nvSpPr>
            <p:cNvPr id="46" name="Rectangle 46"/>
            <p:cNvSpPr/>
            <p:nvPr/>
          </p:nvSpPr>
          <p:spPr>
            <a:xfrm>
              <a:off x="6972300" y="1885950"/>
              <a:ext cx="1724025" cy="76200"/>
            </a:xfrm>
            <a:prstGeom prst="roundRect">
              <a:avLst>
                <a:gd name="adj" fmla="val 50000"/>
              </a:avLst>
            </a:prstGeom>
            <a:solidFill>
              <a:srgbClr val="1F8A70"/>
            </a:solidFill>
            <a:ln>
              <a:noFill/>
            </a:ln>
          </p:spPr>
        </p:sp>
        <p:grpSp>
          <p:nvGrpSpPr>
            <p:cNvPr id="51" name="Group 51"/>
            <p:cNvGrpSpPr/>
            <p:nvPr/>
          </p:nvGrpSpPr>
          <p:grpSpPr>
            <a:xfrm>
              <a:off x="7162800" y="2153841"/>
              <a:ext cx="323850" cy="283368"/>
              <a:chOff x="7162800" y="2153841"/>
              <a:chExt cx="323850" cy="283368"/>
            </a:xfrm>
          </p:grpSpPr>
          <p:sp>
            <p:nvSpPr>
              <p:cNvPr id="47" name="Freeform 47"/>
              <p:cNvSpPr/>
              <p:nvPr/>
            </p:nvSpPr>
            <p:spPr>
              <a:xfrm>
                <a:off x="7223522" y="2153841"/>
                <a:ext cx="101203" cy="101203"/>
              </a:xfrm>
              <a:custGeom>
                <a:avLst/>
                <a:gdLst/>
                <a:ahLst/>
                <a:cxnLst/>
                <a:rect l="l" t="t" r="r" b="b"/>
                <a:pathLst>
                  <a:path w="101203" h="101203">
                    <a:moveTo>
                      <a:pt x="101203" y="50602"/>
                    </a:moveTo>
                    <a:cubicBezTo>
                      <a:pt x="101203" y="78548"/>
                      <a:pt x="78548" y="101203"/>
                      <a:pt x="50602" y="101203"/>
                    </a:cubicBezTo>
                    <a:cubicBezTo>
                      <a:pt x="22655" y="101203"/>
                      <a:pt x="0" y="78548"/>
                      <a:pt x="0" y="50602"/>
                    </a:cubicBezTo>
                    <a:cubicBezTo>
                      <a:pt x="0" y="22655"/>
                      <a:pt x="22655" y="0"/>
                      <a:pt x="50602" y="0"/>
                    </a:cubicBezTo>
                    <a:cubicBezTo>
                      <a:pt x="78548" y="0"/>
                      <a:pt x="101203" y="22655"/>
                      <a:pt x="101203" y="50602"/>
                    </a:cubicBezTo>
                    <a:close/>
                  </a:path>
                </a:pathLst>
              </a:custGeom>
              <a:solidFill>
                <a:srgbClr val="1F8A70"/>
              </a:solidFill>
              <a:ln>
                <a:noFill/>
              </a:ln>
            </p:spPr>
          </p:sp>
          <p:sp>
            <p:nvSpPr>
              <p:cNvPr id="48" name="Freeform 48"/>
              <p:cNvSpPr/>
              <p:nvPr/>
            </p:nvSpPr>
            <p:spPr>
              <a:xfrm>
                <a:off x="7162800" y="2295525"/>
                <a:ext cx="161925" cy="141684"/>
              </a:xfrm>
              <a:custGeom>
                <a:avLst/>
                <a:gdLst/>
                <a:ahLst/>
                <a:cxnLst/>
                <a:rect l="l" t="t" r="r" b="b"/>
                <a:pathLst>
                  <a:path w="161925" h="141684">
                    <a:moveTo>
                      <a:pt x="60722" y="0"/>
                    </a:moveTo>
                    <a:cubicBezTo>
                      <a:pt x="27186" y="0"/>
                      <a:pt x="0" y="27186"/>
                      <a:pt x="0" y="60722"/>
                    </a:cubicBezTo>
                    <a:lnTo>
                      <a:pt x="0" y="141684"/>
                    </a:lnTo>
                    <a:lnTo>
                      <a:pt x="161925" y="141684"/>
                    </a:lnTo>
                    <a:lnTo>
                      <a:pt x="161925" y="0"/>
                    </a:lnTo>
                    <a:lnTo>
                      <a:pt x="60722" y="0"/>
                    </a:lnTo>
                    <a:close/>
                  </a:path>
                </a:pathLst>
              </a:custGeom>
              <a:solidFill>
                <a:srgbClr val="1F8A70"/>
              </a:solidFill>
              <a:ln>
                <a:noFill/>
              </a:ln>
            </p:spPr>
          </p:sp>
          <p:sp>
            <p:nvSpPr>
              <p:cNvPr id="49" name="Freeform 49"/>
              <p:cNvSpPr/>
              <p:nvPr/>
            </p:nvSpPr>
            <p:spPr>
              <a:xfrm>
                <a:off x="7365206" y="2295525"/>
                <a:ext cx="121444" cy="141684"/>
              </a:xfrm>
              <a:custGeom>
                <a:avLst/>
                <a:gdLst/>
                <a:ahLst/>
                <a:cxnLst/>
                <a:rect l="l" t="t" r="r" b="b"/>
                <a:pathLst>
                  <a:path w="121444" h="141684">
                    <a:moveTo>
                      <a:pt x="60722" y="0"/>
                    </a:moveTo>
                    <a:lnTo>
                      <a:pt x="0" y="0"/>
                    </a:lnTo>
                    <a:lnTo>
                      <a:pt x="0" y="141684"/>
                    </a:lnTo>
                    <a:lnTo>
                      <a:pt x="121444" y="141684"/>
                    </a:lnTo>
                    <a:lnTo>
                      <a:pt x="121444" y="60722"/>
                    </a:lnTo>
                    <a:cubicBezTo>
                      <a:pt x="121444" y="27186"/>
                      <a:pt x="94259" y="0"/>
                      <a:pt x="60722" y="0"/>
                    </a:cubicBezTo>
                    <a:close/>
                  </a:path>
                </a:pathLst>
              </a:custGeom>
              <a:solidFill>
                <a:srgbClr val="1F8A70"/>
              </a:solidFill>
              <a:ln>
                <a:noFill/>
              </a:ln>
            </p:spPr>
          </p:sp>
          <p:sp>
            <p:nvSpPr>
              <p:cNvPr id="50" name="Freeform 50"/>
              <p:cNvSpPr/>
              <p:nvPr/>
            </p:nvSpPr>
            <p:spPr>
              <a:xfrm>
                <a:off x="7365206" y="2174081"/>
                <a:ext cx="80962" cy="80962"/>
              </a:xfrm>
              <a:custGeom>
                <a:avLst/>
                <a:gdLst/>
                <a:ahLst/>
                <a:cxnLst/>
                <a:rect l="l" t="t" r="r" b="b"/>
                <a:pathLst>
                  <a:path w="80962" h="80962">
                    <a:moveTo>
                      <a:pt x="40481" y="80962"/>
                    </a:moveTo>
                    <a:cubicBezTo>
                      <a:pt x="62839" y="80962"/>
                      <a:pt x="80962" y="62838"/>
                      <a:pt x="80962" y="40481"/>
                    </a:cubicBezTo>
                    <a:cubicBezTo>
                      <a:pt x="80962" y="18124"/>
                      <a:pt x="62839" y="0"/>
                      <a:pt x="40481" y="0"/>
                    </a:cubicBezTo>
                    <a:cubicBezTo>
                      <a:pt x="18123" y="0"/>
                      <a:pt x="0" y="18124"/>
                      <a:pt x="0" y="40481"/>
                    </a:cubicBezTo>
                    <a:cubicBezTo>
                      <a:pt x="0" y="62838"/>
                      <a:pt x="18123" y="80962"/>
                      <a:pt x="40481" y="80962"/>
                    </a:cubicBezTo>
                    <a:close/>
                  </a:path>
                </a:pathLst>
              </a:custGeom>
              <a:solidFill>
                <a:srgbClr val="1F8A70"/>
              </a:solidFill>
              <a:ln>
                <a:noFill/>
              </a:ln>
            </p:spPr>
          </p:sp>
        </p:grpSp>
        <p:sp>
          <p:nvSpPr>
            <p:cNvPr id="52" name="TextBox 52"/>
            <p:cNvSpPr txBox="1"/>
            <p:nvPr/>
          </p:nvSpPr>
          <p:spPr>
            <a:xfrm>
              <a:off x="7579995" y="2203132"/>
              <a:ext cx="1054036"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Arial"/>
                  <a:ea typeface="Microsoft YaHei"/>
                  <a:cs typeface="Arial"/>
                </a:rPr>
                <a:t>客群分类</a:t>
              </a:r>
            </a:p>
          </p:txBody>
        </p:sp>
        <p:sp>
          <p:nvSpPr>
            <p:cNvPr id="53" name="TextBox 53"/>
            <p:cNvSpPr txBox="1"/>
            <p:nvPr/>
          </p:nvSpPr>
          <p:spPr>
            <a:xfrm>
              <a:off x="7148512" y="2659856"/>
              <a:ext cx="1507331"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小白、豆包、专业型</a:t>
              </a:r>
            </a:p>
          </p:txBody>
        </p:sp>
        <p:sp>
          <p:nvSpPr>
            <p:cNvPr id="54" name="TextBox 54"/>
            <p:cNvSpPr txBox="1"/>
            <p:nvPr/>
          </p:nvSpPr>
          <p:spPr>
            <a:xfrm>
              <a:off x="7148512" y="2907506"/>
              <a:ext cx="1507331"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强硬、协商、软弱型</a:t>
              </a:r>
            </a:p>
          </p:txBody>
        </p:sp>
        <p:sp>
          <p:nvSpPr>
            <p:cNvPr id="55" name="TextBox 55"/>
            <p:cNvSpPr txBox="1"/>
            <p:nvPr/>
          </p:nvSpPr>
          <p:spPr>
            <a:xfrm>
              <a:off x="7148512" y="3155156"/>
              <a:ext cx="1343025"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保留等待挖掘维度</a:t>
              </a:r>
            </a:p>
          </p:txBody>
        </p:sp>
        <p:sp>
          <p:nvSpPr>
            <p:cNvPr id="56" name="TextBox 56"/>
            <p:cNvSpPr txBox="1"/>
            <p:nvPr/>
          </p:nvSpPr>
          <p:spPr>
            <a:xfrm>
              <a:off x="7150418" y="3428524"/>
              <a:ext cx="1370433" cy="198120"/>
            </a:xfrm>
            <a:prstGeom prst="rect">
              <a:avLst/>
            </a:prstGeom>
            <a:noFill/>
            <a:ln>
              <a:noFill/>
            </a:ln>
          </p:spPr>
          <p:txBody>
            <a:bodyPr wrap="none" lIns="0" tIns="0" rIns="0" bIns="0" anchor="t" anchorCtr="0">
              <a:spAutoFit/>
            </a:bodyPr>
            <a:lstStyle/>
            <a:p>
              <a:pPr algn="l"/>
              <a:r>
                <a:rPr lang="zh-CN" sz="975" b="1" dirty="0">
                  <a:solidFill>
                    <a:srgbClr val="1F8A70"/>
                  </a:solidFill>
                  <a:latin typeface="Arial"/>
                  <a:ea typeface="Microsoft YaHei"/>
                  <a:cs typeface="Arial"/>
                </a:rPr>
                <a:t>标签：双轴人群画像</a:t>
              </a:r>
            </a:p>
          </p:txBody>
        </p:sp>
      </p:grpSp>
      <p:grpSp>
        <p:nvGrpSpPr>
          <p:cNvPr id="66" name="Group 66"/>
          <p:cNvGrpSpPr/>
          <p:nvPr/>
        </p:nvGrpSpPr>
        <p:grpSpPr>
          <a:xfrm>
            <a:off x="9067800" y="1885950"/>
            <a:ext cx="2705100" cy="1866900"/>
            <a:chOff x="9067800" y="1885950"/>
            <a:chExt cx="2705100" cy="1866900"/>
          </a:xfrm>
        </p:grpSpPr>
        <p:sp>
          <p:nvSpPr>
            <p:cNvPr id="58" name="Rectangle 58"/>
            <p:cNvSpPr/>
            <p:nvPr/>
          </p:nvSpPr>
          <p:spPr>
            <a:xfrm>
              <a:off x="9067800" y="1885950"/>
              <a:ext cx="2705100" cy="1866900"/>
            </a:xfrm>
            <a:prstGeom prst="roundRect">
              <a:avLst>
                <a:gd name="adj" fmla="val 4082"/>
              </a:avLst>
            </a:prstGeom>
            <a:solidFill>
              <a:srgbClr val="FFFFFF"/>
            </a:solidFill>
            <a:ln w="14288">
              <a:solidFill>
                <a:srgbClr val="D9E2EC"/>
              </a:solidFill>
            </a:ln>
          </p:spPr>
        </p:sp>
        <p:sp>
          <p:nvSpPr>
            <p:cNvPr id="59" name="Rectangle 59"/>
            <p:cNvSpPr/>
            <p:nvPr/>
          </p:nvSpPr>
          <p:spPr>
            <a:xfrm>
              <a:off x="9067800" y="1885950"/>
              <a:ext cx="2705100" cy="76200"/>
            </a:xfrm>
            <a:prstGeom prst="roundRect">
              <a:avLst>
                <a:gd name="adj" fmla="val 50000"/>
              </a:avLst>
            </a:prstGeom>
            <a:solidFill>
              <a:srgbClr val="D04A02"/>
            </a:solidFill>
            <a:ln>
              <a:noFill/>
            </a:ln>
          </p:spPr>
        </p:sp>
        <p:sp>
          <p:nvSpPr>
            <p:cNvPr id="60" name="Freeform 60"/>
            <p:cNvSpPr/>
            <p:nvPr/>
          </p:nvSpPr>
          <p:spPr>
            <a:xfrm>
              <a:off x="9278541" y="2133600"/>
              <a:ext cx="283369" cy="323850"/>
            </a:xfrm>
            <a:custGeom>
              <a:avLst/>
              <a:gdLst/>
              <a:ahLst/>
              <a:cxnLst/>
              <a:rect l="l" t="t" r="r" b="b"/>
              <a:pathLst>
                <a:path w="283369" h="323850">
                  <a:moveTo>
                    <a:pt x="141684" y="323850"/>
                  </a:moveTo>
                  <a:lnTo>
                    <a:pt x="67808" y="271081"/>
                  </a:lnTo>
                  <a:cubicBezTo>
                    <a:pt x="25255" y="240685"/>
                    <a:pt x="0" y="191611"/>
                    <a:pt x="0" y="139317"/>
                  </a:cubicBezTo>
                  <a:lnTo>
                    <a:pt x="0" y="60722"/>
                  </a:lnTo>
                  <a:lnTo>
                    <a:pt x="141684" y="0"/>
                  </a:lnTo>
                  <a:lnTo>
                    <a:pt x="283369" y="60722"/>
                  </a:lnTo>
                  <a:lnTo>
                    <a:pt x="283369" y="139317"/>
                  </a:lnTo>
                  <a:cubicBezTo>
                    <a:pt x="283369" y="191611"/>
                    <a:pt x="258115" y="240685"/>
                    <a:pt x="215561" y="271081"/>
                  </a:cubicBezTo>
                  <a:lnTo>
                    <a:pt x="141684" y="323850"/>
                  </a:lnTo>
                  <a:close/>
                  <a:moveTo>
                    <a:pt x="226839" y="115515"/>
                  </a:moveTo>
                  <a:lnTo>
                    <a:pt x="198214" y="86891"/>
                  </a:lnTo>
                  <a:lnTo>
                    <a:pt x="121444" y="163661"/>
                  </a:lnTo>
                  <a:lnTo>
                    <a:pt x="85155" y="127372"/>
                  </a:lnTo>
                  <a:lnTo>
                    <a:pt x="56530" y="155997"/>
                  </a:lnTo>
                  <a:lnTo>
                    <a:pt x="121444" y="220910"/>
                  </a:lnTo>
                  <a:lnTo>
                    <a:pt x="226839" y="115515"/>
                  </a:lnTo>
                  <a:close/>
                </a:path>
              </a:pathLst>
            </a:custGeom>
            <a:solidFill>
              <a:srgbClr val="D04A02"/>
            </a:solidFill>
            <a:ln>
              <a:noFill/>
            </a:ln>
          </p:spPr>
        </p:sp>
        <p:sp>
          <p:nvSpPr>
            <p:cNvPr id="61" name="TextBox 61"/>
            <p:cNvSpPr txBox="1"/>
            <p:nvPr/>
          </p:nvSpPr>
          <p:spPr>
            <a:xfrm>
              <a:off x="9675495" y="2203132"/>
              <a:ext cx="1054036"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Arial"/>
                  <a:ea typeface="Microsoft YaHei"/>
                  <a:cs typeface="Arial"/>
                </a:rPr>
                <a:t>处置策略</a:t>
              </a:r>
            </a:p>
          </p:txBody>
        </p:sp>
        <p:sp>
          <p:nvSpPr>
            <p:cNvPr id="62" name="TextBox 62"/>
            <p:cNvSpPr txBox="1"/>
            <p:nvPr/>
          </p:nvSpPr>
          <p:spPr>
            <a:xfrm>
              <a:off x="9244012" y="2659856"/>
              <a:ext cx="2328862"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分流建议、外呼话术、退费力度</a:t>
              </a:r>
            </a:p>
          </p:txBody>
        </p:sp>
        <p:sp>
          <p:nvSpPr>
            <p:cNvPr id="63" name="TextBox 63"/>
            <p:cNvSpPr txBox="1"/>
            <p:nvPr/>
          </p:nvSpPr>
          <p:spPr>
            <a:xfrm>
              <a:off x="9244012" y="2907506"/>
              <a:ext cx="2493169"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拒绝方式、跟进周期、专项组高亮</a:t>
              </a:r>
            </a:p>
          </p:txBody>
        </p:sp>
        <p:sp>
          <p:nvSpPr>
            <p:cNvPr id="64" name="TextBox 64"/>
            <p:cNvSpPr txBox="1"/>
            <p:nvPr/>
          </p:nvSpPr>
          <p:spPr>
            <a:xfrm>
              <a:off x="9244012" y="3155156"/>
              <a:ext cx="1343025"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处置结果反哺模型</a:t>
              </a:r>
            </a:p>
          </p:txBody>
        </p:sp>
        <p:sp>
          <p:nvSpPr>
            <p:cNvPr id="65" name="TextBox 65"/>
            <p:cNvSpPr txBox="1"/>
            <p:nvPr/>
          </p:nvSpPr>
          <p:spPr>
            <a:xfrm>
              <a:off x="9245918" y="3428524"/>
              <a:ext cx="1370433" cy="198120"/>
            </a:xfrm>
            <a:prstGeom prst="rect">
              <a:avLst/>
            </a:prstGeom>
            <a:noFill/>
            <a:ln>
              <a:noFill/>
            </a:ln>
          </p:spPr>
          <p:txBody>
            <a:bodyPr wrap="none" lIns="0" tIns="0" rIns="0" bIns="0" anchor="t" anchorCtr="0">
              <a:spAutoFit/>
            </a:bodyPr>
            <a:lstStyle/>
            <a:p>
              <a:pPr algn="l"/>
              <a:r>
                <a:rPr lang="zh-CN" sz="975" b="1" dirty="0">
                  <a:solidFill>
                    <a:srgbClr val="D04A02"/>
                  </a:solidFill>
                  <a:latin typeface="Arial"/>
                  <a:ea typeface="Microsoft YaHei"/>
                  <a:cs typeface="Arial"/>
                </a:rPr>
                <a:t>动作：从判断到执行</a:t>
              </a:r>
            </a:p>
          </p:txBody>
        </p:sp>
      </p:grpSp>
      <p:grpSp>
        <p:nvGrpSpPr>
          <p:cNvPr id="73" name="Group 73"/>
          <p:cNvGrpSpPr/>
          <p:nvPr/>
        </p:nvGrpSpPr>
        <p:grpSpPr>
          <a:xfrm>
            <a:off x="1428750" y="3790950"/>
            <a:ext cx="8991600" cy="666750"/>
            <a:chOff x="1428750" y="3790950"/>
            <a:chExt cx="8991600" cy="666750"/>
          </a:xfrm>
        </p:grpSpPr>
        <p:sp>
          <p:nvSpPr>
            <p:cNvPr id="67" name="Freeform 67"/>
            <p:cNvSpPr/>
            <p:nvPr/>
          </p:nvSpPr>
          <p:spPr>
            <a:xfrm>
              <a:off x="1428750" y="3790950"/>
              <a:ext cx="8991600" cy="666750"/>
            </a:xfrm>
            <a:custGeom>
              <a:avLst/>
              <a:gdLst/>
              <a:ahLst/>
              <a:cxnLst/>
              <a:rect l="l" t="t" r="r" b="b"/>
              <a:pathLst>
                <a:path w="8991600" h="666750">
                  <a:moveTo>
                    <a:pt x="8991600" y="57150"/>
                  </a:moveTo>
                  <a:cubicBezTo>
                    <a:pt x="8991600" y="647700"/>
                    <a:pt x="5067300" y="666750"/>
                    <a:pt x="2209800" y="438150"/>
                  </a:cubicBezTo>
                  <a:cubicBezTo>
                    <a:pt x="628650" y="314325"/>
                    <a:pt x="285750" y="190500"/>
                    <a:pt x="0" y="0"/>
                  </a:cubicBezTo>
                </a:path>
              </a:pathLst>
            </a:custGeom>
            <a:noFill/>
            <a:ln w="23812">
              <a:solidFill>
                <a:srgbClr val="00A6A6"/>
              </a:solidFill>
              <a:prstDash val="lgDash"/>
              <a:tailEnd type="triangle" w="lg" len="lg"/>
            </a:ln>
          </p:spPr>
        </p:sp>
        <p:grpSp>
          <p:nvGrpSpPr>
            <p:cNvPr id="70" name="Group 70"/>
            <p:cNvGrpSpPr/>
            <p:nvPr/>
          </p:nvGrpSpPr>
          <p:grpSpPr>
            <a:xfrm>
              <a:off x="5572125" y="4086225"/>
              <a:ext cx="266699" cy="266700"/>
              <a:chOff x="5572125" y="4086225"/>
              <a:chExt cx="266699" cy="266700"/>
            </a:xfrm>
          </p:grpSpPr>
          <p:sp>
            <p:nvSpPr>
              <p:cNvPr id="68" name="Freeform 68"/>
              <p:cNvSpPr/>
              <p:nvPr/>
            </p:nvSpPr>
            <p:spPr>
              <a:xfrm>
                <a:off x="5605462" y="4086225"/>
                <a:ext cx="233362" cy="116681"/>
              </a:xfrm>
              <a:custGeom>
                <a:avLst/>
                <a:gdLst/>
                <a:ahLst/>
                <a:cxnLst/>
                <a:rect l="l" t="t" r="r" b="b"/>
                <a:pathLst>
                  <a:path w="233362" h="116681">
                    <a:moveTo>
                      <a:pt x="133350" y="116681"/>
                    </a:moveTo>
                    <a:lnTo>
                      <a:pt x="116681" y="100012"/>
                    </a:lnTo>
                    <a:lnTo>
                      <a:pt x="154901" y="61793"/>
                    </a:lnTo>
                    <a:lnTo>
                      <a:pt x="145136" y="52029"/>
                    </a:lnTo>
                    <a:cubicBezTo>
                      <a:pt x="133169" y="40061"/>
                      <a:pt x="116937" y="33338"/>
                      <a:pt x="100012" y="33338"/>
                    </a:cubicBezTo>
                    <a:cubicBezTo>
                      <a:pt x="83088" y="33338"/>
                      <a:pt x="66856" y="40061"/>
                      <a:pt x="54888" y="52029"/>
                    </a:cubicBezTo>
                    <a:lnTo>
                      <a:pt x="53459" y="53459"/>
                    </a:lnTo>
                    <a:cubicBezTo>
                      <a:pt x="40575" y="66342"/>
                      <a:pt x="33338" y="83815"/>
                      <a:pt x="33338" y="102035"/>
                    </a:cubicBezTo>
                    <a:lnTo>
                      <a:pt x="33338" y="116681"/>
                    </a:lnTo>
                    <a:lnTo>
                      <a:pt x="0" y="116681"/>
                    </a:lnTo>
                    <a:lnTo>
                      <a:pt x="0" y="102035"/>
                    </a:lnTo>
                    <a:cubicBezTo>
                      <a:pt x="0" y="74974"/>
                      <a:pt x="10750" y="49020"/>
                      <a:pt x="29885" y="29885"/>
                    </a:cubicBezTo>
                    <a:lnTo>
                      <a:pt x="31315" y="28455"/>
                    </a:lnTo>
                    <a:cubicBezTo>
                      <a:pt x="49535" y="10236"/>
                      <a:pt x="74246" y="0"/>
                      <a:pt x="100012" y="0"/>
                    </a:cubicBezTo>
                    <a:cubicBezTo>
                      <a:pt x="125779" y="0"/>
                      <a:pt x="150490" y="10236"/>
                      <a:pt x="168709" y="28455"/>
                    </a:cubicBezTo>
                    <a:lnTo>
                      <a:pt x="178474" y="38220"/>
                    </a:lnTo>
                    <a:lnTo>
                      <a:pt x="216694" y="0"/>
                    </a:lnTo>
                    <a:lnTo>
                      <a:pt x="233362" y="16669"/>
                    </a:lnTo>
                    <a:lnTo>
                      <a:pt x="233362" y="116681"/>
                    </a:lnTo>
                    <a:lnTo>
                      <a:pt x="133350" y="116681"/>
                    </a:lnTo>
                    <a:close/>
                  </a:path>
                </a:pathLst>
              </a:custGeom>
              <a:solidFill>
                <a:srgbClr val="00A6A6"/>
              </a:solidFill>
              <a:ln>
                <a:noFill/>
              </a:ln>
            </p:spPr>
          </p:sp>
          <p:sp>
            <p:nvSpPr>
              <p:cNvPr id="69" name="Freeform 69"/>
              <p:cNvSpPr/>
              <p:nvPr/>
            </p:nvSpPr>
            <p:spPr>
              <a:xfrm>
                <a:off x="5572125" y="4236244"/>
                <a:ext cx="233362" cy="116681"/>
              </a:xfrm>
              <a:custGeom>
                <a:avLst/>
                <a:gdLst/>
                <a:ahLst/>
                <a:cxnLst/>
                <a:rect l="l" t="t" r="r" b="b"/>
                <a:pathLst>
                  <a:path w="233362" h="116681">
                    <a:moveTo>
                      <a:pt x="88226" y="64653"/>
                    </a:moveTo>
                    <a:cubicBezTo>
                      <a:pt x="100194" y="76620"/>
                      <a:pt x="116425" y="83344"/>
                      <a:pt x="133350" y="83344"/>
                    </a:cubicBezTo>
                    <a:cubicBezTo>
                      <a:pt x="150275" y="83344"/>
                      <a:pt x="166506" y="76621"/>
                      <a:pt x="178474" y="64653"/>
                    </a:cubicBezTo>
                    <a:lnTo>
                      <a:pt x="179904" y="63223"/>
                    </a:lnTo>
                    <a:cubicBezTo>
                      <a:pt x="192787" y="50340"/>
                      <a:pt x="200025" y="32866"/>
                      <a:pt x="200025" y="14646"/>
                    </a:cubicBezTo>
                    <a:lnTo>
                      <a:pt x="200025" y="0"/>
                    </a:lnTo>
                    <a:lnTo>
                      <a:pt x="233362" y="0"/>
                    </a:lnTo>
                    <a:lnTo>
                      <a:pt x="233362" y="14646"/>
                    </a:lnTo>
                    <a:cubicBezTo>
                      <a:pt x="233362" y="41709"/>
                      <a:pt x="222613" y="67660"/>
                      <a:pt x="203477" y="86796"/>
                    </a:cubicBezTo>
                    <a:lnTo>
                      <a:pt x="202047" y="88226"/>
                    </a:lnTo>
                    <a:cubicBezTo>
                      <a:pt x="183828" y="106445"/>
                      <a:pt x="159117" y="116681"/>
                      <a:pt x="133350" y="116681"/>
                    </a:cubicBezTo>
                    <a:cubicBezTo>
                      <a:pt x="107584" y="116681"/>
                      <a:pt x="82872" y="106445"/>
                      <a:pt x="64653" y="88226"/>
                    </a:cubicBezTo>
                    <a:lnTo>
                      <a:pt x="54888" y="78461"/>
                    </a:lnTo>
                    <a:lnTo>
                      <a:pt x="16669" y="116681"/>
                    </a:lnTo>
                    <a:lnTo>
                      <a:pt x="0" y="100012"/>
                    </a:lnTo>
                    <a:lnTo>
                      <a:pt x="0" y="0"/>
                    </a:lnTo>
                    <a:lnTo>
                      <a:pt x="100012" y="0"/>
                    </a:lnTo>
                    <a:lnTo>
                      <a:pt x="116681" y="16669"/>
                    </a:lnTo>
                    <a:lnTo>
                      <a:pt x="78462" y="54889"/>
                    </a:lnTo>
                    <a:lnTo>
                      <a:pt x="88226" y="64653"/>
                    </a:lnTo>
                    <a:close/>
                  </a:path>
                </a:pathLst>
              </a:custGeom>
              <a:solidFill>
                <a:srgbClr val="00A6A6"/>
              </a:solidFill>
              <a:ln>
                <a:noFill/>
              </a:ln>
            </p:spPr>
          </p:sp>
        </p:grpSp>
        <p:sp>
          <p:nvSpPr>
            <p:cNvPr id="71" name="Rectangle 71"/>
            <p:cNvSpPr/>
            <p:nvPr/>
          </p:nvSpPr>
          <p:spPr>
            <a:xfrm>
              <a:off x="5943600" y="4057650"/>
              <a:ext cx="1619250" cy="323850"/>
            </a:xfrm>
            <a:prstGeom prst="roundRect">
              <a:avLst>
                <a:gd name="adj" fmla="val 50000"/>
              </a:avLst>
            </a:prstGeom>
            <a:solidFill>
              <a:srgbClr val="E8F7F7"/>
            </a:solidFill>
            <a:ln w="9525">
              <a:solidFill>
                <a:srgbClr val="00A6A6"/>
              </a:solidFill>
            </a:ln>
          </p:spPr>
        </p:sp>
        <p:sp>
          <p:nvSpPr>
            <p:cNvPr id="72" name="TextBox 72"/>
            <p:cNvSpPr txBox="1"/>
            <p:nvPr/>
          </p:nvSpPr>
          <p:spPr>
            <a:xfrm>
              <a:off x="6095810" y="4163378"/>
              <a:ext cx="1314831" cy="213360"/>
            </a:xfrm>
            <a:prstGeom prst="rect">
              <a:avLst/>
            </a:prstGeom>
            <a:noFill/>
            <a:ln>
              <a:noFill/>
            </a:ln>
          </p:spPr>
          <p:txBody>
            <a:bodyPr wrap="none" lIns="0" tIns="0" rIns="0" bIns="0" anchor="t" anchorCtr="0">
              <a:spAutoFit/>
            </a:bodyPr>
            <a:lstStyle/>
            <a:p>
              <a:pPr algn="ctr"/>
              <a:r>
                <a:rPr lang="zh-CN" sz="1050" b="1" dirty="0">
                  <a:solidFill>
                    <a:srgbClr val="00A6A6"/>
                  </a:solidFill>
                  <a:latin typeface="Arial"/>
                  <a:ea typeface="Microsoft YaHei"/>
                  <a:cs typeface="Arial"/>
                </a:rPr>
                <a:t>结果反馈形成闭环</a:t>
              </a:r>
            </a:p>
          </p:txBody>
        </p:sp>
      </p:grpSp>
      <p:grpSp>
        <p:nvGrpSpPr>
          <p:cNvPr id="89" name="Group 89"/>
          <p:cNvGrpSpPr/>
          <p:nvPr/>
        </p:nvGrpSpPr>
        <p:grpSpPr>
          <a:xfrm>
            <a:off x="419100" y="4705350"/>
            <a:ext cx="11583638" cy="1257300"/>
            <a:chOff x="419100" y="4705350"/>
            <a:chExt cx="11583638" cy="1257300"/>
          </a:xfrm>
        </p:grpSpPr>
        <p:sp>
          <p:nvSpPr>
            <p:cNvPr id="74" name="Rectangle 74"/>
            <p:cNvSpPr/>
            <p:nvPr/>
          </p:nvSpPr>
          <p:spPr>
            <a:xfrm>
              <a:off x="419100" y="4705350"/>
              <a:ext cx="11353800" cy="1257300"/>
            </a:xfrm>
            <a:prstGeom prst="roundRect">
              <a:avLst>
                <a:gd name="adj" fmla="val 6061"/>
              </a:avLst>
            </a:prstGeom>
            <a:solidFill>
              <a:srgbClr val="FFFFFF"/>
            </a:solidFill>
            <a:ln w="14288">
              <a:solidFill>
                <a:srgbClr val="D9E2EC"/>
              </a:solidFill>
            </a:ln>
          </p:spPr>
        </p:sp>
        <p:sp>
          <p:nvSpPr>
            <p:cNvPr id="75" name="TextBox 75"/>
            <p:cNvSpPr txBox="1"/>
            <p:nvPr/>
          </p:nvSpPr>
          <p:spPr>
            <a:xfrm>
              <a:off x="630555" y="4864418"/>
              <a:ext cx="862393" cy="274320"/>
            </a:xfrm>
            <a:prstGeom prst="rect">
              <a:avLst/>
            </a:prstGeom>
            <a:noFill/>
            <a:ln>
              <a:noFill/>
            </a:ln>
          </p:spPr>
          <p:txBody>
            <a:bodyPr wrap="none" lIns="0" tIns="0" rIns="0" bIns="0" anchor="t" anchorCtr="0">
              <a:spAutoFit/>
            </a:bodyPr>
            <a:lstStyle/>
            <a:p>
              <a:pPr algn="l"/>
              <a:r>
                <a:rPr lang="zh-CN" sz="1350" b="1" dirty="0">
                  <a:solidFill>
                    <a:srgbClr val="172033"/>
                  </a:solidFill>
                  <a:latin typeface="Arial"/>
                  <a:ea typeface="Microsoft YaHei"/>
                  <a:cs typeface="Arial"/>
                </a:rPr>
                <a:t>价值映射</a:t>
              </a:r>
            </a:p>
          </p:txBody>
        </p:sp>
        <p:sp>
          <p:nvSpPr>
            <p:cNvPr id="76" name="Line 76"/>
            <p:cNvSpPr/>
            <p:nvPr/>
          </p:nvSpPr>
          <p:spPr>
            <a:xfrm>
              <a:off x="647700" y="5181600"/>
              <a:ext cx="10896600" cy="9525"/>
            </a:xfrm>
            <a:custGeom>
              <a:avLst/>
              <a:gdLst/>
              <a:ahLst/>
              <a:cxnLst/>
              <a:rect l="l" t="t" r="r" b="b"/>
              <a:pathLst>
                <a:path w="10896600" h="9525">
                  <a:moveTo>
                    <a:pt x="0" y="0"/>
                  </a:moveTo>
                  <a:lnTo>
                    <a:pt x="10896600" y="0"/>
                  </a:lnTo>
                </a:path>
              </a:pathLst>
            </a:custGeom>
            <a:noFill/>
            <a:ln w="9525">
              <a:solidFill>
                <a:srgbClr val="D9E2EC"/>
              </a:solidFill>
            </a:ln>
          </p:spPr>
        </p:sp>
        <p:grpSp>
          <p:nvGrpSpPr>
            <p:cNvPr id="80" name="Group 80"/>
            <p:cNvGrpSpPr/>
            <p:nvPr/>
          </p:nvGrpSpPr>
          <p:grpSpPr>
            <a:xfrm>
              <a:off x="647700" y="5391150"/>
              <a:ext cx="3687127" cy="400050"/>
              <a:chOff x="647700" y="5391150"/>
              <a:chExt cx="3687127" cy="400050"/>
            </a:xfrm>
          </p:grpSpPr>
          <p:sp>
            <p:nvSpPr>
              <p:cNvPr id="77" name="Rectangle 77"/>
              <p:cNvSpPr/>
              <p:nvPr/>
            </p:nvSpPr>
            <p:spPr>
              <a:xfrm>
                <a:off x="647700" y="5391150"/>
                <a:ext cx="3257550" cy="400050"/>
              </a:xfrm>
              <a:prstGeom prst="roundRect">
                <a:avLst>
                  <a:gd name="adj" fmla="val 14286"/>
                </a:avLst>
              </a:prstGeom>
              <a:solidFill>
                <a:srgbClr val="EAF0F6"/>
              </a:solidFill>
              <a:ln>
                <a:noFill/>
              </a:ln>
            </p:spPr>
          </p:sp>
          <p:sp>
            <p:nvSpPr>
              <p:cNvPr id="78" name="TextBox 78"/>
              <p:cNvSpPr txBox="1"/>
              <p:nvPr/>
            </p:nvSpPr>
            <p:spPr>
              <a:xfrm>
                <a:off x="803910" y="5518785"/>
                <a:ext cx="766572" cy="243840"/>
              </a:xfrm>
              <a:prstGeom prst="rect">
                <a:avLst/>
              </a:prstGeom>
              <a:noFill/>
              <a:ln>
                <a:noFill/>
              </a:ln>
            </p:spPr>
            <p:txBody>
              <a:bodyPr wrap="none" lIns="0" tIns="0" rIns="0" bIns="0" anchor="t" anchorCtr="0">
                <a:spAutoFit/>
              </a:bodyPr>
              <a:lstStyle/>
              <a:p>
                <a:pPr algn="l"/>
                <a:r>
                  <a:rPr lang="zh-CN" sz="1200" b="1" dirty="0">
                    <a:solidFill>
                      <a:srgbClr val="1E3A5F"/>
                    </a:solidFill>
                    <a:latin typeface="Arial"/>
                    <a:ea typeface="Microsoft YaHei"/>
                    <a:cs typeface="Arial"/>
                  </a:rPr>
                  <a:t>压降外诉</a:t>
                </a:r>
              </a:p>
            </p:txBody>
          </p:sp>
          <p:sp>
            <p:nvSpPr>
              <p:cNvPr id="79" name="TextBox 79"/>
              <p:cNvSpPr txBox="1"/>
              <p:nvPr/>
            </p:nvSpPr>
            <p:spPr>
              <a:xfrm>
                <a:off x="1701165" y="5534978"/>
                <a:ext cx="2633662"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a:ea typeface="Microsoft YaHei"/>
                    <a:cs typeface="Arial"/>
                  </a:rPr>
                  <a:t>提前识别高风险客户，抢在外溢前干预</a:t>
                </a:r>
              </a:p>
            </p:txBody>
          </p:sp>
        </p:grpSp>
        <p:grpSp>
          <p:nvGrpSpPr>
            <p:cNvPr id="84" name="Group 84"/>
            <p:cNvGrpSpPr/>
            <p:nvPr/>
          </p:nvGrpSpPr>
          <p:grpSpPr>
            <a:xfrm>
              <a:off x="4305300" y="5391150"/>
              <a:ext cx="3380423" cy="400050"/>
              <a:chOff x="4305300" y="5391150"/>
              <a:chExt cx="3380423" cy="400050"/>
            </a:xfrm>
          </p:grpSpPr>
          <p:sp>
            <p:nvSpPr>
              <p:cNvPr id="81" name="Rectangle 81"/>
              <p:cNvSpPr/>
              <p:nvPr/>
            </p:nvSpPr>
            <p:spPr>
              <a:xfrm>
                <a:off x="4305300" y="5391150"/>
                <a:ext cx="3257550" cy="400050"/>
              </a:xfrm>
              <a:prstGeom prst="roundRect">
                <a:avLst>
                  <a:gd name="adj" fmla="val 14286"/>
                </a:avLst>
              </a:prstGeom>
              <a:solidFill>
                <a:srgbClr val="E8F7F7"/>
              </a:solidFill>
              <a:ln>
                <a:noFill/>
              </a:ln>
            </p:spPr>
          </p:sp>
          <p:sp>
            <p:nvSpPr>
              <p:cNvPr id="82" name="TextBox 82"/>
              <p:cNvSpPr txBox="1"/>
              <p:nvPr/>
            </p:nvSpPr>
            <p:spPr>
              <a:xfrm>
                <a:off x="4461510" y="5518785"/>
                <a:ext cx="766572" cy="243840"/>
              </a:xfrm>
              <a:prstGeom prst="rect">
                <a:avLst/>
              </a:prstGeom>
              <a:noFill/>
              <a:ln>
                <a:noFill/>
              </a:ln>
            </p:spPr>
            <p:txBody>
              <a:bodyPr wrap="none" lIns="0" tIns="0" rIns="0" bIns="0" anchor="t" anchorCtr="0">
                <a:spAutoFit/>
              </a:bodyPr>
              <a:lstStyle/>
              <a:p>
                <a:pPr algn="l"/>
                <a:r>
                  <a:rPr lang="zh-CN" sz="1200" b="1" dirty="0">
                    <a:solidFill>
                      <a:srgbClr val="00A6A6"/>
                    </a:solidFill>
                    <a:latin typeface="Arial"/>
                    <a:ea typeface="Microsoft YaHei"/>
                    <a:cs typeface="Arial"/>
                  </a:rPr>
                  <a:t>退费优化</a:t>
                </a:r>
              </a:p>
            </p:txBody>
          </p:sp>
          <p:sp>
            <p:nvSpPr>
              <p:cNvPr id="83" name="TextBox 83"/>
              <p:cNvSpPr txBox="1"/>
              <p:nvPr/>
            </p:nvSpPr>
            <p:spPr>
              <a:xfrm>
                <a:off x="5358765" y="5534978"/>
                <a:ext cx="2326958"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a:ea typeface="Microsoft YaHei"/>
                    <a:cs typeface="Arial"/>
                  </a:rPr>
                  <a:t>区分可谈、必赔、拒绝、拉长周期</a:t>
                </a:r>
              </a:p>
            </p:txBody>
          </p:sp>
        </p:grpSp>
        <p:grpSp>
          <p:nvGrpSpPr>
            <p:cNvPr id="88" name="Group 88"/>
            <p:cNvGrpSpPr/>
            <p:nvPr/>
          </p:nvGrpSpPr>
          <p:grpSpPr>
            <a:xfrm>
              <a:off x="7962900" y="5391150"/>
              <a:ext cx="4039838" cy="400050"/>
              <a:chOff x="7962900" y="5391150"/>
              <a:chExt cx="4039838" cy="400050"/>
            </a:xfrm>
          </p:grpSpPr>
          <p:sp>
            <p:nvSpPr>
              <p:cNvPr id="85" name="Rectangle 85"/>
              <p:cNvSpPr/>
              <p:nvPr/>
            </p:nvSpPr>
            <p:spPr>
              <a:xfrm>
                <a:off x="7962900" y="5391150"/>
                <a:ext cx="3581400" cy="400050"/>
              </a:xfrm>
              <a:prstGeom prst="roundRect">
                <a:avLst>
                  <a:gd name="adj" fmla="val 14286"/>
                </a:avLst>
              </a:prstGeom>
              <a:solidFill>
                <a:srgbClr val="FFF4ED"/>
              </a:solidFill>
              <a:ln>
                <a:noFill/>
              </a:ln>
            </p:spPr>
          </p:sp>
          <p:sp>
            <p:nvSpPr>
              <p:cNvPr id="86" name="TextBox 86"/>
              <p:cNvSpPr txBox="1"/>
              <p:nvPr/>
            </p:nvSpPr>
            <p:spPr>
              <a:xfrm>
                <a:off x="8119110" y="5518785"/>
                <a:ext cx="766572" cy="243840"/>
              </a:xfrm>
              <a:prstGeom prst="rect">
                <a:avLst/>
              </a:prstGeom>
              <a:noFill/>
              <a:ln>
                <a:noFill/>
              </a:ln>
            </p:spPr>
            <p:txBody>
              <a:bodyPr wrap="none" lIns="0" tIns="0" rIns="0" bIns="0" anchor="t" anchorCtr="0">
                <a:spAutoFit/>
              </a:bodyPr>
              <a:lstStyle/>
              <a:p>
                <a:pPr algn="l"/>
                <a:r>
                  <a:rPr lang="zh-CN" sz="1200" b="1" dirty="0">
                    <a:solidFill>
                      <a:srgbClr val="D04A02"/>
                    </a:solidFill>
                    <a:latin typeface="Arial"/>
                    <a:ea typeface="Microsoft YaHei"/>
                    <a:cs typeface="Arial"/>
                  </a:rPr>
                  <a:t>经验沉淀</a:t>
                </a:r>
              </a:p>
            </p:txBody>
          </p:sp>
          <p:sp>
            <p:nvSpPr>
              <p:cNvPr id="87" name="TextBox 87"/>
              <p:cNvSpPr txBox="1"/>
              <p:nvPr/>
            </p:nvSpPr>
            <p:spPr>
              <a:xfrm>
                <a:off x="9016365" y="5534978"/>
                <a:ext cx="2986373"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a:ea typeface="Microsoft YaHei"/>
                    <a:cs typeface="Arial"/>
                  </a:rPr>
                  <a:t>专家经验、Top问题、Top话术持续训练模型</a:t>
                </a:r>
              </a:p>
            </p:txBody>
          </p:sp>
        </p:grpSp>
      </p:grpSp>
      <p:grpSp>
        <p:nvGrpSpPr>
          <p:cNvPr id="92" name="Group 92"/>
          <p:cNvGrpSpPr/>
          <p:nvPr/>
        </p:nvGrpSpPr>
        <p:grpSpPr>
          <a:xfrm>
            <a:off x="408622" y="6483191"/>
            <a:ext cx="11374756" cy="167640"/>
            <a:chOff x="408622" y="6483191"/>
            <a:chExt cx="11374756" cy="167640"/>
          </a:xfrm>
        </p:grpSpPr>
        <p:sp>
          <p:nvSpPr>
            <p:cNvPr id="90" name="TextBox 90"/>
            <p:cNvSpPr txBox="1"/>
            <p:nvPr/>
          </p:nvSpPr>
          <p:spPr>
            <a:xfrm>
              <a:off x="408622" y="6483191"/>
              <a:ext cx="2539222" cy="167640"/>
            </a:xfrm>
            <a:prstGeom prst="rect">
              <a:avLst/>
            </a:prstGeom>
            <a:noFill/>
            <a:ln>
              <a:noFill/>
            </a:ln>
          </p:spPr>
          <p:txBody>
            <a:bodyPr wrap="none" lIns="0" tIns="0" rIns="0" bIns="0" anchor="t" anchorCtr="0">
              <a:spAutoFit/>
            </a:bodyPr>
            <a:lstStyle/>
            <a:p>
              <a:pPr algn="l"/>
              <a:r>
                <a:rPr lang="zh-CN" sz="825" dirty="0">
                  <a:solidFill>
                    <a:srgbClr val="98A2B3"/>
                  </a:solidFill>
                  <a:latin typeface="Arial"/>
                  <a:ea typeface="Microsoft YaHei"/>
                  <a:cs typeface="Arial"/>
                </a:rPr>
                <a:t>AI客诉专项 | Source: 智能纪要与架构草图整理</a:t>
              </a:r>
            </a:p>
          </p:txBody>
        </p:sp>
        <p:sp>
          <p:nvSpPr>
            <p:cNvPr id="91" name="TextBox 91"/>
            <p:cNvSpPr txBox="1"/>
            <p:nvPr/>
          </p:nvSpPr>
          <p:spPr>
            <a:xfrm>
              <a:off x="11388900" y="6483191"/>
              <a:ext cx="394478" cy="167640"/>
            </a:xfrm>
            <a:prstGeom prst="rect">
              <a:avLst/>
            </a:prstGeom>
            <a:noFill/>
            <a:ln>
              <a:noFill/>
            </a:ln>
          </p:spPr>
          <p:txBody>
            <a:bodyPr wrap="none" lIns="0" tIns="0" rIns="0" bIns="0" anchor="t" anchorCtr="0">
              <a:spAutoFit/>
            </a:bodyPr>
            <a:lstStyle/>
            <a:p>
              <a:pPr algn="r"/>
              <a:r>
                <a:rPr lang="zh-CN" sz="825" dirty="0">
                  <a:solidFill>
                    <a:srgbClr val="98A2B3"/>
                  </a:solidFill>
                  <a:latin typeface="Arial"/>
                  <a:ea typeface="Microsoft YaHei"/>
                  <a:cs typeface="Arial"/>
                </a:rPr>
                <a:t>01 / 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linds(horizontal)">
                                      <p:cBhvr>
                                        <p:cTn id="11" dur="400"/>
                                        <p:tgtEl>
                                          <p:spTgt spid="15"/>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checkerboard(across)">
                                      <p:cBhvr>
                                        <p:cTn id="15" dur="400"/>
                                        <p:tgtEl>
                                          <p:spTgt spid="24"/>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dissolve">
                                      <p:cBhvr>
                                        <p:cTn id="19" dur="400"/>
                                        <p:tgtEl>
                                          <p:spTgt spid="33"/>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slide(fromBottom)">
                                      <p:cBhvr>
                                        <p:cTn id="23" dur="400"/>
                                        <p:tgtEl>
                                          <p:spTgt spid="44"/>
                                        </p:tgtEl>
                                      </p:cBhvr>
                                    </p:animEffect>
                                  </p:childTnLst>
                                </p:cTn>
                              </p:par>
                            </p:childTnLst>
                          </p:cTn>
                        </p:par>
                        <p:par>
                          <p:cTn id="24" fill="hold">
                            <p:stCondLst>
                              <p:cond delay="4500"/>
                            </p:stCondLst>
                            <p:childTnLst>
                              <p:par>
                                <p:cTn id="25" presetID="42" presetClass="entr" presetSubtype="8" fill="hold" nodeType="after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slide(fromLeft)">
                                      <p:cBhvr>
                                        <p:cTn id="27" dur="400"/>
                                        <p:tgtEl>
                                          <p:spTgt spid="57"/>
                                        </p:tgtEl>
                                      </p:cBhvr>
                                    </p:animEffect>
                                  </p:childTnLst>
                                </p:cTn>
                              </p:par>
                            </p:childTnLst>
                          </p:cTn>
                        </p:par>
                        <p:par>
                          <p:cTn id="28" fill="hold">
                            <p:stCondLst>
                              <p:cond delay="5400"/>
                            </p:stCondLst>
                            <p:childTnLst>
                              <p:par>
                                <p:cTn id="29" presetID="14" presetClass="entr" presetSubtype="10" fill="hold" nodeType="after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randombar(horizontal)">
                                      <p:cBhvr>
                                        <p:cTn id="31" dur="400"/>
                                        <p:tgtEl>
                                          <p:spTgt spid="66"/>
                                        </p:tgtEl>
                                      </p:cBhvr>
                                    </p:animEffect>
                                  </p:childTnLst>
                                </p:cTn>
                              </p:par>
                            </p:childTnLst>
                          </p:cTn>
                        </p:par>
                        <p:par>
                          <p:cTn id="32" fill="hold">
                            <p:stCondLst>
                              <p:cond delay="6300"/>
                            </p:stCondLst>
                            <p:childTnLst>
                              <p:par>
                                <p:cTn id="33" presetID="4" presetClass="entr" presetSubtype="0" fill="hold" nodeType="afterEffect">
                                  <p:stCondLst>
                                    <p:cond delay="0"/>
                                  </p:stCondLst>
                                  <p:childTnLst>
                                    <p:set>
                                      <p:cBhvr>
                                        <p:cTn id="34" dur="1" fill="hold">
                                          <p:stCondLst>
                                            <p:cond delay="0"/>
                                          </p:stCondLst>
                                        </p:cTn>
                                        <p:tgtEl>
                                          <p:spTgt spid="73"/>
                                        </p:tgtEl>
                                        <p:attrNameLst>
                                          <p:attrName>style.visibility</p:attrName>
                                        </p:attrNameLst>
                                      </p:cBhvr>
                                      <p:to>
                                        <p:strVal val="visible"/>
                                      </p:to>
                                    </p:set>
                                    <p:animEffect transition="in" filter="box(in)">
                                      <p:cBhvr>
                                        <p:cTn id="35" dur="400"/>
                                        <p:tgtEl>
                                          <p:spTgt spid="73"/>
                                        </p:tgtEl>
                                      </p:cBhvr>
                                    </p:animEffect>
                                  </p:childTnLst>
                                </p:cTn>
                              </p:par>
                            </p:childTnLst>
                          </p:cTn>
                        </p:par>
                        <p:par>
                          <p:cTn id="36" fill="hold">
                            <p:stCondLst>
                              <p:cond delay="7200"/>
                            </p:stCondLst>
                            <p:childTnLst>
                              <p:par>
                                <p:cTn id="37" presetID="16" presetClass="entr" presetSubtype="21" fill="hold" nodeType="afterEffect">
                                  <p:stCondLst>
                                    <p:cond delay="0"/>
                                  </p:stCondLst>
                                  <p:childTnLst>
                                    <p:set>
                                      <p:cBhvr>
                                        <p:cTn id="38" dur="1" fill="hold">
                                          <p:stCondLst>
                                            <p:cond delay="0"/>
                                          </p:stCondLst>
                                        </p:cTn>
                                        <p:tgtEl>
                                          <p:spTgt spid="89"/>
                                        </p:tgtEl>
                                        <p:attrNameLst>
                                          <p:attrName>style.visibility</p:attrName>
                                        </p:attrNameLst>
                                      </p:cBhvr>
                                      <p:to>
                                        <p:strVal val="visible"/>
                                      </p:to>
                                    </p:set>
                                    <p:animEffect transition="in" filter="barn(inVertical)">
                                      <p:cBhvr>
                                        <p:cTn id="39" dur="4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24" grpId="0"/>
      <p:bldP spid="33" grpId="0"/>
      <p:bldP spid="44" grpId="0"/>
      <p:bldP spid="57" grpId="0"/>
      <p:bldP spid="66" grpId="0"/>
      <p:bldP spid="73" grpId="0"/>
      <p:bldP spid="8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9FC"/>
            </a:solidFill>
            <a:ln>
              <a:noFill/>
            </a:ln>
          </p:spPr>
        </p:sp>
        <p:sp>
          <p:nvSpPr>
            <p:cNvPr id="3" name="Rectangle 3"/>
            <p:cNvSpPr/>
            <p:nvPr/>
          </p:nvSpPr>
          <p:spPr>
            <a:xfrm>
              <a:off x="0" y="0"/>
              <a:ext cx="12192000" cy="66675"/>
            </a:xfrm>
            <a:prstGeom prst="rect">
              <a:avLst/>
            </a:prstGeom>
            <a:gradFill>
              <a:gsLst>
                <a:gs pos="0">
                  <a:srgbClr val="1E3A5F"/>
                </a:gs>
                <a:gs pos="100000">
                  <a:srgbClr val="00A6A6"/>
                </a:gs>
              </a:gsLst>
              <a:lin ang="0" scaled="1"/>
            </a:gradFill>
            <a:ln>
              <a:noFill/>
            </a:ln>
          </p:spPr>
        </p:sp>
      </p:grpSp>
      <p:grpSp>
        <p:nvGrpSpPr>
          <p:cNvPr id="7" name="Group 7"/>
          <p:cNvGrpSpPr/>
          <p:nvPr/>
        </p:nvGrpSpPr>
        <p:grpSpPr>
          <a:xfrm>
            <a:off x="386715" y="220028"/>
            <a:ext cx="9528153" cy="661034"/>
            <a:chOff x="386715" y="220028"/>
            <a:chExt cx="9528153" cy="661034"/>
          </a:xfrm>
        </p:grpSpPr>
        <p:sp>
          <p:nvSpPr>
            <p:cNvPr id="5" name="TextBox 5"/>
            <p:cNvSpPr txBox="1"/>
            <p:nvPr/>
          </p:nvSpPr>
          <p:spPr>
            <a:xfrm>
              <a:off x="386715" y="220028"/>
              <a:ext cx="9528153" cy="518160"/>
            </a:xfrm>
            <a:prstGeom prst="rect">
              <a:avLst/>
            </a:prstGeom>
            <a:noFill/>
            <a:ln>
              <a:noFill/>
            </a:ln>
          </p:spPr>
          <p:txBody>
            <a:bodyPr wrap="none" lIns="0" tIns="0" rIns="0" bIns="0" anchor="t" anchorCtr="0">
              <a:spAutoFit/>
            </a:bodyPr>
            <a:lstStyle/>
            <a:p>
              <a:pPr algn="l"/>
              <a:r>
                <a:rPr lang="zh-CN" sz="2550" b="1" dirty="0">
                  <a:solidFill>
                    <a:srgbClr val="172033"/>
                  </a:solidFill>
                  <a:latin typeface="Arial"/>
                  <a:ea typeface="Microsoft YaHei"/>
                  <a:cs typeface="Arial"/>
                </a:rPr>
                <a:t>4人各0.5人力即可启动专项，但两条分析路径必须并行</a:t>
              </a:r>
            </a:p>
          </p:txBody>
        </p:sp>
        <p:sp>
          <p:nvSpPr>
            <p:cNvPr id="6" name="TextBox 6"/>
            <p:cNvSpPr txBox="1"/>
            <p:nvPr/>
          </p:nvSpPr>
          <p:spPr>
            <a:xfrm>
              <a:off x="405765" y="667702"/>
              <a:ext cx="3707130"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a:ea typeface="Microsoft YaHei"/>
                  <a:cs typeface="Arial"/>
                </a:rPr>
                <a:t>先跑出统一标签体系，再进入小流量验证和工具化落地</a:t>
              </a:r>
            </a:p>
          </p:txBody>
        </p:sp>
      </p:grpSp>
      <p:grpSp>
        <p:nvGrpSpPr>
          <p:cNvPr id="10" name="Group 10"/>
          <p:cNvGrpSpPr/>
          <p:nvPr/>
        </p:nvGrpSpPr>
        <p:grpSpPr>
          <a:xfrm>
            <a:off x="419100" y="990600"/>
            <a:ext cx="11353800" cy="495300"/>
            <a:chOff x="419100" y="990600"/>
            <a:chExt cx="11353800" cy="495300"/>
          </a:xfrm>
        </p:grpSpPr>
        <p:sp>
          <p:nvSpPr>
            <p:cNvPr id="8" name="Rectangle 8"/>
            <p:cNvSpPr/>
            <p:nvPr/>
          </p:nvSpPr>
          <p:spPr>
            <a:xfrm>
              <a:off x="419100" y="990600"/>
              <a:ext cx="11353800" cy="495300"/>
            </a:xfrm>
            <a:prstGeom prst="roundRect">
              <a:avLst>
                <a:gd name="adj" fmla="val 15385"/>
              </a:avLst>
            </a:prstGeom>
            <a:solidFill>
              <a:srgbClr val="1E3A5F"/>
            </a:solidFill>
            <a:ln>
              <a:noFill/>
            </a:ln>
          </p:spPr>
        </p:sp>
        <p:sp>
          <p:nvSpPr>
            <p:cNvPr id="9" name="TextBox 9"/>
            <p:cNvSpPr txBox="1"/>
            <p:nvPr/>
          </p:nvSpPr>
          <p:spPr>
            <a:xfrm>
              <a:off x="628650" y="1143000"/>
              <a:ext cx="10435400"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执行重点：专家下钻负责“准”，模型聚类负责“广”，最终汇合成可评测、可复用、可落地的标签与策略</a:t>
              </a:r>
            </a:p>
          </p:txBody>
        </p:sp>
      </p:grpSp>
      <p:grpSp>
        <p:nvGrpSpPr>
          <p:cNvPr id="47" name="Group 47"/>
          <p:cNvGrpSpPr/>
          <p:nvPr/>
        </p:nvGrpSpPr>
        <p:grpSpPr>
          <a:xfrm>
            <a:off x="400050" y="1647825"/>
            <a:ext cx="6648450" cy="3933825"/>
            <a:chOff x="400050" y="1647825"/>
            <a:chExt cx="6648450" cy="3933825"/>
          </a:xfrm>
        </p:grpSpPr>
        <p:sp>
          <p:nvSpPr>
            <p:cNvPr id="11" name="TextBox 11"/>
            <p:cNvSpPr txBox="1"/>
            <p:nvPr/>
          </p:nvSpPr>
          <p:spPr>
            <a:xfrm>
              <a:off x="400050" y="1647825"/>
              <a:ext cx="3028474" cy="304800"/>
            </a:xfrm>
            <a:prstGeom prst="rect">
              <a:avLst/>
            </a:prstGeom>
            <a:noFill/>
            <a:ln>
              <a:noFill/>
            </a:ln>
          </p:spPr>
          <p:txBody>
            <a:bodyPr wrap="none" lIns="0" tIns="0" rIns="0" bIns="0" anchor="t" anchorCtr="0">
              <a:spAutoFit/>
            </a:bodyPr>
            <a:lstStyle/>
            <a:p>
              <a:pPr algn="l"/>
              <a:r>
                <a:rPr lang="zh-CN" sz="1500" b="1" dirty="0">
                  <a:solidFill>
                    <a:srgbClr val="172033"/>
                  </a:solidFill>
                  <a:latin typeface="Arial"/>
                  <a:ea typeface="Microsoft YaHei"/>
                  <a:cs typeface="Arial"/>
                </a:rPr>
                <a:t>任务拆解：两条并行分析路径</a:t>
              </a:r>
            </a:p>
          </p:txBody>
        </p:sp>
        <p:grpSp>
          <p:nvGrpSpPr>
            <p:cNvPr id="25" name="Group 25"/>
            <p:cNvGrpSpPr/>
            <p:nvPr/>
          </p:nvGrpSpPr>
          <p:grpSpPr>
            <a:xfrm>
              <a:off x="419100" y="2019300"/>
              <a:ext cx="5286375" cy="1676400"/>
              <a:chOff x="419100" y="2019300"/>
              <a:chExt cx="5286375" cy="1676400"/>
            </a:xfrm>
          </p:grpSpPr>
          <p:sp>
            <p:nvSpPr>
              <p:cNvPr id="12" name="Rectangle 12"/>
              <p:cNvSpPr/>
              <p:nvPr/>
            </p:nvSpPr>
            <p:spPr>
              <a:xfrm>
                <a:off x="419100" y="2019300"/>
                <a:ext cx="5286375" cy="1676400"/>
              </a:xfrm>
              <a:prstGeom prst="roundRect">
                <a:avLst>
                  <a:gd name="adj" fmla="val 4545"/>
                </a:avLst>
              </a:prstGeom>
              <a:solidFill>
                <a:srgbClr val="FFFFFF"/>
              </a:solidFill>
              <a:ln w="14288">
                <a:solidFill>
                  <a:srgbClr val="D9E2EC"/>
                </a:solidFill>
              </a:ln>
            </p:spPr>
          </p:sp>
          <p:sp>
            <p:nvSpPr>
              <p:cNvPr id="13" name="Rectangle 13"/>
              <p:cNvSpPr/>
              <p:nvPr/>
            </p:nvSpPr>
            <p:spPr>
              <a:xfrm>
                <a:off x="419100" y="2019300"/>
                <a:ext cx="76200" cy="1676400"/>
              </a:xfrm>
              <a:prstGeom prst="roundRect">
                <a:avLst>
                  <a:gd name="adj" fmla="val 50000"/>
                </a:avLst>
              </a:prstGeom>
              <a:solidFill>
                <a:srgbClr val="1E3A5F"/>
              </a:solidFill>
              <a:ln>
                <a:noFill/>
              </a:ln>
            </p:spPr>
          </p:sp>
          <p:grpSp>
            <p:nvGrpSpPr>
              <p:cNvPr id="17" name="Group 17"/>
              <p:cNvGrpSpPr/>
              <p:nvPr/>
            </p:nvGrpSpPr>
            <p:grpSpPr>
              <a:xfrm>
                <a:off x="704850" y="2286000"/>
                <a:ext cx="266700" cy="266700"/>
                <a:chOff x="704850" y="2286000"/>
                <a:chExt cx="266700" cy="266700"/>
              </a:xfrm>
            </p:grpSpPr>
            <p:sp>
              <p:nvSpPr>
                <p:cNvPr id="14" name="Freeform 14"/>
                <p:cNvSpPr/>
                <p:nvPr/>
              </p:nvSpPr>
              <p:spPr>
                <a:xfrm>
                  <a:off x="704850" y="2286000"/>
                  <a:ext cx="76200" cy="76200"/>
                </a:xfrm>
                <a:custGeom>
                  <a:avLst/>
                  <a:gdLst/>
                  <a:ahLst/>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rgbClr val="1E3A5F"/>
                </a:solidFill>
                <a:ln>
                  <a:noFill/>
                </a:ln>
              </p:spPr>
            </p:sp>
            <p:sp>
              <p:nvSpPr>
                <p:cNvPr id="15" name="Freeform 15"/>
                <p:cNvSpPr/>
                <p:nvPr/>
              </p:nvSpPr>
              <p:spPr>
                <a:xfrm>
                  <a:off x="895350" y="2476500"/>
                  <a:ext cx="76200" cy="76200"/>
                </a:xfrm>
                <a:custGeom>
                  <a:avLst/>
                  <a:gdLst/>
                  <a:ahLst/>
                  <a:cxnLst/>
                  <a:rect l="l" t="t" r="r" b="b"/>
                  <a:pathLst>
                    <a:path w="76200" h="76200">
                      <a:moveTo>
                        <a:pt x="76200" y="38100"/>
                      </a:moveTo>
                      <a:cubicBezTo>
                        <a:pt x="76200" y="59143"/>
                        <a:pt x="59143" y="76200"/>
                        <a:pt x="38100" y="76200"/>
                      </a:cubicBezTo>
                      <a:cubicBezTo>
                        <a:pt x="17057" y="76200"/>
                        <a:pt x="0" y="59143"/>
                        <a:pt x="0" y="38100"/>
                      </a:cubicBezTo>
                      <a:cubicBezTo>
                        <a:pt x="0" y="17057"/>
                        <a:pt x="17057" y="0"/>
                        <a:pt x="38100" y="0"/>
                      </a:cubicBezTo>
                      <a:cubicBezTo>
                        <a:pt x="59143" y="0"/>
                        <a:pt x="76200" y="17057"/>
                        <a:pt x="76200" y="38100"/>
                      </a:cubicBezTo>
                      <a:close/>
                    </a:path>
                  </a:pathLst>
                </a:custGeom>
                <a:solidFill>
                  <a:srgbClr val="1E3A5F"/>
                </a:solidFill>
                <a:ln>
                  <a:noFill/>
                </a:ln>
              </p:spPr>
            </p:sp>
            <p:sp>
              <p:nvSpPr>
                <p:cNvPr id="16" name="Freeform 16"/>
                <p:cNvSpPr/>
                <p:nvPr/>
              </p:nvSpPr>
              <p:spPr>
                <a:xfrm>
                  <a:off x="723900" y="2286000"/>
                  <a:ext cx="228600" cy="266700"/>
                </a:xfrm>
                <a:custGeom>
                  <a:avLst/>
                  <a:gdLst/>
                  <a:ahLst/>
                  <a:cxnLst/>
                  <a:rect l="l" t="t" r="r" b="b"/>
                  <a:pathLst>
                    <a:path w="228600" h="266700">
                      <a:moveTo>
                        <a:pt x="133350" y="66675"/>
                      </a:moveTo>
                      <a:cubicBezTo>
                        <a:pt x="133350" y="50893"/>
                        <a:pt x="146143" y="38100"/>
                        <a:pt x="161925" y="38100"/>
                      </a:cubicBezTo>
                      <a:cubicBezTo>
                        <a:pt x="177706" y="38100"/>
                        <a:pt x="190500" y="50893"/>
                        <a:pt x="190500" y="66675"/>
                      </a:cubicBezTo>
                      <a:lnTo>
                        <a:pt x="190500" y="152400"/>
                      </a:lnTo>
                      <a:lnTo>
                        <a:pt x="228600" y="152400"/>
                      </a:lnTo>
                      <a:lnTo>
                        <a:pt x="228600" y="66675"/>
                      </a:lnTo>
                      <a:cubicBezTo>
                        <a:pt x="228600" y="29851"/>
                        <a:pt x="198749" y="0"/>
                        <a:pt x="161925" y="0"/>
                      </a:cubicBezTo>
                      <a:cubicBezTo>
                        <a:pt x="125101" y="0"/>
                        <a:pt x="95250" y="29851"/>
                        <a:pt x="95250" y="66675"/>
                      </a:cubicBezTo>
                      <a:lnTo>
                        <a:pt x="95250" y="200025"/>
                      </a:lnTo>
                      <a:cubicBezTo>
                        <a:pt x="95250" y="215806"/>
                        <a:pt x="82457" y="228600"/>
                        <a:pt x="66675" y="228600"/>
                      </a:cubicBezTo>
                      <a:cubicBezTo>
                        <a:pt x="50893" y="228600"/>
                        <a:pt x="38100" y="215806"/>
                        <a:pt x="38100" y="200025"/>
                      </a:cubicBezTo>
                      <a:lnTo>
                        <a:pt x="38100" y="114300"/>
                      </a:lnTo>
                      <a:lnTo>
                        <a:pt x="0" y="114300"/>
                      </a:lnTo>
                      <a:lnTo>
                        <a:pt x="0" y="200025"/>
                      </a:lnTo>
                      <a:cubicBezTo>
                        <a:pt x="0" y="236849"/>
                        <a:pt x="29851" y="266700"/>
                        <a:pt x="66675" y="266700"/>
                      </a:cubicBezTo>
                      <a:cubicBezTo>
                        <a:pt x="103499" y="266700"/>
                        <a:pt x="133350" y="236849"/>
                        <a:pt x="133350" y="200025"/>
                      </a:cubicBezTo>
                      <a:lnTo>
                        <a:pt x="133350" y="66675"/>
                      </a:lnTo>
                      <a:close/>
                    </a:path>
                  </a:pathLst>
                </a:custGeom>
                <a:solidFill>
                  <a:srgbClr val="1E3A5F"/>
                </a:solidFill>
                <a:ln>
                  <a:noFill/>
                </a:ln>
              </p:spPr>
            </p:sp>
          </p:grpSp>
          <p:sp>
            <p:nvSpPr>
              <p:cNvPr id="18" name="TextBox 18"/>
              <p:cNvSpPr txBox="1"/>
              <p:nvPr/>
            </p:nvSpPr>
            <p:spPr>
              <a:xfrm>
                <a:off x="1086802" y="2322671"/>
                <a:ext cx="1784414" cy="289560"/>
              </a:xfrm>
              <a:prstGeom prst="rect">
                <a:avLst/>
              </a:prstGeom>
              <a:noFill/>
              <a:ln>
                <a:noFill/>
              </a:ln>
            </p:spPr>
            <p:txBody>
              <a:bodyPr wrap="none" lIns="0" tIns="0" rIns="0" bIns="0" anchor="t" anchorCtr="0">
                <a:spAutoFit/>
              </a:bodyPr>
              <a:lstStyle/>
              <a:p>
                <a:pPr algn="l"/>
                <a:r>
                  <a:rPr lang="zh-CN" sz="1425" b="1" dirty="0">
                    <a:solidFill>
                      <a:srgbClr val="172033"/>
                    </a:solidFill>
                    <a:latin typeface="Arial"/>
                    <a:ea typeface="Microsoft YaHei"/>
                    <a:cs typeface="Arial"/>
                  </a:rPr>
                  <a:t>路径一：自顶向下</a:t>
                </a:r>
              </a:p>
            </p:txBody>
          </p:sp>
          <p:sp>
            <p:nvSpPr>
              <p:cNvPr id="19" name="TextBox 19"/>
              <p:cNvSpPr txBox="1"/>
              <p:nvPr/>
            </p:nvSpPr>
            <p:spPr>
              <a:xfrm>
                <a:off x="2729865" y="2363152"/>
                <a:ext cx="1797891"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专家知识驱动的下钻分析</a:t>
                </a:r>
              </a:p>
            </p:txBody>
          </p:sp>
          <p:sp>
            <p:nvSpPr>
              <p:cNvPr id="20" name="TextBox 20"/>
              <p:cNvSpPr txBox="1"/>
              <p:nvPr/>
            </p:nvSpPr>
            <p:spPr>
              <a:xfrm>
                <a:off x="671512" y="2745581"/>
                <a:ext cx="3971925"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客诉类型定义：病假费用、风险催收、服务类、普诉类</a:t>
                </a:r>
              </a:p>
            </p:txBody>
          </p:sp>
          <p:sp>
            <p:nvSpPr>
              <p:cNvPr id="21" name="TextBox 21"/>
              <p:cNvSpPr txBox="1"/>
              <p:nvPr/>
            </p:nvSpPr>
            <p:spPr>
              <a:xfrm>
                <a:off x="671512" y="2983706"/>
                <a:ext cx="4382691"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风险信号规则：12378拨打、电话威胁、工单标记、历史外诉</a:t>
                </a:r>
              </a:p>
            </p:txBody>
          </p:sp>
          <p:sp>
            <p:nvSpPr>
              <p:cNvPr id="22" name="TextBox 22"/>
              <p:cNvSpPr txBox="1"/>
              <p:nvPr/>
            </p:nvSpPr>
            <p:spPr>
              <a:xfrm>
                <a:off x="671512" y="3221831"/>
                <a:ext cx="4325183"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退费策略矩阵：客户类型 × 诉求强度，明确赔付和拒绝边界</a:t>
                </a:r>
              </a:p>
            </p:txBody>
          </p:sp>
          <p:sp>
            <p:nvSpPr>
              <p:cNvPr id="23" name="Rectangle 23"/>
              <p:cNvSpPr/>
              <p:nvPr/>
            </p:nvSpPr>
            <p:spPr>
              <a:xfrm>
                <a:off x="4095750" y="3257550"/>
                <a:ext cx="1352550" cy="266700"/>
              </a:xfrm>
              <a:prstGeom prst="roundRect">
                <a:avLst>
                  <a:gd name="adj" fmla="val 50000"/>
                </a:avLst>
              </a:prstGeom>
              <a:solidFill>
                <a:srgbClr val="EAF0F6"/>
              </a:solidFill>
              <a:ln>
                <a:noFill/>
              </a:ln>
            </p:spPr>
          </p:sp>
          <p:sp>
            <p:nvSpPr>
              <p:cNvPr id="24" name="TextBox 24"/>
              <p:cNvSpPr txBox="1"/>
              <p:nvPr/>
            </p:nvSpPr>
            <p:spPr>
              <a:xfrm>
                <a:off x="4086808" y="3333274"/>
                <a:ext cx="1370433" cy="198120"/>
              </a:xfrm>
              <a:prstGeom prst="rect">
                <a:avLst/>
              </a:prstGeom>
              <a:noFill/>
              <a:ln>
                <a:noFill/>
              </a:ln>
            </p:spPr>
            <p:txBody>
              <a:bodyPr wrap="none" lIns="0" tIns="0" rIns="0" bIns="0" anchor="t" anchorCtr="0">
                <a:spAutoFit/>
              </a:bodyPr>
              <a:lstStyle/>
              <a:p>
                <a:pPr algn="ctr"/>
                <a:r>
                  <a:rPr lang="zh-CN" sz="975" b="1" dirty="0">
                    <a:solidFill>
                      <a:srgbClr val="1E3A5F"/>
                    </a:solidFill>
                    <a:latin typeface="Arial"/>
                    <a:ea typeface="Microsoft YaHei"/>
                    <a:cs typeface="Arial"/>
                  </a:rPr>
                  <a:t>产出：规则库和话术</a:t>
                </a:r>
              </a:p>
            </p:txBody>
          </p:sp>
        </p:grpSp>
        <p:grpSp>
          <p:nvGrpSpPr>
            <p:cNvPr id="39" name="Group 39"/>
            <p:cNvGrpSpPr/>
            <p:nvPr/>
          </p:nvGrpSpPr>
          <p:grpSpPr>
            <a:xfrm>
              <a:off x="419100" y="3905250"/>
              <a:ext cx="5286375" cy="1676400"/>
              <a:chOff x="419100" y="3905250"/>
              <a:chExt cx="5286375" cy="1676400"/>
            </a:xfrm>
          </p:grpSpPr>
          <p:sp>
            <p:nvSpPr>
              <p:cNvPr id="26" name="Rectangle 26"/>
              <p:cNvSpPr/>
              <p:nvPr/>
            </p:nvSpPr>
            <p:spPr>
              <a:xfrm>
                <a:off x="419100" y="3905250"/>
                <a:ext cx="5286375" cy="1676400"/>
              </a:xfrm>
              <a:prstGeom prst="roundRect">
                <a:avLst>
                  <a:gd name="adj" fmla="val 4545"/>
                </a:avLst>
              </a:prstGeom>
              <a:solidFill>
                <a:srgbClr val="FFFFFF"/>
              </a:solidFill>
              <a:ln w="14288">
                <a:solidFill>
                  <a:srgbClr val="D9E2EC"/>
                </a:solidFill>
              </a:ln>
            </p:spPr>
          </p:sp>
          <p:sp>
            <p:nvSpPr>
              <p:cNvPr id="27" name="Rectangle 27"/>
              <p:cNvSpPr/>
              <p:nvPr/>
            </p:nvSpPr>
            <p:spPr>
              <a:xfrm>
                <a:off x="419100" y="3905250"/>
                <a:ext cx="76200" cy="1676400"/>
              </a:xfrm>
              <a:prstGeom prst="roundRect">
                <a:avLst>
                  <a:gd name="adj" fmla="val 50000"/>
                </a:avLst>
              </a:prstGeom>
              <a:solidFill>
                <a:srgbClr val="00A6A6"/>
              </a:solidFill>
              <a:ln>
                <a:noFill/>
              </a:ln>
            </p:spPr>
          </p:sp>
          <p:grpSp>
            <p:nvGrpSpPr>
              <p:cNvPr id="31" name="Group 31"/>
              <p:cNvGrpSpPr/>
              <p:nvPr/>
            </p:nvGrpSpPr>
            <p:grpSpPr>
              <a:xfrm>
                <a:off x="723900" y="4152900"/>
                <a:ext cx="228600" cy="304800"/>
                <a:chOff x="723900" y="4152900"/>
                <a:chExt cx="228600" cy="304800"/>
              </a:xfrm>
            </p:grpSpPr>
            <p:sp>
              <p:nvSpPr>
                <p:cNvPr id="28" name="Freeform 28"/>
                <p:cNvSpPr/>
                <p:nvPr/>
              </p:nvSpPr>
              <p:spPr>
                <a:xfrm>
                  <a:off x="723900" y="4274820"/>
                  <a:ext cx="228600" cy="87630"/>
                </a:xfrm>
                <a:custGeom>
                  <a:avLst/>
                  <a:gdLst/>
                  <a:ahLst/>
                  <a:cxnLst/>
                  <a:rect l="l" t="t" r="r" b="b"/>
                  <a:pathLst>
                    <a:path w="228600" h="87630">
                      <a:moveTo>
                        <a:pt x="212162" y="9719"/>
                      </a:moveTo>
                      <a:cubicBezTo>
                        <a:pt x="217521" y="7039"/>
                        <a:pt x="223119" y="3806"/>
                        <a:pt x="228600" y="0"/>
                      </a:cubicBezTo>
                      <a:lnTo>
                        <a:pt x="228600" y="30480"/>
                      </a:lnTo>
                      <a:cubicBezTo>
                        <a:pt x="228600" y="62043"/>
                        <a:pt x="177426" y="87630"/>
                        <a:pt x="114300" y="87630"/>
                      </a:cubicBezTo>
                      <a:cubicBezTo>
                        <a:pt x="51174" y="87630"/>
                        <a:pt x="0" y="62043"/>
                        <a:pt x="0" y="30480"/>
                      </a:cubicBezTo>
                      <a:lnTo>
                        <a:pt x="0" y="0"/>
                      </a:lnTo>
                      <a:cubicBezTo>
                        <a:pt x="5481" y="3806"/>
                        <a:pt x="11079" y="7039"/>
                        <a:pt x="16439" y="9719"/>
                      </a:cubicBezTo>
                      <a:cubicBezTo>
                        <a:pt x="43452" y="23225"/>
                        <a:pt x="78105" y="30480"/>
                        <a:pt x="114300" y="30480"/>
                      </a:cubicBezTo>
                      <a:cubicBezTo>
                        <a:pt x="150495" y="30480"/>
                        <a:pt x="185147" y="23225"/>
                        <a:pt x="212162" y="9719"/>
                      </a:cubicBezTo>
                      <a:close/>
                    </a:path>
                  </a:pathLst>
                </a:custGeom>
                <a:solidFill>
                  <a:srgbClr val="00A6A6"/>
                </a:solidFill>
                <a:ln>
                  <a:noFill/>
                </a:ln>
              </p:spPr>
            </p:sp>
            <p:sp>
              <p:nvSpPr>
                <p:cNvPr id="29" name="Freeform 29"/>
                <p:cNvSpPr/>
                <p:nvPr/>
              </p:nvSpPr>
              <p:spPr>
                <a:xfrm>
                  <a:off x="723900" y="4370070"/>
                  <a:ext cx="228600" cy="87630"/>
                </a:xfrm>
                <a:custGeom>
                  <a:avLst/>
                  <a:gdLst/>
                  <a:ahLst/>
                  <a:cxnLst/>
                  <a:rect l="l" t="t" r="r" b="b"/>
                  <a:pathLst>
                    <a:path w="228600" h="87630">
                      <a:moveTo>
                        <a:pt x="0" y="0"/>
                      </a:moveTo>
                      <a:lnTo>
                        <a:pt x="0" y="30480"/>
                      </a:lnTo>
                      <a:cubicBezTo>
                        <a:pt x="0" y="62044"/>
                        <a:pt x="51174" y="87630"/>
                        <a:pt x="114300" y="87630"/>
                      </a:cubicBezTo>
                      <a:cubicBezTo>
                        <a:pt x="177426" y="87630"/>
                        <a:pt x="228600" y="62044"/>
                        <a:pt x="228600" y="30480"/>
                      </a:cubicBezTo>
                      <a:lnTo>
                        <a:pt x="228600" y="0"/>
                      </a:lnTo>
                      <a:cubicBezTo>
                        <a:pt x="223119" y="3806"/>
                        <a:pt x="217521" y="7039"/>
                        <a:pt x="212162" y="9719"/>
                      </a:cubicBezTo>
                      <a:cubicBezTo>
                        <a:pt x="185147" y="23226"/>
                        <a:pt x="150495" y="30480"/>
                        <a:pt x="114300" y="30480"/>
                      </a:cubicBezTo>
                      <a:cubicBezTo>
                        <a:pt x="78105" y="30480"/>
                        <a:pt x="43452" y="23226"/>
                        <a:pt x="16439" y="9719"/>
                      </a:cubicBezTo>
                      <a:cubicBezTo>
                        <a:pt x="11079" y="7039"/>
                        <a:pt x="5481" y="3806"/>
                        <a:pt x="0" y="0"/>
                      </a:cubicBezTo>
                      <a:close/>
                    </a:path>
                  </a:pathLst>
                </a:custGeom>
                <a:solidFill>
                  <a:srgbClr val="00A6A6"/>
                </a:solidFill>
                <a:ln>
                  <a:noFill/>
                </a:ln>
              </p:spPr>
            </p:sp>
            <p:sp>
              <p:nvSpPr>
                <p:cNvPr id="30" name="Freeform 30"/>
                <p:cNvSpPr/>
                <p:nvPr/>
              </p:nvSpPr>
              <p:spPr>
                <a:xfrm>
                  <a:off x="723900" y="4152900"/>
                  <a:ext cx="228600" cy="114300"/>
                </a:xfrm>
                <a:custGeom>
                  <a:avLst/>
                  <a:gdLst/>
                  <a:ahLst/>
                  <a:cxnLst/>
                  <a:rect l="l" t="t" r="r" b="b"/>
                  <a:pathLst>
                    <a:path w="228600" h="114300">
                      <a:moveTo>
                        <a:pt x="114300" y="0"/>
                      </a:moveTo>
                      <a:cubicBezTo>
                        <a:pt x="177426" y="0"/>
                        <a:pt x="228600" y="25587"/>
                        <a:pt x="228600" y="57150"/>
                      </a:cubicBezTo>
                      <a:cubicBezTo>
                        <a:pt x="228600" y="88713"/>
                        <a:pt x="177426" y="114300"/>
                        <a:pt x="114300" y="114300"/>
                      </a:cubicBezTo>
                      <a:cubicBezTo>
                        <a:pt x="51174" y="114300"/>
                        <a:pt x="0" y="88713"/>
                        <a:pt x="0" y="57150"/>
                      </a:cubicBezTo>
                      <a:cubicBezTo>
                        <a:pt x="0" y="25587"/>
                        <a:pt x="51174" y="0"/>
                        <a:pt x="114300" y="0"/>
                      </a:cubicBezTo>
                      <a:close/>
                    </a:path>
                  </a:pathLst>
                </a:custGeom>
                <a:solidFill>
                  <a:srgbClr val="00A6A6"/>
                </a:solidFill>
                <a:ln>
                  <a:noFill/>
                </a:ln>
              </p:spPr>
            </p:sp>
          </p:grpSp>
          <p:sp>
            <p:nvSpPr>
              <p:cNvPr id="32" name="TextBox 32"/>
              <p:cNvSpPr txBox="1"/>
              <p:nvPr/>
            </p:nvSpPr>
            <p:spPr>
              <a:xfrm>
                <a:off x="1086802" y="4208621"/>
                <a:ext cx="1784414" cy="289560"/>
              </a:xfrm>
              <a:prstGeom prst="rect">
                <a:avLst/>
              </a:prstGeom>
              <a:noFill/>
              <a:ln>
                <a:noFill/>
              </a:ln>
            </p:spPr>
            <p:txBody>
              <a:bodyPr wrap="none" lIns="0" tIns="0" rIns="0" bIns="0" anchor="t" anchorCtr="0">
                <a:spAutoFit/>
              </a:bodyPr>
              <a:lstStyle/>
              <a:p>
                <a:pPr algn="l"/>
                <a:r>
                  <a:rPr lang="zh-CN" sz="1425" b="1" dirty="0">
                    <a:solidFill>
                      <a:srgbClr val="172033"/>
                    </a:solidFill>
                    <a:latin typeface="Arial"/>
                    <a:ea typeface="Microsoft YaHei"/>
                    <a:cs typeface="Arial"/>
                  </a:rPr>
                  <a:t>路径二：自底向上</a:t>
                </a:r>
              </a:p>
            </p:txBody>
          </p:sp>
          <p:sp>
            <p:nvSpPr>
              <p:cNvPr id="33" name="TextBox 33"/>
              <p:cNvSpPr txBox="1"/>
              <p:nvPr/>
            </p:nvSpPr>
            <p:spPr>
              <a:xfrm>
                <a:off x="2729865" y="4249102"/>
                <a:ext cx="1958912" cy="213360"/>
              </a:xfrm>
              <a:prstGeom prst="rect">
                <a:avLst/>
              </a:prstGeom>
              <a:noFill/>
              <a:ln>
                <a:noFill/>
              </a:ln>
            </p:spPr>
            <p:txBody>
              <a:bodyPr wrap="none" lIns="0" tIns="0" rIns="0" bIns="0" anchor="t" anchorCtr="0">
                <a:spAutoFit/>
              </a:bodyPr>
              <a:lstStyle/>
              <a:p>
                <a:pPr algn="l"/>
                <a:r>
                  <a:rPr lang="zh-CN" sz="1050" b="1" dirty="0">
                    <a:solidFill>
                      <a:srgbClr val="00A6A6"/>
                    </a:solidFill>
                    <a:latin typeface="Arial"/>
                    <a:ea typeface="Microsoft YaHei"/>
                    <a:cs typeface="Arial"/>
                  </a:rPr>
                  <a:t>大模型与文本聚类自主探索</a:t>
                </a:r>
              </a:p>
            </p:txBody>
          </p:sp>
          <p:sp>
            <p:nvSpPr>
              <p:cNvPr id="34" name="TextBox 34"/>
              <p:cNvSpPr txBox="1"/>
              <p:nvPr/>
            </p:nvSpPr>
            <p:spPr>
              <a:xfrm>
                <a:off x="671512" y="4631531"/>
                <a:ext cx="3971925"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通话文本聚类：发现自然主题、用词、情绪和诉求模式</a:t>
                </a:r>
              </a:p>
            </p:txBody>
          </p:sp>
          <p:sp>
            <p:nvSpPr>
              <p:cNvPr id="35" name="TextBox 35"/>
              <p:cNvSpPr txBox="1"/>
              <p:nvPr/>
            </p:nvSpPr>
            <p:spPr>
              <a:xfrm>
                <a:off x="671512" y="4869656"/>
                <a:ext cx="3643312"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行为模式挖掘：归纳什么样的客户最终外诉或退费</a:t>
                </a:r>
              </a:p>
            </p:txBody>
          </p:sp>
          <p:sp>
            <p:nvSpPr>
              <p:cNvPr id="36" name="TextBox 36"/>
              <p:cNvSpPr txBox="1"/>
              <p:nvPr/>
            </p:nvSpPr>
            <p:spPr>
              <a:xfrm>
                <a:off x="671512" y="5107781"/>
                <a:ext cx="3807619"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a:ea typeface="Microsoft YaHei"/>
                    <a:cs typeface="Arial"/>
                  </a:rPr>
                  <a:t>新维度发现：补充专家框架未覆盖的客群和诉求类型</a:t>
                </a:r>
              </a:p>
            </p:txBody>
          </p:sp>
          <p:sp>
            <p:nvSpPr>
              <p:cNvPr id="37" name="Rectangle 37"/>
              <p:cNvSpPr/>
              <p:nvPr/>
            </p:nvSpPr>
            <p:spPr>
              <a:xfrm>
                <a:off x="4095750" y="5143500"/>
                <a:ext cx="1352550" cy="266700"/>
              </a:xfrm>
              <a:prstGeom prst="roundRect">
                <a:avLst>
                  <a:gd name="adj" fmla="val 50000"/>
                </a:avLst>
              </a:prstGeom>
              <a:solidFill>
                <a:srgbClr val="E8F7F7"/>
              </a:solidFill>
              <a:ln>
                <a:noFill/>
              </a:ln>
            </p:spPr>
          </p:sp>
          <p:sp>
            <p:nvSpPr>
              <p:cNvPr id="38" name="TextBox 38"/>
              <p:cNvSpPr txBox="1"/>
              <p:nvPr/>
            </p:nvSpPr>
            <p:spPr>
              <a:xfrm>
                <a:off x="4086808" y="5219224"/>
                <a:ext cx="1370433" cy="198120"/>
              </a:xfrm>
              <a:prstGeom prst="rect">
                <a:avLst/>
              </a:prstGeom>
              <a:noFill/>
              <a:ln>
                <a:noFill/>
              </a:ln>
            </p:spPr>
            <p:txBody>
              <a:bodyPr wrap="none" lIns="0" tIns="0" rIns="0" bIns="0" anchor="t" anchorCtr="0">
                <a:spAutoFit/>
              </a:bodyPr>
              <a:lstStyle/>
              <a:p>
                <a:pPr algn="ctr"/>
                <a:r>
                  <a:rPr lang="zh-CN" sz="975" b="1" dirty="0">
                    <a:solidFill>
                      <a:srgbClr val="00A6A6"/>
                    </a:solidFill>
                    <a:latin typeface="Arial"/>
                    <a:ea typeface="Microsoft YaHei"/>
                    <a:cs typeface="Arial"/>
                  </a:rPr>
                  <a:t>产出：标签和评测集</a:t>
                </a:r>
              </a:p>
            </p:txBody>
          </p:sp>
        </p:grpSp>
        <p:grpSp>
          <p:nvGrpSpPr>
            <p:cNvPr id="46" name="Group 46"/>
            <p:cNvGrpSpPr/>
            <p:nvPr/>
          </p:nvGrpSpPr>
          <p:grpSpPr>
            <a:xfrm>
              <a:off x="5695950" y="2857500"/>
              <a:ext cx="1352550" cy="1885950"/>
              <a:chOff x="5695950" y="2857500"/>
              <a:chExt cx="1352550" cy="1885950"/>
            </a:xfrm>
          </p:grpSpPr>
          <p:sp>
            <p:nvSpPr>
              <p:cNvPr id="40" name="Line 40"/>
              <p:cNvSpPr/>
              <p:nvPr/>
            </p:nvSpPr>
            <p:spPr>
              <a:xfrm>
                <a:off x="5695950" y="2857500"/>
                <a:ext cx="400050" cy="695325"/>
              </a:xfrm>
              <a:prstGeom prst="line">
                <a:avLst/>
              </a:prstGeom>
              <a:noFill/>
              <a:ln w="23812">
                <a:solidFill>
                  <a:srgbClr val="4A90A4"/>
                </a:solidFill>
                <a:tailEnd type="triangle" w="lg" len="lg"/>
              </a:ln>
            </p:spPr>
          </p:sp>
          <p:sp>
            <p:nvSpPr>
              <p:cNvPr id="41" name="Line 41"/>
              <p:cNvSpPr/>
              <p:nvPr/>
            </p:nvSpPr>
            <p:spPr>
              <a:xfrm flipV="1">
                <a:off x="5695950" y="3857625"/>
                <a:ext cx="400050" cy="885825"/>
              </a:xfrm>
              <a:prstGeom prst="line">
                <a:avLst/>
              </a:prstGeom>
              <a:noFill/>
              <a:ln w="23812">
                <a:solidFill>
                  <a:srgbClr val="4A90A4"/>
                </a:solidFill>
                <a:tailEnd type="triangle" w="lg" len="lg"/>
              </a:ln>
            </p:spPr>
          </p:sp>
          <p:sp>
            <p:nvSpPr>
              <p:cNvPr id="42" name="Rectangle 42"/>
              <p:cNvSpPr/>
              <p:nvPr/>
            </p:nvSpPr>
            <p:spPr>
              <a:xfrm>
                <a:off x="5981700" y="3381375"/>
                <a:ext cx="1066800" cy="609600"/>
              </a:xfrm>
              <a:prstGeom prst="roundRect">
                <a:avLst>
                  <a:gd name="adj" fmla="val 12500"/>
                </a:avLst>
              </a:prstGeom>
              <a:solidFill>
                <a:srgbClr val="1E3A5F"/>
              </a:solidFill>
              <a:ln>
                <a:noFill/>
              </a:ln>
            </p:spPr>
          </p:sp>
          <p:sp>
            <p:nvSpPr>
              <p:cNvPr id="43" name="Freeform 43"/>
              <p:cNvSpPr/>
              <p:nvPr/>
            </p:nvSpPr>
            <p:spPr>
              <a:xfrm>
                <a:off x="6172200" y="3533775"/>
                <a:ext cx="228600" cy="228600"/>
              </a:xfrm>
              <a:custGeom>
                <a:avLst/>
                <a:gdLst/>
                <a:ahLst/>
                <a:cxnLst/>
                <a:rect l="l" t="t" r="r" b="b"/>
                <a:pathLst>
                  <a:path w="228600" h="228600">
                    <a:moveTo>
                      <a:pt x="228600" y="114300"/>
                    </a:moveTo>
                    <a:lnTo>
                      <a:pt x="114300" y="0"/>
                    </a:lnTo>
                    <a:lnTo>
                      <a:pt x="0" y="0"/>
                    </a:lnTo>
                    <a:lnTo>
                      <a:pt x="0" y="114300"/>
                    </a:lnTo>
                    <a:lnTo>
                      <a:pt x="114300" y="228600"/>
                    </a:lnTo>
                    <a:lnTo>
                      <a:pt x="228600" y="114300"/>
                    </a:lnTo>
                    <a:close/>
                    <a:moveTo>
                      <a:pt x="64294" y="85725"/>
                    </a:moveTo>
                    <a:cubicBezTo>
                      <a:pt x="76130" y="85725"/>
                      <a:pt x="85725" y="76130"/>
                      <a:pt x="85725" y="64294"/>
                    </a:cubicBezTo>
                    <a:cubicBezTo>
                      <a:pt x="85725" y="52458"/>
                      <a:pt x="76130" y="42862"/>
                      <a:pt x="64294" y="42862"/>
                    </a:cubicBezTo>
                    <a:cubicBezTo>
                      <a:pt x="52458" y="42862"/>
                      <a:pt x="42862" y="52458"/>
                      <a:pt x="42862" y="64294"/>
                    </a:cubicBezTo>
                    <a:cubicBezTo>
                      <a:pt x="42862" y="76130"/>
                      <a:pt x="52458" y="85725"/>
                      <a:pt x="64294" y="85725"/>
                    </a:cubicBezTo>
                    <a:close/>
                  </a:path>
                </a:pathLst>
              </a:custGeom>
              <a:solidFill>
                <a:srgbClr val="FFFFFF"/>
              </a:solidFill>
              <a:ln>
                <a:noFill/>
              </a:ln>
            </p:spPr>
          </p:sp>
          <p:sp>
            <p:nvSpPr>
              <p:cNvPr id="44" name="TextBox 44"/>
              <p:cNvSpPr txBox="1"/>
              <p:nvPr/>
            </p:nvSpPr>
            <p:spPr>
              <a:xfrm>
                <a:off x="6397895" y="3525202"/>
                <a:ext cx="34871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统一</a:t>
                </a:r>
              </a:p>
            </p:txBody>
          </p:sp>
          <p:sp>
            <p:nvSpPr>
              <p:cNvPr id="45" name="TextBox 45"/>
              <p:cNvSpPr txBox="1"/>
              <p:nvPr/>
            </p:nvSpPr>
            <p:spPr>
              <a:xfrm>
                <a:off x="6236875" y="3715702"/>
                <a:ext cx="67075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标签体系</a:t>
                </a:r>
              </a:p>
            </p:txBody>
          </p:sp>
        </p:grpSp>
      </p:grpSp>
      <p:grpSp>
        <p:nvGrpSpPr>
          <p:cNvPr id="103" name="Group 103"/>
          <p:cNvGrpSpPr/>
          <p:nvPr/>
        </p:nvGrpSpPr>
        <p:grpSpPr>
          <a:xfrm>
            <a:off x="7143750" y="1647825"/>
            <a:ext cx="4629150" cy="2924175"/>
            <a:chOff x="7143750" y="1647825"/>
            <a:chExt cx="4629150" cy="2924175"/>
          </a:xfrm>
        </p:grpSpPr>
        <p:sp>
          <p:nvSpPr>
            <p:cNvPr id="48" name="TextBox 48"/>
            <p:cNvSpPr txBox="1"/>
            <p:nvPr/>
          </p:nvSpPr>
          <p:spPr>
            <a:xfrm>
              <a:off x="7143750" y="1647825"/>
              <a:ext cx="1878330" cy="304800"/>
            </a:xfrm>
            <a:prstGeom prst="rect">
              <a:avLst/>
            </a:prstGeom>
            <a:noFill/>
            <a:ln>
              <a:noFill/>
            </a:ln>
          </p:spPr>
          <p:txBody>
            <a:bodyPr wrap="none" lIns="0" tIns="0" rIns="0" bIns="0" anchor="t" anchorCtr="0">
              <a:spAutoFit/>
            </a:bodyPr>
            <a:lstStyle/>
            <a:p>
              <a:pPr algn="l"/>
              <a:r>
                <a:rPr lang="zh-CN" sz="1500" b="1" dirty="0">
                  <a:solidFill>
                    <a:srgbClr val="172033"/>
                  </a:solidFill>
                  <a:latin typeface="Arial"/>
                  <a:ea typeface="Microsoft YaHei"/>
                  <a:cs typeface="Arial"/>
                </a:rPr>
                <a:t>负责人和人力安排</a:t>
              </a:r>
            </a:p>
          </p:txBody>
        </p:sp>
        <p:sp>
          <p:nvSpPr>
            <p:cNvPr id="49" name="Rectangle 49"/>
            <p:cNvSpPr/>
            <p:nvPr/>
          </p:nvSpPr>
          <p:spPr>
            <a:xfrm>
              <a:off x="7162800" y="2019300"/>
              <a:ext cx="4610100" cy="2552700"/>
            </a:xfrm>
            <a:prstGeom prst="roundRect">
              <a:avLst>
                <a:gd name="adj" fmla="val 2985"/>
              </a:avLst>
            </a:prstGeom>
            <a:solidFill>
              <a:srgbClr val="FFFFFF"/>
            </a:solidFill>
            <a:ln w="14288">
              <a:solidFill>
                <a:srgbClr val="D9E2EC"/>
              </a:solidFill>
            </a:ln>
          </p:spPr>
        </p:sp>
        <p:sp>
          <p:nvSpPr>
            <p:cNvPr id="50" name="Rectangle 50"/>
            <p:cNvSpPr/>
            <p:nvPr/>
          </p:nvSpPr>
          <p:spPr>
            <a:xfrm>
              <a:off x="7162800" y="2019300"/>
              <a:ext cx="4610100" cy="400050"/>
            </a:xfrm>
            <a:prstGeom prst="roundRect">
              <a:avLst>
                <a:gd name="adj" fmla="val 19048"/>
              </a:avLst>
            </a:prstGeom>
            <a:solidFill>
              <a:srgbClr val="EAF0F6"/>
            </a:solidFill>
            <a:ln>
              <a:noFill/>
            </a:ln>
          </p:spPr>
        </p:sp>
        <p:sp>
          <p:nvSpPr>
            <p:cNvPr id="51" name="TextBox 51"/>
            <p:cNvSpPr txBox="1"/>
            <p:nvPr/>
          </p:nvSpPr>
          <p:spPr>
            <a:xfrm>
              <a:off x="7359968" y="2171224"/>
              <a:ext cx="323802"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Arial"/>
                  <a:ea typeface="Microsoft YaHei"/>
                  <a:cs typeface="Arial"/>
                </a:rPr>
                <a:t>姓名</a:t>
              </a:r>
            </a:p>
          </p:txBody>
        </p:sp>
        <p:sp>
          <p:nvSpPr>
            <p:cNvPr id="52" name="TextBox 52"/>
            <p:cNvSpPr txBox="1"/>
            <p:nvPr/>
          </p:nvSpPr>
          <p:spPr>
            <a:xfrm>
              <a:off x="8445818" y="2171224"/>
              <a:ext cx="323802"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Arial"/>
                  <a:ea typeface="Microsoft YaHei"/>
                  <a:cs typeface="Arial"/>
                </a:rPr>
                <a:t>角色</a:t>
              </a:r>
            </a:p>
          </p:txBody>
        </p:sp>
        <p:sp>
          <p:nvSpPr>
            <p:cNvPr id="53" name="TextBox 53"/>
            <p:cNvSpPr txBox="1"/>
            <p:nvPr/>
          </p:nvSpPr>
          <p:spPr>
            <a:xfrm>
              <a:off x="10007918" y="2171224"/>
              <a:ext cx="323802"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Arial"/>
                  <a:ea typeface="Microsoft YaHei"/>
                  <a:cs typeface="Arial"/>
                </a:rPr>
                <a:t>投入</a:t>
              </a:r>
            </a:p>
          </p:txBody>
        </p:sp>
        <p:sp>
          <p:nvSpPr>
            <p:cNvPr id="54" name="TextBox 54"/>
            <p:cNvSpPr txBox="1"/>
            <p:nvPr/>
          </p:nvSpPr>
          <p:spPr>
            <a:xfrm>
              <a:off x="10655618" y="2171224"/>
              <a:ext cx="622840"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Arial"/>
                  <a:ea typeface="Microsoft YaHei"/>
                  <a:cs typeface="Arial"/>
                </a:rPr>
                <a:t>关键职责</a:t>
              </a:r>
            </a:p>
          </p:txBody>
        </p:sp>
        <p:grpSp>
          <p:nvGrpSpPr>
            <p:cNvPr id="65" name="Group 65"/>
            <p:cNvGrpSpPr/>
            <p:nvPr/>
          </p:nvGrpSpPr>
          <p:grpSpPr>
            <a:xfrm>
              <a:off x="7162800" y="2523649"/>
              <a:ext cx="4610100" cy="369570"/>
              <a:chOff x="7162800" y="2523649"/>
              <a:chExt cx="4610100" cy="369570"/>
            </a:xfrm>
          </p:grpSpPr>
          <p:sp>
            <p:nvSpPr>
              <p:cNvPr id="55" name="Line 55"/>
              <p:cNvSpPr/>
              <p:nvPr/>
            </p:nvSpPr>
            <p:spPr>
              <a:xfrm>
                <a:off x="7162800" y="2857500"/>
                <a:ext cx="4610100" cy="9525"/>
              </a:xfrm>
              <a:custGeom>
                <a:avLst/>
                <a:gdLst/>
                <a:ahLst/>
                <a:cxnLst/>
                <a:rect l="l" t="t" r="r" b="b"/>
                <a:pathLst>
                  <a:path w="4610100" h="9525">
                    <a:moveTo>
                      <a:pt x="0" y="0"/>
                    </a:moveTo>
                    <a:lnTo>
                      <a:pt x="4610100" y="0"/>
                    </a:lnTo>
                  </a:path>
                </a:pathLst>
              </a:custGeom>
              <a:noFill/>
              <a:ln w="9525">
                <a:solidFill>
                  <a:srgbClr val="D9E2EC"/>
                </a:solidFill>
              </a:ln>
            </p:spPr>
          </p:sp>
          <p:grpSp>
            <p:nvGrpSpPr>
              <p:cNvPr id="58" name="Group 58"/>
              <p:cNvGrpSpPr/>
              <p:nvPr/>
            </p:nvGrpSpPr>
            <p:grpSpPr>
              <a:xfrm>
                <a:off x="7372350" y="2533650"/>
                <a:ext cx="228600" cy="228600"/>
                <a:chOff x="7372350" y="2533650"/>
                <a:chExt cx="228600" cy="228600"/>
              </a:xfrm>
            </p:grpSpPr>
            <p:sp>
              <p:nvSpPr>
                <p:cNvPr id="56" name="Freeform 56"/>
                <p:cNvSpPr/>
                <p:nvPr/>
              </p:nvSpPr>
              <p:spPr>
                <a:xfrm>
                  <a:off x="7450931" y="2590800"/>
                  <a:ext cx="71438" cy="71438"/>
                </a:xfrm>
                <a:custGeom>
                  <a:avLst/>
                  <a:gdLst/>
                  <a:ahLst/>
                  <a:cxnLst/>
                  <a:rect l="l" t="t" r="r" b="b"/>
                  <a:pathLst>
                    <a:path w="71438" h="71438">
                      <a:moveTo>
                        <a:pt x="35719" y="71438"/>
                      </a:moveTo>
                      <a:cubicBezTo>
                        <a:pt x="55446" y="71438"/>
                        <a:pt x="71438" y="55446"/>
                        <a:pt x="71438" y="35719"/>
                      </a:cubicBezTo>
                      <a:cubicBezTo>
                        <a:pt x="71438" y="15992"/>
                        <a:pt x="55446" y="0"/>
                        <a:pt x="35719" y="0"/>
                      </a:cubicBezTo>
                      <a:cubicBezTo>
                        <a:pt x="15992" y="0"/>
                        <a:pt x="0" y="15992"/>
                        <a:pt x="0" y="35719"/>
                      </a:cubicBezTo>
                      <a:cubicBezTo>
                        <a:pt x="0" y="55446"/>
                        <a:pt x="15992" y="71438"/>
                        <a:pt x="35719" y="71438"/>
                      </a:cubicBezTo>
                      <a:close/>
                    </a:path>
                  </a:pathLst>
                </a:custGeom>
                <a:solidFill>
                  <a:srgbClr val="1E3A5F"/>
                </a:solidFill>
                <a:ln>
                  <a:noFill/>
                </a:ln>
              </p:spPr>
            </p:sp>
            <p:sp>
              <p:nvSpPr>
                <p:cNvPr id="57" name="Freeform 57"/>
                <p:cNvSpPr/>
                <p:nvPr/>
              </p:nvSpPr>
              <p:spPr>
                <a:xfrm>
                  <a:off x="7372350" y="2533650"/>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85725" y="142875"/>
                      </a:moveTo>
                      <a:cubicBezTo>
                        <a:pt x="68622" y="142875"/>
                        <a:pt x="53858" y="152893"/>
                        <a:pt x="46981" y="167381"/>
                      </a:cubicBezTo>
                      <a:cubicBezTo>
                        <a:pt x="35455" y="152782"/>
                        <a:pt x="28575" y="134345"/>
                        <a:pt x="28575" y="114300"/>
                      </a:cubicBezTo>
                      <a:cubicBezTo>
                        <a:pt x="28575" y="66955"/>
                        <a:pt x="66955" y="28575"/>
                        <a:pt x="114300" y="28575"/>
                      </a:cubicBezTo>
                      <a:cubicBezTo>
                        <a:pt x="161644" y="28575"/>
                        <a:pt x="200025" y="66955"/>
                        <a:pt x="200025" y="114300"/>
                      </a:cubicBezTo>
                      <a:cubicBezTo>
                        <a:pt x="200025" y="134345"/>
                        <a:pt x="193146" y="152782"/>
                        <a:pt x="181618" y="167381"/>
                      </a:cubicBezTo>
                      <a:cubicBezTo>
                        <a:pt x="174742" y="152893"/>
                        <a:pt x="159979" y="142875"/>
                        <a:pt x="142875" y="142875"/>
                      </a:cubicBezTo>
                      <a:lnTo>
                        <a:pt x="85725" y="142875"/>
                      </a:lnTo>
                      <a:close/>
                    </a:path>
                  </a:pathLst>
                </a:custGeom>
                <a:solidFill>
                  <a:srgbClr val="1E3A5F"/>
                </a:solidFill>
                <a:ln>
                  <a:noFill/>
                </a:ln>
              </p:spPr>
            </p:sp>
          </p:grpSp>
          <p:sp>
            <p:nvSpPr>
              <p:cNvPr id="59" name="TextBox 59"/>
              <p:cNvSpPr txBox="1"/>
              <p:nvPr/>
            </p:nvSpPr>
            <p:spPr>
              <a:xfrm>
                <a:off x="7672388" y="2583656"/>
                <a:ext cx="546140" cy="228600"/>
              </a:xfrm>
              <a:prstGeom prst="rect">
                <a:avLst/>
              </a:prstGeom>
              <a:noFill/>
              <a:ln>
                <a:noFill/>
              </a:ln>
            </p:spPr>
            <p:txBody>
              <a:bodyPr wrap="none" lIns="0" tIns="0" rIns="0" bIns="0" anchor="t" anchorCtr="0">
                <a:spAutoFit/>
              </a:bodyPr>
              <a:lstStyle/>
              <a:p>
                <a:pPr algn="l"/>
                <a:r>
                  <a:rPr lang="zh-CN" sz="1125" b="1" dirty="0">
                    <a:solidFill>
                      <a:srgbClr val="172033"/>
                    </a:solidFill>
                    <a:latin typeface="Arial"/>
                    <a:ea typeface="Microsoft YaHei"/>
                    <a:cs typeface="Arial"/>
                  </a:rPr>
                  <a:t>李嘉辉</a:t>
                </a:r>
              </a:p>
            </p:txBody>
          </p:sp>
          <p:sp>
            <p:nvSpPr>
              <p:cNvPr id="60" name="TextBox 60"/>
              <p:cNvSpPr txBox="1"/>
              <p:nvPr/>
            </p:nvSpPr>
            <p:spPr>
              <a:xfrm>
                <a:off x="8444865" y="2591752"/>
                <a:ext cx="532733"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a:ea typeface="Microsoft YaHei"/>
                    <a:cs typeface="Arial"/>
                  </a:rPr>
                  <a:t>Leader</a:t>
                </a:r>
              </a:p>
            </p:txBody>
          </p:sp>
          <p:sp>
            <p:nvSpPr>
              <p:cNvPr id="61" name="Rectangle 61"/>
              <p:cNvSpPr/>
              <p:nvPr/>
            </p:nvSpPr>
            <p:spPr>
              <a:xfrm>
                <a:off x="9848850" y="2524125"/>
                <a:ext cx="476250" cy="228600"/>
              </a:xfrm>
              <a:prstGeom prst="roundRect">
                <a:avLst>
                  <a:gd name="adj" fmla="val 50000"/>
                </a:avLst>
              </a:prstGeom>
              <a:solidFill>
                <a:srgbClr val="E8F7F7"/>
              </a:solidFill>
              <a:ln>
                <a:noFill/>
              </a:ln>
            </p:spPr>
          </p:sp>
          <p:sp>
            <p:nvSpPr>
              <p:cNvPr id="62" name="TextBox 62"/>
              <p:cNvSpPr txBox="1"/>
              <p:nvPr/>
            </p:nvSpPr>
            <p:spPr>
              <a:xfrm>
                <a:off x="9951240" y="2580799"/>
                <a:ext cx="271471" cy="198120"/>
              </a:xfrm>
              <a:prstGeom prst="rect">
                <a:avLst/>
              </a:prstGeom>
              <a:noFill/>
              <a:ln>
                <a:noFill/>
              </a:ln>
            </p:spPr>
            <p:txBody>
              <a:bodyPr wrap="none" lIns="0" tIns="0" rIns="0" bIns="0" anchor="t" anchorCtr="0">
                <a:spAutoFit/>
              </a:bodyPr>
              <a:lstStyle/>
              <a:p>
                <a:pPr algn="ctr"/>
                <a:r>
                  <a:rPr lang="zh-CN" sz="975" b="1" dirty="0">
                    <a:solidFill>
                      <a:srgbClr val="00A6A6"/>
                    </a:solidFill>
                    <a:latin typeface="Arial"/>
                    <a:ea typeface="Microsoft YaHei"/>
                    <a:cs typeface="Arial"/>
                  </a:rPr>
                  <a:t>0.5</a:t>
                </a:r>
              </a:p>
            </p:txBody>
          </p:sp>
          <p:sp>
            <p:nvSpPr>
              <p:cNvPr id="63" name="TextBox 63"/>
              <p:cNvSpPr txBox="1"/>
              <p:nvPr/>
            </p:nvSpPr>
            <p:spPr>
              <a:xfrm>
                <a:off x="10579418" y="252364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a:ea typeface="Microsoft YaHei"/>
                    <a:cs typeface="Arial"/>
                  </a:rPr>
                  <a:t>统筹推进</a:t>
                </a:r>
              </a:p>
            </p:txBody>
          </p:sp>
          <p:sp>
            <p:nvSpPr>
              <p:cNvPr id="64" name="TextBox 64"/>
              <p:cNvSpPr txBox="1"/>
              <p:nvPr/>
            </p:nvSpPr>
            <p:spPr>
              <a:xfrm>
                <a:off x="10579418" y="269509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a:ea typeface="Microsoft YaHei"/>
                    <a:cs typeface="Arial"/>
                  </a:rPr>
                  <a:t>目标评审</a:t>
                </a:r>
              </a:p>
            </p:txBody>
          </p:sp>
        </p:grpSp>
        <p:grpSp>
          <p:nvGrpSpPr>
            <p:cNvPr id="77" name="Group 77"/>
            <p:cNvGrpSpPr/>
            <p:nvPr/>
          </p:nvGrpSpPr>
          <p:grpSpPr>
            <a:xfrm>
              <a:off x="7162800" y="2961799"/>
              <a:ext cx="4610100" cy="369570"/>
              <a:chOff x="7162800" y="2961799"/>
              <a:chExt cx="4610100" cy="369570"/>
            </a:xfrm>
          </p:grpSpPr>
          <p:sp>
            <p:nvSpPr>
              <p:cNvPr id="66" name="Line 66"/>
              <p:cNvSpPr/>
              <p:nvPr/>
            </p:nvSpPr>
            <p:spPr>
              <a:xfrm>
                <a:off x="7162800" y="3295650"/>
                <a:ext cx="4610100" cy="9525"/>
              </a:xfrm>
              <a:custGeom>
                <a:avLst/>
                <a:gdLst/>
                <a:ahLst/>
                <a:cxnLst/>
                <a:rect l="l" t="t" r="r" b="b"/>
                <a:pathLst>
                  <a:path w="4610100" h="9525">
                    <a:moveTo>
                      <a:pt x="0" y="0"/>
                    </a:moveTo>
                    <a:lnTo>
                      <a:pt x="4610100" y="0"/>
                    </a:lnTo>
                  </a:path>
                </a:pathLst>
              </a:custGeom>
              <a:noFill/>
              <a:ln w="9525">
                <a:solidFill>
                  <a:srgbClr val="D9E2EC"/>
                </a:solidFill>
              </a:ln>
            </p:spPr>
          </p:sp>
          <p:grpSp>
            <p:nvGrpSpPr>
              <p:cNvPr id="70" name="Group 70"/>
              <p:cNvGrpSpPr/>
              <p:nvPr/>
            </p:nvGrpSpPr>
            <p:grpSpPr>
              <a:xfrm>
                <a:off x="7400925" y="2971800"/>
                <a:ext cx="171450" cy="228600"/>
                <a:chOff x="7400925" y="2971800"/>
                <a:chExt cx="171450" cy="228600"/>
              </a:xfrm>
            </p:grpSpPr>
            <p:sp>
              <p:nvSpPr>
                <p:cNvPr id="67" name="Freeform 67"/>
                <p:cNvSpPr/>
                <p:nvPr/>
              </p:nvSpPr>
              <p:spPr>
                <a:xfrm>
                  <a:off x="7400925" y="3063240"/>
                  <a:ext cx="171450" cy="65722"/>
                </a:xfrm>
                <a:custGeom>
                  <a:avLst/>
                  <a:gdLst/>
                  <a:ahLst/>
                  <a:cxnLst/>
                  <a:rect l="l" t="t" r="r" b="b"/>
                  <a:pathLst>
                    <a:path w="171450" h="65722">
                      <a:moveTo>
                        <a:pt x="159121" y="7289"/>
                      </a:moveTo>
                      <a:cubicBezTo>
                        <a:pt x="163140" y="5279"/>
                        <a:pt x="167339" y="2855"/>
                        <a:pt x="171450" y="0"/>
                      </a:cubicBezTo>
                      <a:lnTo>
                        <a:pt x="171450" y="22860"/>
                      </a:lnTo>
                      <a:cubicBezTo>
                        <a:pt x="171450" y="46532"/>
                        <a:pt x="133069" y="65722"/>
                        <a:pt x="85725" y="65722"/>
                      </a:cubicBezTo>
                      <a:cubicBezTo>
                        <a:pt x="38380" y="65722"/>
                        <a:pt x="0" y="46532"/>
                        <a:pt x="0" y="22860"/>
                      </a:cubicBezTo>
                      <a:lnTo>
                        <a:pt x="0" y="0"/>
                      </a:lnTo>
                      <a:cubicBezTo>
                        <a:pt x="4111" y="2855"/>
                        <a:pt x="8309" y="5279"/>
                        <a:pt x="12329" y="7289"/>
                      </a:cubicBezTo>
                      <a:cubicBezTo>
                        <a:pt x="32589" y="17419"/>
                        <a:pt x="58578" y="22860"/>
                        <a:pt x="85725" y="22860"/>
                      </a:cubicBezTo>
                      <a:cubicBezTo>
                        <a:pt x="112872" y="22860"/>
                        <a:pt x="138860" y="17419"/>
                        <a:pt x="159121" y="7289"/>
                      </a:cubicBezTo>
                      <a:close/>
                    </a:path>
                  </a:pathLst>
                </a:custGeom>
                <a:solidFill>
                  <a:srgbClr val="00A6A6"/>
                </a:solidFill>
                <a:ln>
                  <a:noFill/>
                </a:ln>
              </p:spPr>
            </p:sp>
            <p:sp>
              <p:nvSpPr>
                <p:cNvPr id="68" name="Freeform 68"/>
                <p:cNvSpPr/>
                <p:nvPr/>
              </p:nvSpPr>
              <p:spPr>
                <a:xfrm>
                  <a:off x="7400925" y="3134678"/>
                  <a:ext cx="171450" cy="65722"/>
                </a:xfrm>
                <a:custGeom>
                  <a:avLst/>
                  <a:gdLst/>
                  <a:ahLst/>
                  <a:cxnLst/>
                  <a:rect l="l" t="t" r="r" b="b"/>
                  <a:pathLst>
                    <a:path w="171450" h="65722">
                      <a:moveTo>
                        <a:pt x="0" y="0"/>
                      </a:moveTo>
                      <a:lnTo>
                        <a:pt x="0" y="22860"/>
                      </a:lnTo>
                      <a:cubicBezTo>
                        <a:pt x="0" y="46533"/>
                        <a:pt x="38380" y="65722"/>
                        <a:pt x="85725" y="65722"/>
                      </a:cubicBezTo>
                      <a:cubicBezTo>
                        <a:pt x="133069" y="65722"/>
                        <a:pt x="171450" y="46533"/>
                        <a:pt x="171450" y="22860"/>
                      </a:cubicBezTo>
                      <a:lnTo>
                        <a:pt x="171450" y="0"/>
                      </a:lnTo>
                      <a:cubicBezTo>
                        <a:pt x="167339" y="2855"/>
                        <a:pt x="163140" y="5279"/>
                        <a:pt x="159121" y="7289"/>
                      </a:cubicBezTo>
                      <a:cubicBezTo>
                        <a:pt x="138860" y="17419"/>
                        <a:pt x="112872" y="22860"/>
                        <a:pt x="85725" y="22860"/>
                      </a:cubicBezTo>
                      <a:cubicBezTo>
                        <a:pt x="58578" y="22860"/>
                        <a:pt x="32589" y="17419"/>
                        <a:pt x="12329" y="7289"/>
                      </a:cubicBezTo>
                      <a:cubicBezTo>
                        <a:pt x="8309" y="5279"/>
                        <a:pt x="4111" y="2855"/>
                        <a:pt x="0" y="0"/>
                      </a:cubicBezTo>
                      <a:close/>
                    </a:path>
                  </a:pathLst>
                </a:custGeom>
                <a:solidFill>
                  <a:srgbClr val="00A6A6"/>
                </a:solidFill>
                <a:ln>
                  <a:noFill/>
                </a:ln>
              </p:spPr>
            </p:sp>
            <p:sp>
              <p:nvSpPr>
                <p:cNvPr id="69" name="Freeform 69"/>
                <p:cNvSpPr/>
                <p:nvPr/>
              </p:nvSpPr>
              <p:spPr>
                <a:xfrm>
                  <a:off x="7400925" y="2971800"/>
                  <a:ext cx="171450" cy="85725"/>
                </a:xfrm>
                <a:custGeom>
                  <a:avLst/>
                  <a:gdLst/>
                  <a:ahLst/>
                  <a:cxnLst/>
                  <a:rect l="l" t="t" r="r" b="b"/>
                  <a:pathLst>
                    <a:path w="171450" h="85725">
                      <a:moveTo>
                        <a:pt x="85725" y="0"/>
                      </a:moveTo>
                      <a:cubicBezTo>
                        <a:pt x="133069" y="0"/>
                        <a:pt x="171450" y="19190"/>
                        <a:pt x="171450" y="42862"/>
                      </a:cubicBezTo>
                      <a:cubicBezTo>
                        <a:pt x="171450" y="66535"/>
                        <a:pt x="133069" y="85725"/>
                        <a:pt x="85725" y="85725"/>
                      </a:cubicBezTo>
                      <a:cubicBezTo>
                        <a:pt x="38380" y="85725"/>
                        <a:pt x="0" y="66535"/>
                        <a:pt x="0" y="42862"/>
                      </a:cubicBezTo>
                      <a:cubicBezTo>
                        <a:pt x="0" y="19190"/>
                        <a:pt x="38380" y="0"/>
                        <a:pt x="85725" y="0"/>
                      </a:cubicBezTo>
                      <a:close/>
                    </a:path>
                  </a:pathLst>
                </a:custGeom>
                <a:solidFill>
                  <a:srgbClr val="00A6A6"/>
                </a:solidFill>
                <a:ln>
                  <a:noFill/>
                </a:ln>
              </p:spPr>
            </p:sp>
          </p:grpSp>
          <p:sp>
            <p:nvSpPr>
              <p:cNvPr id="71" name="TextBox 71"/>
              <p:cNvSpPr txBox="1"/>
              <p:nvPr/>
            </p:nvSpPr>
            <p:spPr>
              <a:xfrm>
                <a:off x="7672388" y="3021806"/>
                <a:ext cx="546140" cy="228600"/>
              </a:xfrm>
              <a:prstGeom prst="rect">
                <a:avLst/>
              </a:prstGeom>
              <a:noFill/>
              <a:ln>
                <a:noFill/>
              </a:ln>
            </p:spPr>
            <p:txBody>
              <a:bodyPr wrap="none" lIns="0" tIns="0" rIns="0" bIns="0" anchor="t" anchorCtr="0">
                <a:spAutoFit/>
              </a:bodyPr>
              <a:lstStyle/>
              <a:p>
                <a:pPr algn="l"/>
                <a:r>
                  <a:rPr lang="zh-CN" sz="1125" b="1" dirty="0">
                    <a:solidFill>
                      <a:srgbClr val="172033"/>
                    </a:solidFill>
                    <a:latin typeface="Arial"/>
                    <a:ea typeface="Microsoft YaHei"/>
                    <a:cs typeface="Arial"/>
                  </a:rPr>
                  <a:t>殷文天</a:t>
                </a:r>
              </a:p>
            </p:txBody>
          </p:sp>
          <p:sp>
            <p:nvSpPr>
              <p:cNvPr id="72" name="TextBox 72"/>
              <p:cNvSpPr txBox="1"/>
              <p:nvPr/>
            </p:nvSpPr>
            <p:spPr>
              <a:xfrm>
                <a:off x="8444865" y="3029902"/>
                <a:ext cx="1100137"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a:ea typeface="Microsoft YaHei"/>
                    <a:cs typeface="Arial"/>
                  </a:rPr>
                  <a:t>架构及聚类探索</a:t>
                </a:r>
              </a:p>
            </p:txBody>
          </p:sp>
          <p:sp>
            <p:nvSpPr>
              <p:cNvPr id="73" name="Rectangle 73"/>
              <p:cNvSpPr/>
              <p:nvPr/>
            </p:nvSpPr>
            <p:spPr>
              <a:xfrm>
                <a:off x="9848850" y="2962275"/>
                <a:ext cx="476250" cy="228600"/>
              </a:xfrm>
              <a:prstGeom prst="roundRect">
                <a:avLst>
                  <a:gd name="adj" fmla="val 50000"/>
                </a:avLst>
              </a:prstGeom>
              <a:solidFill>
                <a:srgbClr val="E8F7F7"/>
              </a:solidFill>
              <a:ln>
                <a:noFill/>
              </a:ln>
            </p:spPr>
          </p:sp>
          <p:sp>
            <p:nvSpPr>
              <p:cNvPr id="74" name="TextBox 74"/>
              <p:cNvSpPr txBox="1"/>
              <p:nvPr/>
            </p:nvSpPr>
            <p:spPr>
              <a:xfrm>
                <a:off x="9951240" y="3018949"/>
                <a:ext cx="271471" cy="198120"/>
              </a:xfrm>
              <a:prstGeom prst="rect">
                <a:avLst/>
              </a:prstGeom>
              <a:noFill/>
              <a:ln>
                <a:noFill/>
              </a:ln>
            </p:spPr>
            <p:txBody>
              <a:bodyPr wrap="none" lIns="0" tIns="0" rIns="0" bIns="0" anchor="t" anchorCtr="0">
                <a:spAutoFit/>
              </a:bodyPr>
              <a:lstStyle/>
              <a:p>
                <a:pPr algn="ctr"/>
                <a:r>
                  <a:rPr lang="zh-CN" sz="975" b="1" dirty="0">
                    <a:solidFill>
                      <a:srgbClr val="00A6A6"/>
                    </a:solidFill>
                    <a:latin typeface="Arial"/>
                    <a:ea typeface="Microsoft YaHei"/>
                    <a:cs typeface="Arial"/>
                  </a:rPr>
                  <a:t>0.5</a:t>
                </a:r>
              </a:p>
            </p:txBody>
          </p:sp>
          <p:sp>
            <p:nvSpPr>
              <p:cNvPr id="75" name="TextBox 75"/>
              <p:cNvSpPr txBox="1"/>
              <p:nvPr/>
            </p:nvSpPr>
            <p:spPr>
              <a:xfrm>
                <a:off x="10579418" y="296179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a:ea typeface="Microsoft YaHei"/>
                    <a:cs typeface="Arial"/>
                  </a:rPr>
                  <a:t>架构设计</a:t>
                </a:r>
              </a:p>
            </p:txBody>
          </p:sp>
          <p:sp>
            <p:nvSpPr>
              <p:cNvPr id="76" name="TextBox 76"/>
              <p:cNvSpPr txBox="1"/>
              <p:nvPr/>
            </p:nvSpPr>
            <p:spPr>
              <a:xfrm>
                <a:off x="10579418" y="313324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a:ea typeface="Microsoft YaHei"/>
                    <a:cs typeface="Arial"/>
                  </a:rPr>
                  <a:t>聚类调优</a:t>
                </a:r>
              </a:p>
            </p:txBody>
          </p:sp>
        </p:grpSp>
        <p:grpSp>
          <p:nvGrpSpPr>
            <p:cNvPr id="86" name="Group 86"/>
            <p:cNvGrpSpPr/>
            <p:nvPr/>
          </p:nvGrpSpPr>
          <p:grpSpPr>
            <a:xfrm>
              <a:off x="7162800" y="3399949"/>
              <a:ext cx="4610100" cy="369570"/>
              <a:chOff x="7162800" y="3399949"/>
              <a:chExt cx="4610100" cy="369570"/>
            </a:xfrm>
          </p:grpSpPr>
          <p:sp>
            <p:nvSpPr>
              <p:cNvPr id="78" name="Line 78"/>
              <p:cNvSpPr/>
              <p:nvPr/>
            </p:nvSpPr>
            <p:spPr>
              <a:xfrm>
                <a:off x="7162800" y="3733800"/>
                <a:ext cx="4610100" cy="9525"/>
              </a:xfrm>
              <a:custGeom>
                <a:avLst/>
                <a:gdLst/>
                <a:ahLst/>
                <a:cxnLst/>
                <a:rect l="l" t="t" r="r" b="b"/>
                <a:pathLst>
                  <a:path w="4610100" h="9525">
                    <a:moveTo>
                      <a:pt x="0" y="0"/>
                    </a:moveTo>
                    <a:lnTo>
                      <a:pt x="4610100" y="0"/>
                    </a:lnTo>
                  </a:path>
                </a:pathLst>
              </a:custGeom>
              <a:noFill/>
              <a:ln w="9525">
                <a:solidFill>
                  <a:srgbClr val="D9E2EC"/>
                </a:solidFill>
              </a:ln>
            </p:spPr>
          </p:sp>
          <p:sp>
            <p:nvSpPr>
              <p:cNvPr id="79" name="Freeform 79"/>
              <p:cNvSpPr/>
              <p:nvPr/>
            </p:nvSpPr>
            <p:spPr>
              <a:xfrm>
                <a:off x="7372350" y="3409950"/>
                <a:ext cx="228600" cy="228600"/>
              </a:xfrm>
              <a:custGeom>
                <a:avLst/>
                <a:gdLst/>
                <a:ahLst/>
                <a:cxnLst/>
                <a:rect l="l" t="t" r="r" b="b"/>
                <a:pathLst>
                  <a:path w="228600" h="228600">
                    <a:moveTo>
                      <a:pt x="228600" y="114300"/>
                    </a:moveTo>
                    <a:lnTo>
                      <a:pt x="114300" y="0"/>
                    </a:lnTo>
                    <a:lnTo>
                      <a:pt x="0" y="0"/>
                    </a:lnTo>
                    <a:lnTo>
                      <a:pt x="0" y="114300"/>
                    </a:lnTo>
                    <a:lnTo>
                      <a:pt x="114300" y="228600"/>
                    </a:lnTo>
                    <a:lnTo>
                      <a:pt x="228600" y="114300"/>
                    </a:lnTo>
                    <a:close/>
                    <a:moveTo>
                      <a:pt x="64294" y="85725"/>
                    </a:moveTo>
                    <a:cubicBezTo>
                      <a:pt x="76130" y="85725"/>
                      <a:pt x="85725" y="76130"/>
                      <a:pt x="85725" y="64294"/>
                    </a:cubicBezTo>
                    <a:cubicBezTo>
                      <a:pt x="85725" y="52458"/>
                      <a:pt x="76130" y="42862"/>
                      <a:pt x="64294" y="42862"/>
                    </a:cubicBezTo>
                    <a:cubicBezTo>
                      <a:pt x="52458" y="42862"/>
                      <a:pt x="42862" y="52458"/>
                      <a:pt x="42862" y="64294"/>
                    </a:cubicBezTo>
                    <a:cubicBezTo>
                      <a:pt x="42862" y="76130"/>
                      <a:pt x="52458" y="85725"/>
                      <a:pt x="64294" y="85725"/>
                    </a:cubicBezTo>
                    <a:close/>
                  </a:path>
                </a:pathLst>
              </a:custGeom>
              <a:solidFill>
                <a:srgbClr val="1F8A70"/>
              </a:solidFill>
              <a:ln>
                <a:noFill/>
              </a:ln>
            </p:spPr>
          </p:sp>
          <p:sp>
            <p:nvSpPr>
              <p:cNvPr id="80" name="TextBox 80"/>
              <p:cNvSpPr txBox="1"/>
              <p:nvPr/>
            </p:nvSpPr>
            <p:spPr>
              <a:xfrm>
                <a:off x="7672388" y="3459956"/>
                <a:ext cx="546140" cy="228600"/>
              </a:xfrm>
              <a:prstGeom prst="rect">
                <a:avLst/>
              </a:prstGeom>
              <a:noFill/>
              <a:ln>
                <a:noFill/>
              </a:ln>
            </p:spPr>
            <p:txBody>
              <a:bodyPr wrap="none" lIns="0" tIns="0" rIns="0" bIns="0" anchor="t" anchorCtr="0">
                <a:spAutoFit/>
              </a:bodyPr>
              <a:lstStyle/>
              <a:p>
                <a:pPr algn="l"/>
                <a:r>
                  <a:rPr lang="zh-CN" sz="1125" b="1" dirty="0">
                    <a:solidFill>
                      <a:srgbClr val="172033"/>
                    </a:solidFill>
                    <a:latin typeface="Arial"/>
                    <a:ea typeface="Microsoft YaHei"/>
                    <a:cs typeface="Arial"/>
                  </a:rPr>
                  <a:t>李怡静</a:t>
                </a:r>
              </a:p>
            </p:txBody>
          </p:sp>
          <p:sp>
            <p:nvSpPr>
              <p:cNvPr id="81" name="TextBox 81"/>
              <p:cNvSpPr txBox="1"/>
              <p:nvPr/>
            </p:nvSpPr>
            <p:spPr>
              <a:xfrm>
                <a:off x="8444865" y="3468052"/>
                <a:ext cx="946785"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a:ea typeface="Microsoft YaHei"/>
                    <a:cs typeface="Arial"/>
                  </a:rPr>
                  <a:t>广义文本标签</a:t>
                </a:r>
              </a:p>
            </p:txBody>
          </p:sp>
          <p:sp>
            <p:nvSpPr>
              <p:cNvPr id="82" name="Rectangle 82"/>
              <p:cNvSpPr/>
              <p:nvPr/>
            </p:nvSpPr>
            <p:spPr>
              <a:xfrm>
                <a:off x="9848850" y="3400425"/>
                <a:ext cx="476250" cy="228600"/>
              </a:xfrm>
              <a:prstGeom prst="roundRect">
                <a:avLst>
                  <a:gd name="adj" fmla="val 50000"/>
                </a:avLst>
              </a:prstGeom>
              <a:solidFill>
                <a:srgbClr val="E8F7F7"/>
              </a:solidFill>
              <a:ln>
                <a:noFill/>
              </a:ln>
            </p:spPr>
          </p:sp>
          <p:sp>
            <p:nvSpPr>
              <p:cNvPr id="83" name="TextBox 83"/>
              <p:cNvSpPr txBox="1"/>
              <p:nvPr/>
            </p:nvSpPr>
            <p:spPr>
              <a:xfrm>
                <a:off x="9951240" y="3457099"/>
                <a:ext cx="271471" cy="198120"/>
              </a:xfrm>
              <a:prstGeom prst="rect">
                <a:avLst/>
              </a:prstGeom>
              <a:noFill/>
              <a:ln>
                <a:noFill/>
              </a:ln>
            </p:spPr>
            <p:txBody>
              <a:bodyPr wrap="none" lIns="0" tIns="0" rIns="0" bIns="0" anchor="t" anchorCtr="0">
                <a:spAutoFit/>
              </a:bodyPr>
              <a:lstStyle/>
              <a:p>
                <a:pPr algn="ctr"/>
                <a:r>
                  <a:rPr lang="zh-CN" sz="975" b="1" dirty="0">
                    <a:solidFill>
                      <a:srgbClr val="00A6A6"/>
                    </a:solidFill>
                    <a:latin typeface="Arial"/>
                    <a:ea typeface="Microsoft YaHei"/>
                    <a:cs typeface="Arial"/>
                  </a:rPr>
                  <a:t>0.5</a:t>
                </a:r>
              </a:p>
            </p:txBody>
          </p:sp>
          <p:sp>
            <p:nvSpPr>
              <p:cNvPr id="84" name="TextBox 84"/>
              <p:cNvSpPr txBox="1"/>
              <p:nvPr/>
            </p:nvSpPr>
            <p:spPr>
              <a:xfrm>
                <a:off x="10579418" y="339994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a:ea typeface="Microsoft YaHei"/>
                    <a:cs typeface="Arial"/>
                  </a:rPr>
                  <a:t>标签体系</a:t>
                </a:r>
              </a:p>
            </p:txBody>
          </p:sp>
          <p:sp>
            <p:nvSpPr>
              <p:cNvPr id="85" name="TextBox 85"/>
              <p:cNvSpPr txBox="1"/>
              <p:nvPr/>
            </p:nvSpPr>
            <p:spPr>
              <a:xfrm>
                <a:off x="10579418" y="357139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a:ea typeface="Microsoft YaHei"/>
                    <a:cs typeface="Arial"/>
                  </a:rPr>
                  <a:t>质量管控</a:t>
                </a:r>
              </a:p>
            </p:txBody>
          </p:sp>
        </p:grpSp>
        <p:grpSp>
          <p:nvGrpSpPr>
            <p:cNvPr id="98" name="Group 98"/>
            <p:cNvGrpSpPr/>
            <p:nvPr/>
          </p:nvGrpSpPr>
          <p:grpSpPr>
            <a:xfrm>
              <a:off x="7162800" y="3838099"/>
              <a:ext cx="4610100" cy="369570"/>
              <a:chOff x="7162800" y="3838099"/>
              <a:chExt cx="4610100" cy="369570"/>
            </a:xfrm>
          </p:grpSpPr>
          <p:sp>
            <p:nvSpPr>
              <p:cNvPr id="87" name="Line 87"/>
              <p:cNvSpPr/>
              <p:nvPr/>
            </p:nvSpPr>
            <p:spPr>
              <a:xfrm>
                <a:off x="7162800" y="4171950"/>
                <a:ext cx="4610100" cy="9525"/>
              </a:xfrm>
              <a:custGeom>
                <a:avLst/>
                <a:gdLst/>
                <a:ahLst/>
                <a:cxnLst/>
                <a:rect l="l" t="t" r="r" b="b"/>
                <a:pathLst>
                  <a:path w="4610100" h="9525">
                    <a:moveTo>
                      <a:pt x="0" y="0"/>
                    </a:moveTo>
                    <a:lnTo>
                      <a:pt x="4610100" y="0"/>
                    </a:lnTo>
                  </a:path>
                </a:pathLst>
              </a:custGeom>
              <a:noFill/>
              <a:ln w="9525">
                <a:solidFill>
                  <a:srgbClr val="D9E2EC"/>
                </a:solidFill>
              </a:ln>
            </p:spPr>
          </p:sp>
          <p:grpSp>
            <p:nvGrpSpPr>
              <p:cNvPr id="91" name="Group 91"/>
              <p:cNvGrpSpPr/>
              <p:nvPr/>
            </p:nvGrpSpPr>
            <p:grpSpPr>
              <a:xfrm>
                <a:off x="7372350" y="3862388"/>
                <a:ext cx="228600" cy="200025"/>
                <a:chOff x="7372350" y="3862388"/>
                <a:chExt cx="228600" cy="200025"/>
              </a:xfrm>
            </p:grpSpPr>
            <p:sp>
              <p:nvSpPr>
                <p:cNvPr id="88" name="Freeform 88"/>
                <p:cNvSpPr/>
                <p:nvPr/>
              </p:nvSpPr>
              <p:spPr>
                <a:xfrm>
                  <a:off x="7543800" y="3862388"/>
                  <a:ext cx="57150" cy="200025"/>
                </a:xfrm>
                <a:custGeom>
                  <a:avLst/>
                  <a:gdLst/>
                  <a:ahLst/>
                  <a:cxnLst/>
                  <a:rect l="l" t="t" r="r" b="b"/>
                  <a:pathLst>
                    <a:path w="57150" h="200025">
                      <a:moveTo>
                        <a:pt x="57150" y="0"/>
                      </a:moveTo>
                      <a:lnTo>
                        <a:pt x="0" y="0"/>
                      </a:lnTo>
                      <a:lnTo>
                        <a:pt x="0" y="200025"/>
                      </a:lnTo>
                      <a:lnTo>
                        <a:pt x="57150" y="200025"/>
                      </a:lnTo>
                      <a:lnTo>
                        <a:pt x="57150" y="0"/>
                      </a:lnTo>
                      <a:close/>
                    </a:path>
                  </a:pathLst>
                </a:custGeom>
                <a:solidFill>
                  <a:srgbClr val="D04A02"/>
                </a:solidFill>
                <a:ln>
                  <a:noFill/>
                </a:ln>
              </p:spPr>
            </p:sp>
            <p:sp>
              <p:nvSpPr>
                <p:cNvPr id="89" name="Freeform 89"/>
                <p:cNvSpPr/>
                <p:nvPr/>
              </p:nvSpPr>
              <p:spPr>
                <a:xfrm>
                  <a:off x="7458075" y="3919538"/>
                  <a:ext cx="57150" cy="142875"/>
                </a:xfrm>
                <a:custGeom>
                  <a:avLst/>
                  <a:gdLst/>
                  <a:ahLst/>
                  <a:cxnLst/>
                  <a:rect l="l" t="t" r="r" b="b"/>
                  <a:pathLst>
                    <a:path w="57150" h="142875">
                      <a:moveTo>
                        <a:pt x="0" y="0"/>
                      </a:moveTo>
                      <a:lnTo>
                        <a:pt x="57150" y="0"/>
                      </a:lnTo>
                      <a:lnTo>
                        <a:pt x="57150" y="142875"/>
                      </a:lnTo>
                      <a:lnTo>
                        <a:pt x="0" y="142875"/>
                      </a:lnTo>
                      <a:lnTo>
                        <a:pt x="0" y="0"/>
                      </a:lnTo>
                      <a:close/>
                    </a:path>
                  </a:pathLst>
                </a:custGeom>
                <a:solidFill>
                  <a:srgbClr val="D04A02"/>
                </a:solidFill>
                <a:ln>
                  <a:noFill/>
                </a:ln>
              </p:spPr>
            </p:sp>
            <p:sp>
              <p:nvSpPr>
                <p:cNvPr id="90" name="Freeform 90"/>
                <p:cNvSpPr/>
                <p:nvPr/>
              </p:nvSpPr>
              <p:spPr>
                <a:xfrm>
                  <a:off x="7372350" y="3976688"/>
                  <a:ext cx="57150" cy="85725"/>
                </a:xfrm>
                <a:custGeom>
                  <a:avLst/>
                  <a:gdLst/>
                  <a:ahLst/>
                  <a:cxnLst/>
                  <a:rect l="l" t="t" r="r" b="b"/>
                  <a:pathLst>
                    <a:path w="57150" h="85725">
                      <a:moveTo>
                        <a:pt x="0" y="0"/>
                      </a:moveTo>
                      <a:lnTo>
                        <a:pt x="57150" y="0"/>
                      </a:lnTo>
                      <a:lnTo>
                        <a:pt x="57150" y="85725"/>
                      </a:lnTo>
                      <a:lnTo>
                        <a:pt x="0" y="85725"/>
                      </a:lnTo>
                      <a:lnTo>
                        <a:pt x="0" y="0"/>
                      </a:lnTo>
                      <a:close/>
                    </a:path>
                  </a:pathLst>
                </a:custGeom>
                <a:solidFill>
                  <a:srgbClr val="D04A02"/>
                </a:solidFill>
                <a:ln>
                  <a:noFill/>
                </a:ln>
              </p:spPr>
            </p:sp>
          </p:grpSp>
          <p:sp>
            <p:nvSpPr>
              <p:cNvPr id="92" name="TextBox 92"/>
              <p:cNvSpPr txBox="1"/>
              <p:nvPr/>
            </p:nvSpPr>
            <p:spPr>
              <a:xfrm>
                <a:off x="7672388" y="3898106"/>
                <a:ext cx="546140" cy="228600"/>
              </a:xfrm>
              <a:prstGeom prst="rect">
                <a:avLst/>
              </a:prstGeom>
              <a:noFill/>
              <a:ln>
                <a:noFill/>
              </a:ln>
            </p:spPr>
            <p:txBody>
              <a:bodyPr wrap="none" lIns="0" tIns="0" rIns="0" bIns="0" anchor="t" anchorCtr="0">
                <a:spAutoFit/>
              </a:bodyPr>
              <a:lstStyle/>
              <a:p>
                <a:pPr algn="l"/>
                <a:r>
                  <a:rPr lang="zh-CN" sz="1125" b="1" dirty="0">
                    <a:solidFill>
                      <a:srgbClr val="172033"/>
                    </a:solidFill>
                    <a:latin typeface="Arial"/>
                    <a:ea typeface="Microsoft YaHei"/>
                    <a:cs typeface="Arial"/>
                  </a:rPr>
                  <a:t>陶可晗</a:t>
                </a:r>
              </a:p>
            </p:txBody>
          </p:sp>
          <p:sp>
            <p:nvSpPr>
              <p:cNvPr id="93" name="TextBox 93"/>
              <p:cNvSpPr txBox="1"/>
              <p:nvPr/>
            </p:nvSpPr>
            <p:spPr>
              <a:xfrm>
                <a:off x="8444865" y="3906202"/>
                <a:ext cx="1100137"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a:ea typeface="Microsoft YaHei"/>
                    <a:cs typeface="Arial"/>
                  </a:rPr>
                  <a:t>架构及标签分析</a:t>
                </a:r>
              </a:p>
            </p:txBody>
          </p:sp>
          <p:sp>
            <p:nvSpPr>
              <p:cNvPr id="94" name="Rectangle 94"/>
              <p:cNvSpPr/>
              <p:nvPr/>
            </p:nvSpPr>
            <p:spPr>
              <a:xfrm>
                <a:off x="9848850" y="3838575"/>
                <a:ext cx="476250" cy="228600"/>
              </a:xfrm>
              <a:prstGeom prst="roundRect">
                <a:avLst>
                  <a:gd name="adj" fmla="val 50000"/>
                </a:avLst>
              </a:prstGeom>
              <a:solidFill>
                <a:srgbClr val="E8F7F7"/>
              </a:solidFill>
              <a:ln>
                <a:noFill/>
              </a:ln>
            </p:spPr>
          </p:sp>
          <p:sp>
            <p:nvSpPr>
              <p:cNvPr id="95" name="TextBox 95"/>
              <p:cNvSpPr txBox="1"/>
              <p:nvPr/>
            </p:nvSpPr>
            <p:spPr>
              <a:xfrm>
                <a:off x="9951240" y="3895249"/>
                <a:ext cx="271471" cy="198120"/>
              </a:xfrm>
              <a:prstGeom prst="rect">
                <a:avLst/>
              </a:prstGeom>
              <a:noFill/>
              <a:ln>
                <a:noFill/>
              </a:ln>
            </p:spPr>
            <p:txBody>
              <a:bodyPr wrap="none" lIns="0" tIns="0" rIns="0" bIns="0" anchor="t" anchorCtr="0">
                <a:spAutoFit/>
              </a:bodyPr>
              <a:lstStyle/>
              <a:p>
                <a:pPr algn="ctr"/>
                <a:r>
                  <a:rPr lang="zh-CN" sz="975" b="1" dirty="0">
                    <a:solidFill>
                      <a:srgbClr val="00A6A6"/>
                    </a:solidFill>
                    <a:latin typeface="Arial"/>
                    <a:ea typeface="Microsoft YaHei"/>
                    <a:cs typeface="Arial"/>
                  </a:rPr>
                  <a:t>0.5</a:t>
                </a:r>
              </a:p>
            </p:txBody>
          </p:sp>
          <p:sp>
            <p:nvSpPr>
              <p:cNvPr id="96" name="TextBox 96"/>
              <p:cNvSpPr txBox="1"/>
              <p:nvPr/>
            </p:nvSpPr>
            <p:spPr>
              <a:xfrm>
                <a:off x="10579418" y="383809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a:ea typeface="Microsoft YaHei"/>
                    <a:cs typeface="Arial"/>
                  </a:rPr>
                  <a:t>数据加工</a:t>
                </a:r>
              </a:p>
            </p:txBody>
          </p:sp>
          <p:sp>
            <p:nvSpPr>
              <p:cNvPr id="97" name="TextBox 97"/>
              <p:cNvSpPr txBox="1"/>
              <p:nvPr/>
            </p:nvSpPr>
            <p:spPr>
              <a:xfrm>
                <a:off x="10579418" y="400954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a:ea typeface="Microsoft YaHei"/>
                    <a:cs typeface="Arial"/>
                  </a:rPr>
                  <a:t>指标跟踪</a:t>
                </a:r>
              </a:p>
            </p:txBody>
          </p:sp>
        </p:grpSp>
        <p:grpSp>
          <p:nvGrpSpPr>
            <p:cNvPr id="102" name="Group 102"/>
            <p:cNvGrpSpPr/>
            <p:nvPr/>
          </p:nvGrpSpPr>
          <p:grpSpPr>
            <a:xfrm>
              <a:off x="7372350" y="4286250"/>
              <a:ext cx="4171950" cy="219075"/>
              <a:chOff x="7372350" y="4286250"/>
              <a:chExt cx="4171950" cy="219075"/>
            </a:xfrm>
          </p:grpSpPr>
          <p:sp>
            <p:nvSpPr>
              <p:cNvPr id="99" name="Rectangle 99"/>
              <p:cNvSpPr/>
              <p:nvPr/>
            </p:nvSpPr>
            <p:spPr>
              <a:xfrm>
                <a:off x="7372350" y="4286250"/>
                <a:ext cx="4171950" cy="171450"/>
              </a:xfrm>
              <a:prstGeom prst="roundRect">
                <a:avLst>
                  <a:gd name="adj" fmla="val 50000"/>
                </a:avLst>
              </a:prstGeom>
              <a:solidFill>
                <a:srgbClr val="D9E2EC"/>
              </a:solidFill>
              <a:ln>
                <a:noFill/>
              </a:ln>
            </p:spPr>
          </p:sp>
          <p:sp>
            <p:nvSpPr>
              <p:cNvPr id="100" name="Rectangle 100"/>
              <p:cNvSpPr/>
              <p:nvPr/>
            </p:nvSpPr>
            <p:spPr>
              <a:xfrm>
                <a:off x="7372350" y="4286250"/>
                <a:ext cx="4171950" cy="171450"/>
              </a:xfrm>
              <a:prstGeom prst="roundRect">
                <a:avLst>
                  <a:gd name="adj" fmla="val 50000"/>
                </a:avLst>
              </a:prstGeom>
              <a:solidFill>
                <a:srgbClr val="00A6A6"/>
              </a:solidFill>
              <a:ln>
                <a:noFill/>
              </a:ln>
            </p:spPr>
          </p:sp>
          <p:sp>
            <p:nvSpPr>
              <p:cNvPr id="101" name="TextBox 101"/>
              <p:cNvSpPr txBox="1"/>
              <p:nvPr/>
            </p:nvSpPr>
            <p:spPr>
              <a:xfrm>
                <a:off x="8829268" y="4322445"/>
                <a:ext cx="125811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合计投入：2.0 人力</a:t>
                </a:r>
              </a:p>
            </p:txBody>
          </p:sp>
        </p:grpSp>
      </p:grpSp>
      <p:grpSp>
        <p:nvGrpSpPr>
          <p:cNvPr id="108" name="Group 108"/>
          <p:cNvGrpSpPr/>
          <p:nvPr/>
        </p:nvGrpSpPr>
        <p:grpSpPr>
          <a:xfrm>
            <a:off x="7162800" y="4781550"/>
            <a:ext cx="4721733" cy="800100"/>
            <a:chOff x="7162800" y="4781550"/>
            <a:chExt cx="4721733" cy="800100"/>
          </a:xfrm>
        </p:grpSpPr>
        <p:sp>
          <p:nvSpPr>
            <p:cNvPr id="104" name="Rectangle 104"/>
            <p:cNvSpPr/>
            <p:nvPr/>
          </p:nvSpPr>
          <p:spPr>
            <a:xfrm>
              <a:off x="7162800" y="4781550"/>
              <a:ext cx="4610100" cy="800100"/>
            </a:xfrm>
            <a:prstGeom prst="roundRect">
              <a:avLst>
                <a:gd name="adj" fmla="val 9524"/>
              </a:avLst>
            </a:prstGeom>
            <a:solidFill>
              <a:srgbClr val="FFFFFF"/>
            </a:solidFill>
            <a:ln w="14288">
              <a:solidFill>
                <a:srgbClr val="D9E2EC"/>
              </a:solidFill>
            </a:ln>
          </p:spPr>
        </p:sp>
        <p:sp>
          <p:nvSpPr>
            <p:cNvPr id="105" name="Freeform 105"/>
            <p:cNvSpPr/>
            <p:nvPr/>
          </p:nvSpPr>
          <p:spPr>
            <a:xfrm>
              <a:off x="7372350" y="5010150"/>
              <a:ext cx="247650" cy="247650"/>
            </a:xfrm>
            <a:custGeom>
              <a:avLst/>
              <a:gdLst/>
              <a:ahLst/>
              <a:cxnLst/>
              <a:rect l="l" t="t" r="r" b="b"/>
              <a:pathLst>
                <a:path w="247650" h="247650">
                  <a:moveTo>
                    <a:pt x="123825" y="247650"/>
                  </a:moveTo>
                  <a:cubicBezTo>
                    <a:pt x="192212" y="247650"/>
                    <a:pt x="247650" y="192212"/>
                    <a:pt x="247650" y="123825"/>
                  </a:cubicBezTo>
                  <a:cubicBezTo>
                    <a:pt x="247650" y="55438"/>
                    <a:pt x="192212" y="0"/>
                    <a:pt x="123825" y="0"/>
                  </a:cubicBezTo>
                  <a:cubicBezTo>
                    <a:pt x="55438" y="0"/>
                    <a:pt x="0" y="55438"/>
                    <a:pt x="0" y="123825"/>
                  </a:cubicBezTo>
                  <a:cubicBezTo>
                    <a:pt x="0" y="192212"/>
                    <a:pt x="55438" y="247650"/>
                    <a:pt x="123825" y="247650"/>
                  </a:cubicBezTo>
                  <a:close/>
                  <a:moveTo>
                    <a:pt x="108347" y="46434"/>
                  </a:moveTo>
                  <a:lnTo>
                    <a:pt x="108347" y="130236"/>
                  </a:lnTo>
                  <a:lnTo>
                    <a:pt x="159315" y="181204"/>
                  </a:lnTo>
                  <a:lnTo>
                    <a:pt x="181204" y="159315"/>
                  </a:lnTo>
                  <a:lnTo>
                    <a:pt x="139303" y="117414"/>
                  </a:lnTo>
                  <a:lnTo>
                    <a:pt x="139303" y="46434"/>
                  </a:lnTo>
                  <a:lnTo>
                    <a:pt x="108347" y="46434"/>
                  </a:lnTo>
                  <a:close/>
                </a:path>
              </a:pathLst>
            </a:custGeom>
            <a:solidFill>
              <a:srgbClr val="1E3A5F"/>
            </a:solidFill>
            <a:ln>
              <a:noFill/>
            </a:ln>
          </p:spPr>
        </p:sp>
        <p:sp>
          <p:nvSpPr>
            <p:cNvPr id="106" name="TextBox 106"/>
            <p:cNvSpPr txBox="1"/>
            <p:nvPr/>
          </p:nvSpPr>
          <p:spPr>
            <a:xfrm>
              <a:off x="7718108" y="5053489"/>
              <a:ext cx="814483" cy="259080"/>
            </a:xfrm>
            <a:prstGeom prst="rect">
              <a:avLst/>
            </a:prstGeom>
            <a:noFill/>
            <a:ln>
              <a:noFill/>
            </a:ln>
          </p:spPr>
          <p:txBody>
            <a:bodyPr wrap="none" lIns="0" tIns="0" rIns="0" bIns="0" anchor="t" anchorCtr="0">
              <a:spAutoFit/>
            </a:bodyPr>
            <a:lstStyle/>
            <a:p>
              <a:pPr algn="l"/>
              <a:r>
                <a:rPr lang="zh-CN" sz="1275" b="1" dirty="0">
                  <a:solidFill>
                    <a:srgbClr val="172033"/>
                  </a:solidFill>
                  <a:latin typeface="Arial"/>
                  <a:ea typeface="Microsoft YaHei"/>
                  <a:cs typeface="Arial"/>
                </a:rPr>
                <a:t>阶段节奏</a:t>
              </a:r>
            </a:p>
          </p:txBody>
        </p:sp>
        <p:sp>
          <p:nvSpPr>
            <p:cNvPr id="107" name="TextBox 107"/>
            <p:cNvSpPr txBox="1"/>
            <p:nvPr/>
          </p:nvSpPr>
          <p:spPr>
            <a:xfrm>
              <a:off x="7359968" y="5362099"/>
              <a:ext cx="4524565"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a:ea typeface="Microsoft YaHei"/>
                  <a:cs typeface="Arial"/>
                </a:rPr>
                <a:t>1 分类框架与聚类 → 2 两路对齐与评测集 → 3 小流量验证 → 4 工具化落地</a:t>
              </a:r>
            </a:p>
          </p:txBody>
        </p:sp>
      </p:grpSp>
      <p:grpSp>
        <p:nvGrpSpPr>
          <p:cNvPr id="112" name="Group 112"/>
          <p:cNvGrpSpPr/>
          <p:nvPr/>
        </p:nvGrpSpPr>
        <p:grpSpPr>
          <a:xfrm>
            <a:off x="419100" y="5829300"/>
            <a:ext cx="11353800" cy="419100"/>
            <a:chOff x="419100" y="5829300"/>
            <a:chExt cx="11353800" cy="419100"/>
          </a:xfrm>
        </p:grpSpPr>
        <p:sp>
          <p:nvSpPr>
            <p:cNvPr id="109" name="Rectangle 109"/>
            <p:cNvSpPr/>
            <p:nvPr/>
          </p:nvSpPr>
          <p:spPr>
            <a:xfrm>
              <a:off x="419100" y="5829300"/>
              <a:ext cx="11353800" cy="419100"/>
            </a:xfrm>
            <a:prstGeom prst="roundRect">
              <a:avLst>
                <a:gd name="adj" fmla="val 18182"/>
              </a:avLst>
            </a:prstGeom>
            <a:solidFill>
              <a:srgbClr val="172033"/>
            </a:solidFill>
            <a:ln>
              <a:noFill/>
            </a:ln>
          </p:spPr>
        </p:sp>
        <p:sp>
          <p:nvSpPr>
            <p:cNvPr id="110" name="TextBox 110"/>
            <p:cNvSpPr txBox="1"/>
            <p:nvPr/>
          </p:nvSpPr>
          <p:spPr>
            <a:xfrm>
              <a:off x="632460" y="5966460"/>
              <a:ext cx="950595"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首批动作：</a:t>
              </a:r>
            </a:p>
          </p:txBody>
        </p:sp>
        <p:sp>
          <p:nvSpPr>
            <p:cNvPr id="111" name="TextBox 111"/>
            <p:cNvSpPr txBox="1"/>
            <p:nvPr/>
          </p:nvSpPr>
          <p:spPr>
            <a:xfrm>
              <a:off x="1452562" y="5974556"/>
              <a:ext cx="7011591"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确认固定人力与优先级；建立子专项周会；提供工单ID验证模型分；设计首通话术和短信A/B测试</a:t>
              </a:r>
            </a:p>
          </p:txBody>
        </p:sp>
      </p:grpSp>
      <p:grpSp>
        <p:nvGrpSpPr>
          <p:cNvPr id="115" name="Group 115"/>
          <p:cNvGrpSpPr/>
          <p:nvPr/>
        </p:nvGrpSpPr>
        <p:grpSpPr>
          <a:xfrm>
            <a:off x="408622" y="6483191"/>
            <a:ext cx="11374756" cy="167640"/>
            <a:chOff x="408622" y="6483191"/>
            <a:chExt cx="11374756" cy="167640"/>
          </a:xfrm>
        </p:grpSpPr>
        <p:sp>
          <p:nvSpPr>
            <p:cNvPr id="113" name="TextBox 113"/>
            <p:cNvSpPr txBox="1"/>
            <p:nvPr/>
          </p:nvSpPr>
          <p:spPr>
            <a:xfrm>
              <a:off x="408622" y="6483191"/>
              <a:ext cx="1677710" cy="167640"/>
            </a:xfrm>
            <a:prstGeom prst="rect">
              <a:avLst/>
            </a:prstGeom>
            <a:noFill/>
            <a:ln>
              <a:noFill/>
            </a:ln>
          </p:spPr>
          <p:txBody>
            <a:bodyPr wrap="none" lIns="0" tIns="0" rIns="0" bIns="0" anchor="t" anchorCtr="0">
              <a:spAutoFit/>
            </a:bodyPr>
            <a:lstStyle/>
            <a:p>
              <a:pPr algn="l"/>
              <a:r>
                <a:rPr lang="zh-CN" sz="825" dirty="0">
                  <a:solidFill>
                    <a:srgbClr val="98A2B3"/>
                  </a:solidFill>
                  <a:latin typeface="Arial"/>
                  <a:ea typeface="Microsoft YaHei"/>
                  <a:cs typeface="Arial"/>
                </a:rPr>
                <a:t>AI客诉专项 | Source: 大纲.md</a:t>
              </a:r>
            </a:p>
          </p:txBody>
        </p:sp>
        <p:sp>
          <p:nvSpPr>
            <p:cNvPr id="114" name="TextBox 114"/>
            <p:cNvSpPr txBox="1"/>
            <p:nvPr/>
          </p:nvSpPr>
          <p:spPr>
            <a:xfrm>
              <a:off x="11358777" y="6483191"/>
              <a:ext cx="424601" cy="167640"/>
            </a:xfrm>
            <a:prstGeom prst="rect">
              <a:avLst/>
            </a:prstGeom>
            <a:noFill/>
            <a:ln>
              <a:noFill/>
            </a:ln>
          </p:spPr>
          <p:txBody>
            <a:bodyPr wrap="none" lIns="0" tIns="0" rIns="0" bIns="0" anchor="t" anchorCtr="0">
              <a:spAutoFit/>
            </a:bodyPr>
            <a:lstStyle/>
            <a:p>
              <a:pPr algn="r"/>
              <a:r>
                <a:rPr lang="zh-CN" sz="825" dirty="0">
                  <a:solidFill>
                    <a:srgbClr val="98A2B3"/>
                  </a:solidFill>
                  <a:latin typeface="Arial"/>
                  <a:ea typeface="Microsoft YaHei"/>
                  <a:cs typeface="Arial"/>
                </a:rPr>
                <a:t>02 / 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strips(downRight)">
                                      <p:cBhvr>
                                        <p:cTn id="11" dur="400"/>
                                        <p:tgtEl>
                                          <p:spTgt spid="47"/>
                                        </p:tgtEl>
                                      </p:cBhvr>
                                    </p:animEffect>
                                  </p:childTnLst>
                                </p:cTn>
                              </p:par>
                            </p:childTnLst>
                          </p:cTn>
                        </p:par>
                        <p:par>
                          <p:cTn id="12" fill="hold">
                            <p:stCondLst>
                              <p:cond delay="1800"/>
                            </p:stCondLst>
                            <p:childTnLst>
                              <p:par>
                                <p:cTn id="13" presetID="20" presetClass="entr" presetSubtype="0" fill="hold" nodeType="afterEffect">
                                  <p:stCondLst>
                                    <p:cond delay="0"/>
                                  </p:stCondLst>
                                  <p:childTnLst>
                                    <p:set>
                                      <p:cBhvr>
                                        <p:cTn id="14" dur="1" fill="hold">
                                          <p:stCondLst>
                                            <p:cond delay="0"/>
                                          </p:stCondLst>
                                        </p:cTn>
                                        <p:tgtEl>
                                          <p:spTgt spid="103"/>
                                        </p:tgtEl>
                                        <p:attrNameLst>
                                          <p:attrName>style.visibility</p:attrName>
                                        </p:attrNameLst>
                                      </p:cBhvr>
                                      <p:to>
                                        <p:strVal val="visible"/>
                                      </p:to>
                                    </p:set>
                                    <p:animEffect transition="in" filter="wedge">
                                      <p:cBhvr>
                                        <p:cTn id="15" dur="400"/>
                                        <p:tgtEl>
                                          <p:spTgt spid="103"/>
                                        </p:tgtEl>
                                      </p:cBhvr>
                                    </p:animEffect>
                                  </p:childTnLst>
                                </p:cTn>
                              </p:par>
                            </p:childTnLst>
                          </p:cTn>
                        </p:par>
                        <p:par>
                          <p:cTn id="16" fill="hold">
                            <p:stCondLst>
                              <p:cond delay="2700"/>
                            </p:stCondLst>
                            <p:childTnLst>
                              <p:par>
                                <p:cTn id="17" presetID="21" presetClass="entr" presetSubtype="0" fill="hold" nodeType="afterEffect">
                                  <p:stCondLst>
                                    <p:cond delay="0"/>
                                  </p:stCondLst>
                                  <p:childTnLst>
                                    <p:set>
                                      <p:cBhvr>
                                        <p:cTn id="18" dur="1" fill="hold">
                                          <p:stCondLst>
                                            <p:cond delay="0"/>
                                          </p:stCondLst>
                                        </p:cTn>
                                        <p:tgtEl>
                                          <p:spTgt spid="108"/>
                                        </p:tgtEl>
                                        <p:attrNameLst>
                                          <p:attrName>style.visibility</p:attrName>
                                        </p:attrNameLst>
                                      </p:cBhvr>
                                      <p:to>
                                        <p:strVal val="visible"/>
                                      </p:to>
                                    </p:set>
                                    <p:animEffect transition="in" filter="wheel(4)">
                                      <p:cBhvr>
                                        <p:cTn id="19" dur="400"/>
                                        <p:tgtEl>
                                          <p:spTgt spid="108"/>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112"/>
                                        </p:tgtEl>
                                        <p:attrNameLst>
                                          <p:attrName>style.visibility</p:attrName>
                                        </p:attrNameLst>
                                      </p:cBhvr>
                                      <p:to>
                                        <p:strVal val="visible"/>
                                      </p:to>
                                    </p:set>
                                    <p:animEffect transition="in" filter="wipe(left)">
                                      <p:cBhvr>
                                        <p:cTn id="23" dur="4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7" grpId="0"/>
      <p:bldP spid="103" grpId="0"/>
      <p:bldP spid="108" grpId="0"/>
      <p:bldP spid="11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