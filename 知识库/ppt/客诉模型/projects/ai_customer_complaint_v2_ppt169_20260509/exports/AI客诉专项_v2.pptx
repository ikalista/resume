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 type="screen4x3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2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这一页讲清楚一件事：AI 客诉专项的核心，不是堆几个单点模型，而是把电话、大模型、行为识别、客群分类、处置策略串成一个闭环，让它跑起来、能反哺、能持续校准。流水线从最左的电话和工单数据进，多源信号灌进大模型；大模型用专家经验做自顶向下规则归类，同时跑自底向上的文本聚类，互相校准，输出客户簇和标签。第三阶段做行为识别，把投诉倾向、外溢风险、诉求强度、沟通方式、退费预期都还原成一张客户行为画像。第四阶段做客群分类，专业性维度配诉求维度，再保留一条等待挖掘的口子。最后一步是处置策略，针对每一类客群，给到分流建议、外呼话术、退费力度、跟进周期，这些处置结果再回流模型做闭环校准。这一整条路径同时撬动三个价值点：压降外诉、优化退费、沉淀经验，三件事是一体的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页讲我们怎么把这件事真正拆下去做。整体看是两条洞察链路并行推进，再用一道横向比较收口。链路一是基于业务知识的洞察，由李怡静主导：先把客诉分类、风险信号、退费经验、坐席话术沉淀进大模型，再做用户行为洞察，然后兵分两路——一条走专家分群洞察，一条短接到大模型直接分群洞察，最终都汇到分群下钻分析里，对每类客群拆 Top 诉求、典型话术、风险触发和退费敏感度。链路二是基于大模型的自动化挖掘，殷文天负责：用 embedding 加聚类算法对全量通话做自然分组，再做聚类行为洞察，最后做同质化信息挖掘，输出每个簇为什么相似、风险点在哪里、适配什么处置方式。两条链路的结果合在一起，由陶可晗做横向比较与发现，对齐三方分群，举个例子，"大模型认为的豆包人"和"专家规则定义的豆包人"差在哪里，差异本身就是新维度的候选，反过来再补到专家框架里。整体代码架构由李嘉辉负责。落地节奏分四个阶段：先跑通输入和聚类链路，再做横向对齐发现新维度，再针对重点客群做深度下钻，最后工具化进工单高亮、坐席辅助和 AI 首通回访，每周复盘投诉压降和退费收益。4 个人各 0.5 人力，按这个节奏可以在专项内跑起来。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1E3A5F"/>
                </a:gs>
                <a:gs pos="100000">
                  <a:srgbClr val="00A6A6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94335" y="246698"/>
            <a:ext cx="4380666" cy="551021"/>
            <a:chOff x="394335" y="246698"/>
            <a:chExt cx="4380666" cy="551021"/>
          </a:xfrm>
        </p:grpSpPr>
        <p:sp>
          <p:nvSpPr>
            <p:cNvPr id="5" name="TextBox 5"/>
            <p:cNvSpPr txBox="1"/>
            <p:nvPr/>
          </p:nvSpPr>
          <p:spPr>
            <a:xfrm>
              <a:off x="394335" y="246698"/>
              <a:ext cx="308475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专项价值与方法路径</a:t>
              </a:r>
              <a:endParaRPr lang="zh-CN" sz="19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6718" y="599599"/>
              <a:ext cx="43682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FROM CALL TO CLOSED LOOP — 5 STAGES — ONE BUSINESS LOOP</a:t>
              </a:r>
              <a:endParaRPr lang="zh-CN" sz="97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9100" y="857250"/>
            <a:ext cx="11353800" cy="419100"/>
            <a:chOff x="419100" y="857250"/>
            <a:chExt cx="11353800" cy="419100"/>
          </a:xfrm>
        </p:grpSpPr>
        <p:sp>
          <p:nvSpPr>
            <p:cNvPr id="8" name="Rectangle 8"/>
            <p:cNvSpPr/>
            <p:nvPr/>
          </p:nvSpPr>
          <p:spPr>
            <a:xfrm>
              <a:off x="419100" y="857250"/>
              <a:ext cx="11353800" cy="419100"/>
            </a:xfrm>
            <a:prstGeom prst="roundRect">
              <a:avLst>
                <a:gd name="adj" fmla="val 13636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4360" y="994410"/>
              <a:ext cx="9056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专项要形成"识别—分类—策略—反馈"的业务闭环 — </a:t>
              </a:r>
              <a:r>
                <a:rPr lang="zh-CN" sz="1200" b="1" dirty="0">
                  <a:solidFill>
                    <a:srgbClr val="7FE3E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同时压降外诉、优化退费、沉淀经验</a:t>
              </a:r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，而不是单点模型实验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9100" y="2724150"/>
            <a:ext cx="11353800" cy="3619500"/>
            <a:chOff x="419100" y="1428750"/>
            <a:chExt cx="113538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419100" y="1428750"/>
              <a:ext cx="11353800" cy="3619500"/>
            </a:xfrm>
            <a:prstGeom prst="roundRect">
              <a:avLst>
                <a:gd name="adj" fmla="val 2632"/>
              </a:avLst>
            </a:prstGeom>
            <a:noFill/>
            <a:ln w="14288">
              <a:solidFill>
                <a:srgbClr val="D9E2EC"/>
              </a:solidFill>
              <a:custDash>
                <a:ds d="400000" sp="266666"/>
              </a:custDash>
            </a:ln>
          </p:spPr>
        </p:sp>
        <p:sp>
          <p:nvSpPr>
            <p:cNvPr id="12" name="Rectangle 12"/>
            <p:cNvSpPr/>
            <p:nvPr/>
          </p:nvSpPr>
          <p:spPr>
            <a:xfrm>
              <a:off x="419100" y="1428750"/>
              <a:ext cx="11353800" cy="304800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38402" y="1531620"/>
              <a:ext cx="43151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SEQUENTIAL FLOW — 电话 → 大模型 → 行为识别 → 客群分类 → 处置策略</a:t>
              </a:r>
              <a:endParaRPr lang="zh-CN" sz="9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3152775"/>
            <a:ext cx="2114550" cy="3048000"/>
            <a:chOff x="552450" y="1857375"/>
            <a:chExt cx="2114550" cy="3048000"/>
          </a:xfrm>
        </p:grpSpPr>
        <p:sp>
          <p:nvSpPr>
            <p:cNvPr id="15" name="Rectangle 15"/>
            <p:cNvSpPr/>
            <p:nvPr/>
          </p:nvSpPr>
          <p:spPr>
            <a:xfrm>
              <a:off x="552450" y="1857375"/>
              <a:ext cx="2114550" cy="30480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52450" y="1857375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2286000"/>
              <a:ext cx="2114550" cy="123825"/>
            </a:xfrm>
            <a:prstGeom prst="rect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23900" y="20002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76200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76200"/>
                  </a:lnTo>
                  <a:lnTo>
                    <a:pt x="66675" y="123825"/>
                  </a:lnTo>
                  <a:lnTo>
                    <a:pt x="142875" y="200025"/>
                  </a:lnTo>
                  <a:lnTo>
                    <a:pt x="190500" y="152400"/>
                  </a:lnTo>
                  <a:lnTo>
                    <a:pt x="266700" y="152400"/>
                  </a:lnTo>
                  <a:lnTo>
                    <a:pt x="266700" y="266700"/>
                  </a:lnTo>
                  <a:lnTo>
                    <a:pt x="190500" y="266700"/>
                  </a:lnTo>
                  <a:cubicBezTo>
                    <a:pt x="85290" y="266700"/>
                    <a:pt x="0" y="181409"/>
                    <a:pt x="0" y="76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017395"/>
              <a:ext cx="561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01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7755" y="2159318"/>
              <a:ext cx="10096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通话 · 数据源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2468" y="25998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多源采集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8188" y="2900362"/>
              <a:ext cx="47625" cy="47625"/>
            </a:xfrm>
            <a:prstGeom prst="ellipse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918" y="28570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通话文本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8188" y="3138488"/>
              <a:ext cx="47625" cy="47625"/>
            </a:xfrm>
            <a:prstGeom prst="ellipse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3918" y="3095149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12378 拨打 / 工单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8188" y="3376612"/>
              <a:ext cx="47625" cy="47625"/>
            </a:xfrm>
            <a:prstGeom prst="ellipse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3918" y="333327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短信触达 / 客户标签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8188" y="3614738"/>
              <a:ext cx="47625" cy="47625"/>
            </a:xfrm>
            <a:prstGeom prst="ellipse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3918" y="35713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退费与投诉结果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704850" y="40005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  <a:custDash>
                <a:ds d="300000" sp="300000"/>
              </a:custDash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4850" y="4152900"/>
              <a:ext cx="1809750" cy="590550"/>
            </a:xfrm>
            <a:prstGeom prst="roundRect">
              <a:avLst>
                <a:gd name="adj" fmla="val 9677"/>
              </a:avLst>
            </a:prstGeom>
            <a:solidFill>
              <a:srgbClr val="F7F9FC"/>
            </a:solidFill>
            <a:ln w="9525">
              <a:solidFill>
                <a:srgbClr val="D9E2E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84908" y="4254341"/>
              <a:ext cx="849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OUTPUT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330" y="44777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90A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多源原始数据</a:t>
              </a:r>
              <a:endParaRPr lang="zh-CN" sz="1050" b="1" dirty="0">
                <a:solidFill>
                  <a:srgbClr val="4A90A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800350" y="3152775"/>
            <a:ext cx="2256856" cy="3048000"/>
            <a:chOff x="2800350" y="1857375"/>
            <a:chExt cx="2256856" cy="3048000"/>
          </a:xfrm>
        </p:grpSpPr>
        <p:sp>
          <p:nvSpPr>
            <p:cNvPr id="35" name="Rectangle 35"/>
            <p:cNvSpPr/>
            <p:nvPr/>
          </p:nvSpPr>
          <p:spPr>
            <a:xfrm>
              <a:off x="2800350" y="1857375"/>
              <a:ext cx="2114550" cy="30480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00350" y="1857375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800350" y="2286000"/>
              <a:ext cx="2114550" cy="123825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2990850" y="19812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41370" y="2017395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02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35655" y="2159318"/>
              <a:ext cx="17215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 · 双路并行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40368" y="2599849"/>
              <a:ext cx="1691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专家经验嵌入 + 数据探索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Ellipse 42"/>
            <p:cNvSpPr/>
            <p:nvPr/>
          </p:nvSpPr>
          <p:spPr>
            <a:xfrm>
              <a:off x="2986088" y="2900362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111818" y="285702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自顶向下规则归类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Ellipse 44"/>
            <p:cNvSpPr/>
            <p:nvPr/>
          </p:nvSpPr>
          <p:spPr>
            <a:xfrm>
              <a:off x="2986088" y="3138488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111818" y="30951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自底向上文本聚类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Ellipse 46"/>
            <p:cNvSpPr/>
            <p:nvPr/>
          </p:nvSpPr>
          <p:spPr>
            <a:xfrm>
              <a:off x="2986088" y="3376612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111818" y="33332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多基座交叉验证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Ellipse 48"/>
            <p:cNvSpPr/>
            <p:nvPr/>
          </p:nvSpPr>
          <p:spPr>
            <a:xfrm>
              <a:off x="2986088" y="3614738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111818" y="35713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人工复核闭环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Line 50"/>
            <p:cNvSpPr/>
            <p:nvPr/>
          </p:nvSpPr>
          <p:spPr>
            <a:xfrm>
              <a:off x="2952750" y="40005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  <a:custDash>
                <a:ds d="300000" sp="300000"/>
              </a:custDash>
            </a:ln>
          </p:spPr>
        </p:sp>
        <p:sp>
          <p:nvSpPr>
            <p:cNvPr id="51" name="Rectangle 51"/>
            <p:cNvSpPr/>
            <p:nvPr/>
          </p:nvSpPr>
          <p:spPr>
            <a:xfrm>
              <a:off x="2952750" y="4152900"/>
              <a:ext cx="1809750" cy="590550"/>
            </a:xfrm>
            <a:prstGeom prst="roundRect">
              <a:avLst>
                <a:gd name="adj" fmla="val 9677"/>
              </a:avLst>
            </a:prstGeom>
            <a:solidFill>
              <a:srgbClr val="EAF0F6"/>
            </a:solidFill>
            <a:ln w="9525">
              <a:solidFill>
                <a:srgbClr val="D9E2E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432808" y="4254341"/>
              <a:ext cx="849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OUTPUT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188133" y="4477702"/>
              <a:ext cx="1338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规则标签 + 客户簇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048250" y="3152775"/>
            <a:ext cx="2114550" cy="3048000"/>
            <a:chOff x="5048250" y="1857375"/>
            <a:chExt cx="2114550" cy="3048000"/>
          </a:xfrm>
        </p:grpSpPr>
        <p:sp>
          <p:nvSpPr>
            <p:cNvPr id="55" name="Rectangle 55"/>
            <p:cNvSpPr/>
            <p:nvPr/>
          </p:nvSpPr>
          <p:spPr>
            <a:xfrm>
              <a:off x="5048250" y="1857375"/>
              <a:ext cx="2114550" cy="30480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048250" y="1857375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048250" y="2286000"/>
              <a:ext cx="2114550" cy="123825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200650" y="1981200"/>
              <a:ext cx="304800" cy="304800"/>
              <a:chOff x="5200650" y="1981200"/>
              <a:chExt cx="304800" cy="304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276850" y="20574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0"/>
                    </a:moveTo>
                    <a:cubicBezTo>
                      <a:pt x="34116" y="0"/>
                      <a:pt x="0" y="34116"/>
                      <a:pt x="0" y="76200"/>
                    </a:cubicBezTo>
                    <a:cubicBezTo>
                      <a:pt x="0" y="118283"/>
                      <a:pt x="34116" y="152400"/>
                      <a:pt x="76200" y="152400"/>
                    </a:cubicBezTo>
                    <a:cubicBezTo>
                      <a:pt x="118283" y="152400"/>
                      <a:pt x="152400" y="118283"/>
                      <a:pt x="152400" y="76200"/>
                    </a:cubicBezTo>
                    <a:cubicBezTo>
                      <a:pt x="152400" y="34116"/>
                      <a:pt x="118283" y="0"/>
                      <a:pt x="76200" y="0"/>
                    </a:cubicBezTo>
                    <a:close/>
                    <a:moveTo>
                      <a:pt x="38100" y="76200"/>
                    </a:moveTo>
                    <a:cubicBezTo>
                      <a:pt x="38100" y="55158"/>
                      <a:pt x="55158" y="38100"/>
                      <a:pt x="76200" y="38100"/>
                    </a:cubicBezTo>
                    <a:cubicBezTo>
                      <a:pt x="97242" y="38100"/>
                      <a:pt x="114300" y="55158"/>
                      <a:pt x="114300" y="76200"/>
                    </a:cubicBezTo>
                    <a:cubicBezTo>
                      <a:pt x="114300" y="97242"/>
                      <a:pt x="97242" y="114300"/>
                      <a:pt x="76200" y="114300"/>
                    </a:cubicBezTo>
                    <a:cubicBezTo>
                      <a:pt x="55158" y="114300"/>
                      <a:pt x="38100" y="97242"/>
                      <a:pt x="38100" y="762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200650" y="198120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cubicBezTo>
                      <a:pt x="68232" y="0"/>
                      <a:pt x="0" y="68232"/>
                      <a:pt x="0" y="152400"/>
                    </a:cubicBezTo>
                    <a:cubicBezTo>
                      <a:pt x="0" y="236569"/>
                      <a:pt x="68232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2"/>
                      <a:pt x="236569" y="0"/>
                      <a:pt x="152400" y="0"/>
                    </a:cubicBezTo>
                    <a:close/>
                    <a:moveTo>
                      <a:pt x="38100" y="152400"/>
                    </a:moveTo>
                    <a:cubicBezTo>
                      <a:pt x="38100" y="89274"/>
                      <a:pt x="89274" y="38100"/>
                      <a:pt x="152400" y="38100"/>
                    </a:cubicBezTo>
                    <a:cubicBezTo>
                      <a:pt x="215526" y="38100"/>
                      <a:pt x="266700" y="89274"/>
                      <a:pt x="266700" y="152400"/>
                    </a:cubicBezTo>
                    <a:cubicBezTo>
                      <a:pt x="266700" y="215526"/>
                      <a:pt x="215526" y="266700"/>
                      <a:pt x="152400" y="266700"/>
                    </a:cubicBezTo>
                    <a:cubicBezTo>
                      <a:pt x="89274" y="266700"/>
                      <a:pt x="38100" y="215526"/>
                      <a:pt x="38100" y="1524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5589270" y="2017395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03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83555" y="21593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行为识别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88268" y="25998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客户级行为信号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Ellipse 64"/>
            <p:cNvSpPr/>
            <p:nvPr/>
          </p:nvSpPr>
          <p:spPr>
            <a:xfrm>
              <a:off x="5233988" y="2900362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59718" y="285702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投诉倾向 / 外溢风险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Ellipse 66"/>
            <p:cNvSpPr/>
            <p:nvPr/>
          </p:nvSpPr>
          <p:spPr>
            <a:xfrm>
              <a:off x="5233988" y="3138488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59718" y="30951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诉求强度 / 沟通方式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Ellipse 68"/>
            <p:cNvSpPr/>
            <p:nvPr/>
          </p:nvSpPr>
          <p:spPr>
            <a:xfrm>
              <a:off x="5233988" y="3376612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359718" y="333327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反复进线 / 情绪曲线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Ellipse 70"/>
            <p:cNvSpPr/>
            <p:nvPr/>
          </p:nvSpPr>
          <p:spPr>
            <a:xfrm>
              <a:off x="5233988" y="3614738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359718" y="357139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退费预期 / 法律意识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Line 72"/>
            <p:cNvSpPr/>
            <p:nvPr/>
          </p:nvSpPr>
          <p:spPr>
            <a:xfrm>
              <a:off x="5200650" y="40005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  <a:custDash>
                <a:ds d="300000" sp="300000"/>
              </a:custDash>
            </a:ln>
          </p:spPr>
        </p:sp>
        <p:sp>
          <p:nvSpPr>
            <p:cNvPr id="73" name="Rectangle 73"/>
            <p:cNvSpPr/>
            <p:nvPr/>
          </p:nvSpPr>
          <p:spPr>
            <a:xfrm>
              <a:off x="5200650" y="4152900"/>
              <a:ext cx="1809750" cy="590550"/>
            </a:xfrm>
            <a:prstGeom prst="roundRect">
              <a:avLst>
                <a:gd name="adj" fmla="val 9677"/>
              </a:avLst>
            </a:prstGeom>
            <a:solidFill>
              <a:srgbClr val="E8F7F7"/>
            </a:solidFill>
            <a:ln w="9525">
              <a:solidFill>
                <a:srgbClr val="D9E2EC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680708" y="4254341"/>
              <a:ext cx="849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OUTPUT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609130" y="44777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客户行为画像</a:t>
              </a:r>
              <a:endParaRPr lang="zh-CN" sz="1050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7296150" y="3152775"/>
            <a:ext cx="2114550" cy="3048000"/>
            <a:chOff x="7296150" y="1857375"/>
            <a:chExt cx="2114550" cy="3048000"/>
          </a:xfrm>
        </p:grpSpPr>
        <p:sp>
          <p:nvSpPr>
            <p:cNvPr id="77" name="Rectangle 77"/>
            <p:cNvSpPr/>
            <p:nvPr/>
          </p:nvSpPr>
          <p:spPr>
            <a:xfrm>
              <a:off x="7296150" y="1857375"/>
              <a:ext cx="2114550" cy="30480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296150" y="1857375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296150" y="2286000"/>
              <a:ext cx="2114550" cy="123825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448550" y="2000250"/>
              <a:ext cx="304800" cy="266700"/>
              <a:chOff x="7448550" y="2000250"/>
              <a:chExt cx="304800" cy="2667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505700" y="20002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448550" y="2133600"/>
                <a:ext cx="1524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3350">
                    <a:moveTo>
                      <a:pt x="57150" y="0"/>
                    </a:moveTo>
                    <a:cubicBezTo>
                      <a:pt x="25587" y="0"/>
                      <a:pt x="0" y="25587"/>
                      <a:pt x="0" y="57150"/>
                    </a:cubicBezTo>
                    <a:lnTo>
                      <a:pt x="0" y="133350"/>
                    </a:lnTo>
                    <a:lnTo>
                      <a:pt x="152400" y="133350"/>
                    </a:lnTo>
                    <a:lnTo>
                      <a:pt x="15240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639050" y="213360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133350"/>
                    </a:lnTo>
                    <a:lnTo>
                      <a:pt x="114300" y="133350"/>
                    </a:lnTo>
                    <a:lnTo>
                      <a:pt x="114300" y="57150"/>
                    </a:lnTo>
                    <a:cubicBezTo>
                      <a:pt x="114300" y="25587"/>
                      <a:pt x="88714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639050" y="20193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3" y="76200"/>
                      <a:pt x="76200" y="59142"/>
                      <a:pt x="76200" y="38100"/>
                    </a:cubicBezTo>
                    <a:cubicBezTo>
                      <a:pt x="76200" y="17058"/>
                      <a:pt x="59143" y="0"/>
                      <a:pt x="38100" y="0"/>
                    </a:cubicBezTo>
                    <a:cubicBezTo>
                      <a:pt x="17057" y="0"/>
                      <a:pt x="0" y="17058"/>
                      <a:pt x="0" y="38100"/>
                    </a:cubicBezTo>
                    <a:cubicBezTo>
                      <a:pt x="0" y="59142"/>
                      <a:pt x="17057" y="76200"/>
                      <a:pt x="38100" y="762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7837170" y="2017395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04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831455" y="21593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客群分类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36168" y="25998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双轴 + 等待挖掘维度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Ellipse 88"/>
            <p:cNvSpPr/>
            <p:nvPr/>
          </p:nvSpPr>
          <p:spPr>
            <a:xfrm>
              <a:off x="7481888" y="2900362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607618" y="285702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小白 / 豆包人 / 专业型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Ellipse 90"/>
            <p:cNvSpPr/>
            <p:nvPr/>
          </p:nvSpPr>
          <p:spPr>
            <a:xfrm>
              <a:off x="7481888" y="3138488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07618" y="3095149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强硬 / 协商 / 软弱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81888" y="3376612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607618" y="333327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客户类型 × 诉求矩阵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Ellipse 94"/>
            <p:cNvSpPr/>
            <p:nvPr/>
          </p:nvSpPr>
          <p:spPr>
            <a:xfrm>
              <a:off x="7481888" y="3614738"/>
              <a:ext cx="47625" cy="47625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607618" y="35713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等待挖掘维度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6" name="Line 96"/>
            <p:cNvSpPr/>
            <p:nvPr/>
          </p:nvSpPr>
          <p:spPr>
            <a:xfrm>
              <a:off x="7448550" y="40005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  <a:custDash>
                <a:ds d="300000" sp="300000"/>
              </a:custDash>
            </a:ln>
          </p:spPr>
        </p:sp>
        <p:sp>
          <p:nvSpPr>
            <p:cNvPr id="97" name="Rectangle 97"/>
            <p:cNvSpPr/>
            <p:nvPr/>
          </p:nvSpPr>
          <p:spPr>
            <a:xfrm>
              <a:off x="7448550" y="4152900"/>
              <a:ext cx="1809750" cy="590550"/>
            </a:xfrm>
            <a:prstGeom prst="roundRect">
              <a:avLst>
                <a:gd name="adj" fmla="val 9677"/>
              </a:avLst>
            </a:prstGeom>
            <a:solidFill>
              <a:srgbClr val="E8F7F7"/>
            </a:solidFill>
            <a:ln w="9525">
              <a:solidFill>
                <a:srgbClr val="D9E2EC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928608" y="4254341"/>
              <a:ext cx="849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OUTPUT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857030" y="44777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双轴客群标签</a:t>
              </a:r>
              <a:endParaRPr lang="zh-CN" sz="1050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9544050" y="3152775"/>
            <a:ext cx="2114550" cy="3048000"/>
            <a:chOff x="9544050" y="1857375"/>
            <a:chExt cx="2114550" cy="3048000"/>
          </a:xfrm>
        </p:grpSpPr>
        <p:sp>
          <p:nvSpPr>
            <p:cNvPr id="101" name="Rectangle 101"/>
            <p:cNvSpPr/>
            <p:nvPr/>
          </p:nvSpPr>
          <p:spPr>
            <a:xfrm>
              <a:off x="9544050" y="1857375"/>
              <a:ext cx="2114550" cy="304800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544050" y="1857375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9544050" y="2286000"/>
              <a:ext cx="2114550" cy="123825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04" name="Freeform 104"/>
            <p:cNvSpPr/>
            <p:nvPr/>
          </p:nvSpPr>
          <p:spPr>
            <a:xfrm>
              <a:off x="9715500" y="19812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0085070" y="2017395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05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079355" y="21593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处置策略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684068" y="2599849"/>
              <a:ext cx="15648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分流 + 话术 + 退费力度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9729788" y="2900362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855518" y="2857024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分流建议 / 专项组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9729788" y="3138488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855518" y="30951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外呼话术 / 拒绝方式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9729788" y="3376612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855518" y="333327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退费力度 / 跟进周期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9729788" y="3614738"/>
              <a:ext cx="47625" cy="47625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855518" y="35713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结果反哺模型</a:t>
              </a:r>
              <a:endParaRPr lang="zh-CN" sz="97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6" name="Line 116"/>
            <p:cNvSpPr/>
            <p:nvPr/>
          </p:nvSpPr>
          <p:spPr>
            <a:xfrm>
              <a:off x="9696450" y="40005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  <a:custDash>
                <a:ds d="300000" sp="300000"/>
              </a:custDash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9696450" y="4152900"/>
              <a:ext cx="1809750" cy="590550"/>
            </a:xfrm>
            <a:prstGeom prst="roundRect">
              <a:avLst>
                <a:gd name="adj" fmla="val 9677"/>
              </a:avLst>
            </a:prstGeom>
            <a:solidFill>
              <a:srgbClr val="EAF0F6"/>
            </a:solidFill>
            <a:ln w="9525">
              <a:solidFill>
                <a:srgbClr val="D9E2EC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0176508" y="4254341"/>
              <a:ext cx="849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STAGE OUTPUT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104930" y="44777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闭环反哺数据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2667000" y="4562475"/>
            <a:ext cx="6972300" cy="209550"/>
            <a:chOff x="2667000" y="3267075"/>
            <a:chExt cx="6972300" cy="209550"/>
          </a:xfrm>
        </p:grpSpPr>
        <p:sp>
          <p:nvSpPr>
            <p:cNvPr id="121" name="Freeform 121"/>
            <p:cNvSpPr/>
            <p:nvPr/>
          </p:nvSpPr>
          <p:spPr>
            <a:xfrm>
              <a:off x="2667000" y="3267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95250" y="66675"/>
                  </a:lnTo>
                  <a:lnTo>
                    <a:pt x="95250" y="0"/>
                  </a:lnTo>
                  <a:lnTo>
                    <a:pt x="228600" y="104775"/>
                  </a:lnTo>
                  <a:lnTo>
                    <a:pt x="95250" y="209550"/>
                  </a:lnTo>
                  <a:lnTo>
                    <a:pt x="9525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  <p:sp>
          <p:nvSpPr>
            <p:cNvPr id="122" name="Freeform 122"/>
            <p:cNvSpPr/>
            <p:nvPr/>
          </p:nvSpPr>
          <p:spPr>
            <a:xfrm>
              <a:off x="4914900" y="3267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95250" y="66675"/>
                  </a:lnTo>
                  <a:lnTo>
                    <a:pt x="95250" y="0"/>
                  </a:lnTo>
                  <a:lnTo>
                    <a:pt x="228600" y="104775"/>
                  </a:lnTo>
                  <a:lnTo>
                    <a:pt x="95250" y="209550"/>
                  </a:lnTo>
                  <a:lnTo>
                    <a:pt x="9525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  <p:sp>
          <p:nvSpPr>
            <p:cNvPr id="123" name="Freeform 123"/>
            <p:cNvSpPr/>
            <p:nvPr/>
          </p:nvSpPr>
          <p:spPr>
            <a:xfrm>
              <a:off x="7162800" y="3267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95250" y="66675"/>
                  </a:lnTo>
                  <a:lnTo>
                    <a:pt x="95250" y="0"/>
                  </a:lnTo>
                  <a:lnTo>
                    <a:pt x="228600" y="104775"/>
                  </a:lnTo>
                  <a:lnTo>
                    <a:pt x="95250" y="209550"/>
                  </a:lnTo>
                  <a:lnTo>
                    <a:pt x="9525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  <p:sp>
          <p:nvSpPr>
            <p:cNvPr id="124" name="Freeform 124"/>
            <p:cNvSpPr/>
            <p:nvPr/>
          </p:nvSpPr>
          <p:spPr>
            <a:xfrm>
              <a:off x="9410700" y="3267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95250" y="66675"/>
                  </a:lnTo>
                  <a:lnTo>
                    <a:pt x="95250" y="0"/>
                  </a:lnTo>
                  <a:lnTo>
                    <a:pt x="228600" y="104775"/>
                  </a:lnTo>
                  <a:lnTo>
                    <a:pt x="95250" y="209550"/>
                  </a:lnTo>
                  <a:lnTo>
                    <a:pt x="9525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</p:grpSp>
      <p:grpSp>
        <p:nvGrpSpPr>
          <p:cNvPr id="150" name="Group 150"/>
          <p:cNvGrpSpPr/>
          <p:nvPr/>
        </p:nvGrpSpPr>
        <p:grpSpPr>
          <a:xfrm>
            <a:off x="410210" y="1417320"/>
            <a:ext cx="11353800" cy="1123950"/>
            <a:chOff x="419100" y="5219700"/>
            <a:chExt cx="11353800" cy="1123950"/>
          </a:xfrm>
        </p:grpSpPr>
        <p:sp>
          <p:nvSpPr>
            <p:cNvPr id="126" name="Rectangle 126"/>
            <p:cNvSpPr/>
            <p:nvPr/>
          </p:nvSpPr>
          <p:spPr>
            <a:xfrm>
              <a:off x="419100" y="5219700"/>
              <a:ext cx="11353800" cy="112395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419100" y="52197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grpSp>
          <p:nvGrpSpPr>
            <p:cNvPr id="130" name="Group 130"/>
            <p:cNvGrpSpPr/>
            <p:nvPr/>
          </p:nvGrpSpPr>
          <p:grpSpPr>
            <a:xfrm>
              <a:off x="647700" y="5448300"/>
              <a:ext cx="266700" cy="266700"/>
              <a:chOff x="647700" y="5448300"/>
              <a:chExt cx="266700" cy="2667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681038" y="5448300"/>
                <a:ext cx="23336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16681">
                    <a:moveTo>
                      <a:pt x="133350" y="116681"/>
                    </a:moveTo>
                    <a:lnTo>
                      <a:pt x="116681" y="100012"/>
                    </a:lnTo>
                    <a:lnTo>
                      <a:pt x="154901" y="61793"/>
                    </a:lnTo>
                    <a:lnTo>
                      <a:pt x="145136" y="52029"/>
                    </a:lnTo>
                    <a:cubicBezTo>
                      <a:pt x="133169" y="40061"/>
                      <a:pt x="116937" y="33338"/>
                      <a:pt x="100012" y="33338"/>
                    </a:cubicBezTo>
                    <a:cubicBezTo>
                      <a:pt x="83088" y="33338"/>
                      <a:pt x="66856" y="40061"/>
                      <a:pt x="54888" y="52029"/>
                    </a:cubicBezTo>
                    <a:lnTo>
                      <a:pt x="53459" y="53459"/>
                    </a:lnTo>
                    <a:cubicBezTo>
                      <a:pt x="40575" y="66342"/>
                      <a:pt x="33338" y="83815"/>
                      <a:pt x="33338" y="102035"/>
                    </a:cubicBezTo>
                    <a:lnTo>
                      <a:pt x="33338" y="116681"/>
                    </a:lnTo>
                    <a:lnTo>
                      <a:pt x="0" y="116681"/>
                    </a:lnTo>
                    <a:lnTo>
                      <a:pt x="0" y="102035"/>
                    </a:lnTo>
                    <a:cubicBezTo>
                      <a:pt x="0" y="74974"/>
                      <a:pt x="10750" y="49020"/>
                      <a:pt x="29885" y="29885"/>
                    </a:cubicBezTo>
                    <a:lnTo>
                      <a:pt x="31315" y="28455"/>
                    </a:lnTo>
                    <a:cubicBezTo>
                      <a:pt x="49535" y="10236"/>
                      <a:pt x="74246" y="0"/>
                      <a:pt x="100012" y="0"/>
                    </a:cubicBezTo>
                    <a:cubicBezTo>
                      <a:pt x="125779" y="0"/>
                      <a:pt x="150490" y="10236"/>
                      <a:pt x="168709" y="28455"/>
                    </a:cubicBezTo>
                    <a:lnTo>
                      <a:pt x="178474" y="38220"/>
                    </a:lnTo>
                    <a:lnTo>
                      <a:pt x="216694" y="0"/>
                    </a:lnTo>
                    <a:lnTo>
                      <a:pt x="233362" y="16669"/>
                    </a:lnTo>
                    <a:lnTo>
                      <a:pt x="233362" y="116681"/>
                    </a:lnTo>
                    <a:lnTo>
                      <a:pt x="133350" y="116681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647700" y="5598319"/>
                <a:ext cx="23336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16681">
                    <a:moveTo>
                      <a:pt x="88226" y="64653"/>
                    </a:moveTo>
                    <a:cubicBezTo>
                      <a:pt x="100194" y="76620"/>
                      <a:pt x="116425" y="83344"/>
                      <a:pt x="133350" y="83344"/>
                    </a:cubicBezTo>
                    <a:cubicBezTo>
                      <a:pt x="150275" y="83344"/>
                      <a:pt x="166506" y="76621"/>
                      <a:pt x="178474" y="64653"/>
                    </a:cubicBezTo>
                    <a:lnTo>
                      <a:pt x="179904" y="63223"/>
                    </a:lnTo>
                    <a:cubicBezTo>
                      <a:pt x="192787" y="50340"/>
                      <a:pt x="200025" y="32866"/>
                      <a:pt x="200025" y="14646"/>
                    </a:cubicBezTo>
                    <a:lnTo>
                      <a:pt x="200025" y="0"/>
                    </a:lnTo>
                    <a:lnTo>
                      <a:pt x="233362" y="0"/>
                    </a:lnTo>
                    <a:lnTo>
                      <a:pt x="233362" y="14646"/>
                    </a:lnTo>
                    <a:cubicBezTo>
                      <a:pt x="233362" y="41709"/>
                      <a:pt x="222613" y="67660"/>
                      <a:pt x="203477" y="86796"/>
                    </a:cubicBezTo>
                    <a:lnTo>
                      <a:pt x="202047" y="88226"/>
                    </a:lnTo>
                    <a:cubicBezTo>
                      <a:pt x="183828" y="106445"/>
                      <a:pt x="159117" y="116681"/>
                      <a:pt x="133350" y="116681"/>
                    </a:cubicBezTo>
                    <a:cubicBezTo>
                      <a:pt x="107584" y="116681"/>
                      <a:pt x="82872" y="106445"/>
                      <a:pt x="64653" y="88226"/>
                    </a:cubicBezTo>
                    <a:lnTo>
                      <a:pt x="54888" y="78461"/>
                    </a:lnTo>
                    <a:lnTo>
                      <a:pt x="16669" y="116681"/>
                    </a:lnTo>
                    <a:lnTo>
                      <a:pt x="0" y="100012"/>
                    </a:lnTo>
                    <a:lnTo>
                      <a:pt x="0" y="0"/>
                    </a:lnTo>
                    <a:lnTo>
                      <a:pt x="100012" y="0"/>
                    </a:lnTo>
                    <a:lnTo>
                      <a:pt x="116681" y="16669"/>
                    </a:lnTo>
                    <a:lnTo>
                      <a:pt x="78462" y="54889"/>
                    </a:lnTo>
                    <a:lnTo>
                      <a:pt x="88226" y="64653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31" name="TextBox 131"/>
            <p:cNvSpPr txBox="1"/>
            <p:nvPr/>
          </p:nvSpPr>
          <p:spPr>
            <a:xfrm>
              <a:off x="998220" y="5446395"/>
              <a:ext cx="1616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8A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CLOSED LOOP — 价值映射</a:t>
              </a:r>
              <a:endParaRPr lang="zh-CN" sz="900" b="1" dirty="0">
                <a:solidFill>
                  <a:srgbClr val="1F8A7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57250" y="5723890"/>
              <a:ext cx="265811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压降内</a:t>
              </a:r>
              <a:r>
                <a:rPr lang="zh-CN" altLang="en-US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外部投诉，提升合规水平</a:t>
              </a:r>
              <a:endParaRPr lang="zh-CN" altLang="en-US" sz="12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altLang="en-US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优化退费，差异化退赔，降低处置成本</a:t>
              </a:r>
              <a:endParaRPr lang="zh-CN" altLang="en-US" sz="12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3571875" y="5543550"/>
              <a:ext cx="1905000" cy="590550"/>
            </a:xfrm>
            <a:prstGeom prst="roundRect">
              <a:avLst>
                <a:gd name="adj" fmla="val 12903"/>
              </a:avLst>
            </a:prstGeom>
            <a:solidFill>
              <a:srgbClr val="FFF4ED"/>
            </a:solidFill>
            <a:ln w="9525">
              <a:solidFill>
                <a:srgbClr val="D9E2EC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3719513" y="57150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2" y="228600"/>
                  </a:moveTo>
                  <a:lnTo>
                    <a:pt x="47864" y="191351"/>
                  </a:lnTo>
                  <a:cubicBezTo>
                    <a:pt x="17827" y="169896"/>
                    <a:pt x="0" y="135255"/>
                    <a:pt x="0" y="98342"/>
                  </a:cubicBezTo>
                  <a:lnTo>
                    <a:pt x="0" y="42862"/>
                  </a:lnTo>
                  <a:lnTo>
                    <a:pt x="100012" y="0"/>
                  </a:lnTo>
                  <a:lnTo>
                    <a:pt x="200025" y="42862"/>
                  </a:lnTo>
                  <a:lnTo>
                    <a:pt x="200025" y="98342"/>
                  </a:lnTo>
                  <a:cubicBezTo>
                    <a:pt x="200025" y="135255"/>
                    <a:pt x="182198" y="169896"/>
                    <a:pt x="152160" y="191351"/>
                  </a:cubicBezTo>
                  <a:lnTo>
                    <a:pt x="100012" y="228600"/>
                  </a:lnTo>
                  <a:close/>
                  <a:moveTo>
                    <a:pt x="160121" y="81540"/>
                  </a:moveTo>
                  <a:lnTo>
                    <a:pt x="139916" y="61335"/>
                  </a:lnTo>
                  <a:lnTo>
                    <a:pt x="85725" y="115526"/>
                  </a:lnTo>
                  <a:lnTo>
                    <a:pt x="60109" y="89910"/>
                  </a:lnTo>
                  <a:lnTo>
                    <a:pt x="39903" y="110115"/>
                  </a:lnTo>
                  <a:lnTo>
                    <a:pt x="85725" y="155937"/>
                  </a:lnTo>
                  <a:lnTo>
                    <a:pt x="160121" y="81540"/>
                  </a:ln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3998595" y="5694045"/>
              <a:ext cx="485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VALUE 1</a:t>
              </a:r>
              <a:endParaRPr lang="zh-CN" sz="900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3995737" y="5879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04A0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压降外诉</a:t>
              </a:r>
              <a:endParaRPr lang="zh-CN" sz="1125" b="1" dirty="0">
                <a:solidFill>
                  <a:srgbClr val="D04A0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5627370" y="5543550"/>
              <a:ext cx="1905000" cy="590550"/>
            </a:xfrm>
            <a:prstGeom prst="roundRect">
              <a:avLst>
                <a:gd name="adj" fmla="val 12903"/>
              </a:avLst>
            </a:prstGeom>
            <a:solidFill>
              <a:srgbClr val="EAF0F6"/>
            </a:solidFill>
            <a:ln w="9525">
              <a:solidFill>
                <a:srgbClr val="D9E2EC"/>
              </a:solidFill>
            </a:ln>
          </p:spPr>
        </p:sp>
        <p:grpSp>
          <p:nvGrpSpPr>
            <p:cNvPr id="140" name="Group 140"/>
            <p:cNvGrpSpPr/>
            <p:nvPr/>
          </p:nvGrpSpPr>
          <p:grpSpPr>
            <a:xfrm>
              <a:off x="5760720" y="5715000"/>
              <a:ext cx="228600" cy="228600"/>
              <a:chOff x="5760720" y="5715000"/>
              <a:chExt cx="228600" cy="228600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5817870" y="5772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0"/>
                    </a:moveTo>
                    <a:cubicBezTo>
                      <a:pt x="25587" y="0"/>
                      <a:pt x="0" y="25587"/>
                      <a:pt x="0" y="57150"/>
                    </a:cubicBez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lose/>
                    <a:moveTo>
                      <a:pt x="28575" y="57150"/>
                    </a:moveTo>
                    <a:cubicBezTo>
                      <a:pt x="28575" y="41368"/>
                      <a:pt x="41368" y="28575"/>
                      <a:pt x="57150" y="28575"/>
                    </a:cubicBezTo>
                    <a:cubicBezTo>
                      <a:pt x="72932" y="28575"/>
                      <a:pt x="85725" y="41368"/>
                      <a:pt x="85725" y="57150"/>
                    </a:cubicBezTo>
                    <a:cubicBezTo>
                      <a:pt x="85725" y="72932"/>
                      <a:pt x="72932" y="85725"/>
                      <a:pt x="57150" y="85725"/>
                    </a:cubicBezTo>
                    <a:cubicBezTo>
                      <a:pt x="41368" y="85725"/>
                      <a:pt x="28575" y="72932"/>
                      <a:pt x="28575" y="57150"/>
                    </a:cubicBezTo>
                    <a:close/>
                  </a:path>
                </a:pathLst>
              </a:custGeom>
              <a:solidFill>
                <a:srgbClr val="1E3A5F"/>
              </a:solidFill>
              <a:ln>
                <a:noFill/>
              </a:ln>
            </p:spPr>
          </p:sp>
          <p:sp>
            <p:nvSpPr>
              <p:cNvPr id="139" name="Freeform 139"/>
              <p:cNvSpPr/>
              <p:nvPr/>
            </p:nvSpPr>
            <p:spPr>
              <a:xfrm>
                <a:off x="5760720" y="57150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0"/>
                    </a:move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lose/>
                    <a:moveTo>
                      <a:pt x="28575" y="114300"/>
                    </a:moveTo>
                    <a:cubicBezTo>
                      <a:pt x="28575" y="66955"/>
                      <a:pt x="66955" y="28575"/>
                      <a:pt x="114300" y="28575"/>
                    </a:cubicBezTo>
                    <a:cubicBezTo>
                      <a:pt x="161644" y="28575"/>
                      <a:pt x="200025" y="66955"/>
                      <a:pt x="200025" y="114300"/>
                    </a:cubicBezTo>
                    <a:cubicBezTo>
                      <a:pt x="200025" y="161644"/>
                      <a:pt x="161644" y="200025"/>
                      <a:pt x="114300" y="200025"/>
                    </a:cubicBezTo>
                    <a:cubicBezTo>
                      <a:pt x="66955" y="200025"/>
                      <a:pt x="28575" y="161644"/>
                      <a:pt x="28575" y="114300"/>
                    </a:cubicBezTo>
                    <a:close/>
                  </a:path>
                </a:pathLst>
              </a:custGeom>
              <a:solidFill>
                <a:srgbClr val="1E3A5F"/>
              </a:solidFill>
              <a:ln>
                <a:noFill/>
              </a:ln>
            </p:spPr>
          </p:sp>
        </p:grpSp>
        <p:sp>
          <p:nvSpPr>
            <p:cNvPr id="141" name="TextBox 141"/>
            <p:cNvSpPr txBox="1"/>
            <p:nvPr/>
          </p:nvSpPr>
          <p:spPr>
            <a:xfrm>
              <a:off x="6054090" y="569404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VALUE 2</a:t>
              </a:r>
              <a:endParaRPr lang="zh-CN" sz="900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6051232" y="5879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优化退费</a:t>
              </a:r>
              <a:endParaRPr lang="zh-CN" sz="112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7639050" y="5543550"/>
              <a:ext cx="1905000" cy="590550"/>
            </a:xfrm>
            <a:prstGeom prst="roundRect">
              <a:avLst>
                <a:gd name="adj" fmla="val 12903"/>
              </a:avLst>
            </a:prstGeom>
            <a:solidFill>
              <a:srgbClr val="E8F7F7"/>
            </a:solidFill>
            <a:ln w="9525">
              <a:solidFill>
                <a:srgbClr val="D9E2EC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7800975" y="57150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164306"/>
                  </a:moveTo>
                  <a:lnTo>
                    <a:pt x="42862" y="207169"/>
                  </a:lnTo>
                  <a:lnTo>
                    <a:pt x="64294" y="228600"/>
                  </a:lnTo>
                  <a:lnTo>
                    <a:pt x="107156" y="228600"/>
                  </a:lnTo>
                  <a:lnTo>
                    <a:pt x="128588" y="207169"/>
                  </a:lnTo>
                  <a:lnTo>
                    <a:pt x="128588" y="164306"/>
                  </a:lnTo>
                  <a:lnTo>
                    <a:pt x="146298" y="146595"/>
                  </a:lnTo>
                  <a:cubicBezTo>
                    <a:pt x="162403" y="130491"/>
                    <a:pt x="171450" y="108605"/>
                    <a:pt x="171450" y="85830"/>
                  </a:cubicBezTo>
                  <a:cubicBezTo>
                    <a:pt x="171450" y="38486"/>
                    <a:pt x="133069" y="0"/>
                    <a:pt x="85725" y="0"/>
                  </a:cubicBezTo>
                  <a:cubicBezTo>
                    <a:pt x="38380" y="0"/>
                    <a:pt x="0" y="38486"/>
                    <a:pt x="0" y="85830"/>
                  </a:cubicBezTo>
                  <a:cubicBezTo>
                    <a:pt x="0" y="108605"/>
                    <a:pt x="9047" y="130491"/>
                    <a:pt x="25152" y="146595"/>
                  </a:cubicBezTo>
                  <a:lnTo>
                    <a:pt x="42862" y="164306"/>
                  </a:lnTo>
                  <a:close/>
                  <a:moveTo>
                    <a:pt x="71438" y="141074"/>
                  </a:moveTo>
                  <a:lnTo>
                    <a:pt x="71438" y="85725"/>
                  </a:lnTo>
                  <a:lnTo>
                    <a:pt x="100012" y="85725"/>
                  </a:lnTo>
                  <a:lnTo>
                    <a:pt x="100012" y="141074"/>
                  </a:lnTo>
                  <a:cubicBezTo>
                    <a:pt x="124661" y="134730"/>
                    <a:pt x="142875" y="112355"/>
                    <a:pt x="142875" y="85725"/>
                  </a:cubicBezTo>
                  <a:cubicBezTo>
                    <a:pt x="142875" y="54162"/>
                    <a:pt x="117288" y="28575"/>
                    <a:pt x="85725" y="28575"/>
                  </a:cubicBezTo>
                  <a:cubicBezTo>
                    <a:pt x="54162" y="28575"/>
                    <a:pt x="28575" y="54162"/>
                    <a:pt x="28575" y="85725"/>
                  </a:cubicBezTo>
                  <a:cubicBezTo>
                    <a:pt x="28575" y="112355"/>
                    <a:pt x="46788" y="134730"/>
                    <a:pt x="71438" y="141074"/>
                  </a:cubicBez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8065770" y="569404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VALUE 3</a:t>
              </a:r>
              <a:endParaRPr lang="zh-CN" sz="900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8062912" y="5879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沉淀经验</a:t>
              </a:r>
              <a:endParaRPr lang="zh-CN" sz="1125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7" name="Freeform 147"/>
            <p:cNvSpPr/>
            <p:nvPr/>
          </p:nvSpPr>
          <p:spPr>
            <a:xfrm>
              <a:off x="9696450" y="5667375"/>
              <a:ext cx="590550" cy="323850"/>
            </a:xfrm>
            <a:custGeom>
              <a:avLst/>
              <a:gdLst/>
              <a:ahLst/>
              <a:cxnLst/>
              <a:rect l="l" t="t" r="r" b="b"/>
              <a:pathLst>
                <a:path w="590550" h="323850">
                  <a:moveTo>
                    <a:pt x="0" y="95250"/>
                  </a:moveTo>
                  <a:lnTo>
                    <a:pt x="381000" y="95250"/>
                  </a:lnTo>
                  <a:lnTo>
                    <a:pt x="381000" y="0"/>
                  </a:lnTo>
                  <a:lnTo>
                    <a:pt x="590550" y="161925"/>
                  </a:lnTo>
                  <a:lnTo>
                    <a:pt x="381000" y="323850"/>
                  </a:lnTo>
                  <a:lnTo>
                    <a:pt x="381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F8A70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10465118" y="5724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8A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回流模型</a:t>
              </a:r>
              <a:endParaRPr lang="zh-CN" sz="975" b="1" dirty="0">
                <a:solidFill>
                  <a:srgbClr val="1F8A7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0467022" y="59116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数据闭环</a:t>
              </a:r>
              <a:endParaRPr lang="zh-CN" sz="825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408622" y="6524625"/>
            <a:ext cx="11374755" cy="259556"/>
            <a:chOff x="408622" y="6524625"/>
            <a:chExt cx="11374755" cy="259556"/>
          </a:xfrm>
        </p:grpSpPr>
        <p:sp>
          <p:nvSpPr>
            <p:cNvPr id="151" name="Line 151"/>
            <p:cNvSpPr/>
            <p:nvPr/>
          </p:nvSpPr>
          <p:spPr>
            <a:xfrm>
              <a:off x="419100" y="6524625"/>
              <a:ext cx="11353800" cy="9525"/>
            </a:xfrm>
            <a:custGeom>
              <a:avLst/>
              <a:gdLst/>
              <a:ahLst/>
              <a:cxnLst/>
              <a:rect l="l" t="t" r="r" b="b"/>
              <a:pathLst>
                <a:path w="11353800" h="9525">
                  <a:moveTo>
                    <a:pt x="0" y="0"/>
                  </a:moveTo>
                  <a:lnTo>
                    <a:pt x="1135380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408622" y="6616541"/>
              <a:ext cx="17138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8A2B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客诉专项 · v2 · 2026-05-09</a:t>
              </a:r>
              <a:endParaRPr lang="zh-CN" sz="825" dirty="0">
                <a:solidFill>
                  <a:srgbClr val="98A2B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1286482" y="6616541"/>
              <a:ext cx="4968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8A2B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 01 / 02</a:t>
              </a:r>
              <a:endParaRPr lang="zh-CN" sz="825" dirty="0">
                <a:solidFill>
                  <a:srgbClr val="98A2B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156" name="图片 155" descr="icons8-下降-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960" y="1795780"/>
            <a:ext cx="326390" cy="326390"/>
          </a:xfrm>
          <a:prstGeom prst="rect">
            <a:avLst/>
          </a:prstGeom>
        </p:spPr>
      </p:pic>
      <p:pic>
        <p:nvPicPr>
          <p:cNvPr id="157" name="图片 156" descr="icons8-下降-4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6687185" y="1814830"/>
            <a:ext cx="326390" cy="326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34" grpId="0"/>
      <p:bldP spid="54" grpId="0"/>
      <p:bldP spid="76" grpId="0"/>
      <p:bldP spid="100" grpId="0"/>
      <p:bldP spid="120" grpId="0"/>
      <p:bldP spid="125" grpId="0"/>
      <p:bldP spid="1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1E3A5F"/>
                </a:gs>
                <a:gs pos="100000">
                  <a:srgbClr val="00A6A6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94335" y="246698"/>
            <a:ext cx="5222877" cy="551021"/>
            <a:chOff x="394335" y="246698"/>
            <a:chExt cx="5222877" cy="551021"/>
          </a:xfrm>
        </p:grpSpPr>
        <p:sp>
          <p:nvSpPr>
            <p:cNvPr id="5" name="TextBox 5"/>
            <p:cNvSpPr txBox="1"/>
            <p:nvPr/>
          </p:nvSpPr>
          <p:spPr>
            <a:xfrm>
              <a:off x="394335" y="246698"/>
              <a:ext cx="522287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任务拆解 — 双链路并行 · 横向比较收口</a:t>
              </a:r>
              <a:endParaRPr lang="zh-CN" sz="19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6718" y="599599"/>
              <a:ext cx="4517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 1 + CHAIN 2 — CROSS-CHAIN COMPARISON — 4-STAGE CADENCE</a:t>
              </a:r>
              <a:endParaRPr lang="zh-CN" sz="97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9100" y="857250"/>
            <a:ext cx="11353800" cy="381000"/>
            <a:chOff x="419100" y="857250"/>
            <a:chExt cx="11353800" cy="381000"/>
          </a:xfrm>
        </p:grpSpPr>
        <p:sp>
          <p:nvSpPr>
            <p:cNvPr id="8" name="Rectangle 8"/>
            <p:cNvSpPr/>
            <p:nvPr/>
          </p:nvSpPr>
          <p:spPr>
            <a:xfrm>
              <a:off x="419100" y="857250"/>
              <a:ext cx="11353800" cy="381000"/>
            </a:xfrm>
            <a:prstGeom prst="roundRect">
              <a:avLst>
                <a:gd name="adj" fmla="val 15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312" y="983456"/>
              <a:ext cx="56972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业务知识链路 + 大模型自动挖掘链路并行跑 — </a:t>
              </a:r>
              <a:r>
                <a:rPr lang="zh-CN" sz="1125" b="1" dirty="0">
                  <a:solidFill>
                    <a:srgbClr val="7FE3E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两路结论对齐互相印证，</a:t>
              </a:r>
              <a:r>
                <a:rPr lang="zh-CN" sz="1125" b="1" dirty="0">
                  <a:solidFill>
                    <a:srgbClr val="7FE3E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形成统一客群体系</a:t>
              </a:r>
              <a:endParaRPr lang="zh-CN" sz="1125" b="1" dirty="0">
                <a:solidFill>
                  <a:srgbClr val="7FE3E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82056" y="1314450"/>
            <a:ext cx="9187956" cy="1809750"/>
            <a:chOff x="-82056" y="1314450"/>
            <a:chExt cx="9187956" cy="1809750"/>
          </a:xfrm>
        </p:grpSpPr>
        <p:sp>
          <p:nvSpPr>
            <p:cNvPr id="11" name="Rectangle 11"/>
            <p:cNvSpPr/>
            <p:nvPr/>
          </p:nvSpPr>
          <p:spPr>
            <a:xfrm>
              <a:off x="419100" y="1314450"/>
              <a:ext cx="552450" cy="1809750"/>
            </a:xfrm>
            <a:prstGeom prst="roundRect">
              <a:avLst>
                <a:gd name="adj" fmla="val 10345"/>
              </a:avLst>
            </a:prstGeom>
            <a:solidFill>
              <a:srgbClr val="E8F7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 rot="-5400000">
              <a:off x="-82056" y="2120265"/>
              <a:ext cx="1542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链路一 · 业务知识洞察</a:t>
              </a:r>
              <a:endParaRPr lang="zh-CN" sz="975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09650" y="1314450"/>
              <a:ext cx="8096250" cy="209550"/>
            </a:xfrm>
            <a:prstGeom prst="roundRect">
              <a:avLst>
                <a:gd name="adj" fmla="val 27273"/>
              </a:avLst>
            </a:prstGeom>
            <a:solidFill>
              <a:srgbClr val="E8F7F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4422" y="1368266"/>
              <a:ext cx="26398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 1 — EXPERT-KNOWLEDGE-DRIVEN INSIGHT</a:t>
              </a:r>
              <a:endParaRPr lang="zh-CN" sz="825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700" y="1543050"/>
            <a:ext cx="1828800" cy="1571625"/>
            <a:chOff x="1028700" y="1543050"/>
            <a:chExt cx="1828800" cy="1571625"/>
          </a:xfrm>
        </p:grpSpPr>
        <p:sp>
          <p:nvSpPr>
            <p:cNvPr id="16" name="Rectangle 16"/>
            <p:cNvSpPr/>
            <p:nvPr/>
          </p:nvSpPr>
          <p:spPr>
            <a:xfrm>
              <a:off x="1028700" y="1543050"/>
              <a:ext cx="1828800" cy="15716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28700" y="1543050"/>
              <a:ext cx="1828800" cy="266700"/>
            </a:xfrm>
            <a:prstGeom prst="roundRect">
              <a:avLst>
                <a:gd name="adj" fmla="val 35714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28700" y="1714500"/>
              <a:ext cx="1828800" cy="9525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3475" y="1643062"/>
              <a:ext cx="36409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NODE 1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171575" y="19050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164306"/>
                  </a:moveTo>
                  <a:lnTo>
                    <a:pt x="42862" y="207169"/>
                  </a:lnTo>
                  <a:lnTo>
                    <a:pt x="64294" y="228600"/>
                  </a:lnTo>
                  <a:lnTo>
                    <a:pt x="107156" y="228600"/>
                  </a:lnTo>
                  <a:lnTo>
                    <a:pt x="128588" y="207169"/>
                  </a:lnTo>
                  <a:lnTo>
                    <a:pt x="128588" y="164306"/>
                  </a:lnTo>
                  <a:lnTo>
                    <a:pt x="146298" y="146595"/>
                  </a:lnTo>
                  <a:cubicBezTo>
                    <a:pt x="162403" y="130491"/>
                    <a:pt x="171450" y="108605"/>
                    <a:pt x="171450" y="85830"/>
                  </a:cubicBezTo>
                  <a:cubicBezTo>
                    <a:pt x="171450" y="38486"/>
                    <a:pt x="133069" y="0"/>
                    <a:pt x="85725" y="0"/>
                  </a:cubicBezTo>
                  <a:cubicBezTo>
                    <a:pt x="38380" y="0"/>
                    <a:pt x="0" y="38486"/>
                    <a:pt x="0" y="85830"/>
                  </a:cubicBezTo>
                  <a:cubicBezTo>
                    <a:pt x="0" y="108605"/>
                    <a:pt x="9047" y="130491"/>
                    <a:pt x="25152" y="146595"/>
                  </a:cubicBezTo>
                  <a:lnTo>
                    <a:pt x="42862" y="164306"/>
                  </a:lnTo>
                  <a:close/>
                  <a:moveTo>
                    <a:pt x="71438" y="141074"/>
                  </a:moveTo>
                  <a:lnTo>
                    <a:pt x="71438" y="85725"/>
                  </a:lnTo>
                  <a:lnTo>
                    <a:pt x="100012" y="85725"/>
                  </a:lnTo>
                  <a:lnTo>
                    <a:pt x="100012" y="141074"/>
                  </a:lnTo>
                  <a:cubicBezTo>
                    <a:pt x="124661" y="134730"/>
                    <a:pt x="142875" y="112355"/>
                    <a:pt x="142875" y="85725"/>
                  </a:cubicBezTo>
                  <a:cubicBezTo>
                    <a:pt x="142875" y="54162"/>
                    <a:pt x="117288" y="28575"/>
                    <a:pt x="85725" y="28575"/>
                  </a:cubicBezTo>
                  <a:cubicBezTo>
                    <a:pt x="54162" y="28575"/>
                    <a:pt x="28575" y="54162"/>
                    <a:pt x="28575" y="85725"/>
                  </a:cubicBezTo>
                  <a:cubicBezTo>
                    <a:pt x="28575" y="112355"/>
                    <a:pt x="46788" y="134730"/>
                    <a:pt x="71438" y="141074"/>
                  </a:cubicBez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34465" y="1963102"/>
              <a:ext cx="1338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 + 专家知识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2522" y="2235041"/>
              <a:ext cx="11234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客诉分类 / 风险信号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2522" y="2368391"/>
              <a:ext cx="11234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退费经验 / 坐席话术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2522" y="25017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标签 + 提示词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143000" y="2828925"/>
              <a:ext cx="666750" cy="211931"/>
              <a:chOff x="1143000" y="2828925"/>
              <a:chExt cx="666750" cy="211931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143000" y="2828925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1209675" y="2895600"/>
                <a:ext cx="57150" cy="5715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303972" y="287321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李怡静</a:t>
                </a:r>
                <a:endParaRPr lang="zh-CN" sz="82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3067050" y="1543050"/>
            <a:ext cx="1828800" cy="1571625"/>
            <a:chOff x="3067050" y="1543050"/>
            <a:chExt cx="1828800" cy="1571625"/>
          </a:xfrm>
        </p:grpSpPr>
        <p:sp>
          <p:nvSpPr>
            <p:cNvPr id="30" name="Rectangle 30"/>
            <p:cNvSpPr/>
            <p:nvPr/>
          </p:nvSpPr>
          <p:spPr>
            <a:xfrm>
              <a:off x="3067050" y="1543050"/>
              <a:ext cx="1828800" cy="15716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67050" y="1543050"/>
              <a:ext cx="1828800" cy="266700"/>
            </a:xfrm>
            <a:prstGeom prst="roundRect">
              <a:avLst>
                <a:gd name="adj" fmla="val 35714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67050" y="1714500"/>
              <a:ext cx="1828800" cy="9525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71825" y="1643062"/>
              <a:ext cx="3928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NODE 2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3195638" y="1919288"/>
              <a:ext cx="200025" cy="200025"/>
              <a:chOff x="3195638" y="191928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3195638" y="19192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171450"/>
                    </a:lnTo>
                    <a:lnTo>
                      <a:pt x="28575" y="171450"/>
                    </a:lnTo>
                    <a:lnTo>
                      <a:pt x="285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252788" y="1947862"/>
                <a:ext cx="142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430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71438" y="71438"/>
                    </a:lnTo>
                    <a:lnTo>
                      <a:pt x="142875" y="0"/>
                    </a:lnTo>
                    <a:lnTo>
                      <a:pt x="142875" y="114300"/>
                    </a:lnTo>
                    <a:lnTo>
                      <a:pt x="0" y="11430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472815" y="19631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用户行为洞察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70872" y="2235041"/>
              <a:ext cx="12620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诉求 / 情绪 / 沟通方式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70872" y="2368391"/>
              <a:ext cx="11234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反复进线 / 退费预期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70872" y="2501741"/>
              <a:ext cx="9668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客户级行为画像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3181350" y="2828925"/>
              <a:ext cx="666750" cy="211931"/>
              <a:chOff x="3181350" y="2828925"/>
              <a:chExt cx="666750" cy="211931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3181350" y="2828925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3248025" y="2895600"/>
                <a:ext cx="57150" cy="5715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342322" y="287321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李怡静</a:t>
                </a:r>
                <a:endParaRPr lang="zh-CN" sz="82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5105400" y="1543050"/>
            <a:ext cx="1828800" cy="742950"/>
            <a:chOff x="5105400" y="1543050"/>
            <a:chExt cx="1828800" cy="742950"/>
          </a:xfrm>
        </p:grpSpPr>
        <p:sp>
          <p:nvSpPr>
            <p:cNvPr id="46" name="Rectangle 46"/>
            <p:cNvSpPr/>
            <p:nvPr/>
          </p:nvSpPr>
          <p:spPr>
            <a:xfrm>
              <a:off x="5105400" y="1543050"/>
              <a:ext cx="18288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4288">
              <a:solidFill>
                <a:srgbClr val="00A6A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105400" y="1543050"/>
              <a:ext cx="38100" cy="742950"/>
            </a:xfrm>
            <a:prstGeom prst="roundRect">
              <a:avLst>
                <a:gd name="adj" fmla="val 50000"/>
              </a:avLst>
            </a:prstGeom>
            <a:solidFill>
              <a:srgbClr val="00A6A6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219700" y="1631156"/>
              <a:ext cx="190500" cy="166688"/>
              <a:chOff x="5219700" y="1631156"/>
              <a:chExt cx="190500" cy="1666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255419" y="1631156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59531" y="29766"/>
                    </a:moveTo>
                    <a:cubicBezTo>
                      <a:pt x="59531" y="46205"/>
                      <a:pt x="46205" y="59531"/>
                      <a:pt x="29766" y="59531"/>
                    </a:cubicBezTo>
                    <a:cubicBezTo>
                      <a:pt x="13327" y="59531"/>
                      <a:pt x="0" y="46205"/>
                      <a:pt x="0" y="29766"/>
                    </a:cubicBezTo>
                    <a:cubicBezTo>
                      <a:pt x="0" y="13327"/>
                      <a:pt x="13327" y="0"/>
                      <a:pt x="29766" y="0"/>
                    </a:cubicBezTo>
                    <a:cubicBezTo>
                      <a:pt x="46205" y="0"/>
                      <a:pt x="59531" y="13327"/>
                      <a:pt x="59531" y="29766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219700" y="1714500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35719" y="0"/>
                    </a:moveTo>
                    <a:cubicBezTo>
                      <a:pt x="15992" y="0"/>
                      <a:pt x="0" y="15992"/>
                      <a:pt x="0" y="35719"/>
                    </a:cubicBezTo>
                    <a:lnTo>
                      <a:pt x="0" y="83344"/>
                    </a:lnTo>
                    <a:lnTo>
                      <a:pt x="95250" y="83344"/>
                    </a:lnTo>
                    <a:lnTo>
                      <a:pt x="95250" y="0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338762" y="1714500"/>
                <a:ext cx="7143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83344">
                    <a:moveTo>
                      <a:pt x="35719" y="0"/>
                    </a:moveTo>
                    <a:lnTo>
                      <a:pt x="0" y="0"/>
                    </a:lnTo>
                    <a:lnTo>
                      <a:pt x="0" y="83344"/>
                    </a:lnTo>
                    <a:lnTo>
                      <a:pt x="71438" y="83344"/>
                    </a:lnTo>
                    <a:lnTo>
                      <a:pt x="71438" y="35719"/>
                    </a:lnTo>
                    <a:cubicBezTo>
                      <a:pt x="71438" y="15992"/>
                      <a:pt x="55446" y="0"/>
                      <a:pt x="35719" y="0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338762" y="16430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454968" y="1647349"/>
              <a:ext cx="99568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专家</a:t>
              </a:r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知识分群洞察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09222" y="1873091"/>
              <a:ext cx="13825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专业性 × 诉求 × 风险维度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5219700" y="2038350"/>
              <a:ext cx="666750" cy="211931"/>
              <a:chOff x="5219700" y="2038350"/>
              <a:chExt cx="666750" cy="211931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5219700" y="2038350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5286375" y="2105025"/>
                <a:ext cx="57150" cy="5715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5380672" y="2082641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李怡静</a:t>
                </a:r>
                <a:endParaRPr lang="zh-CN" sz="82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5105400" y="2371725"/>
            <a:ext cx="1828800" cy="742950"/>
            <a:chOff x="5105400" y="2371725"/>
            <a:chExt cx="1828800" cy="742950"/>
          </a:xfrm>
        </p:grpSpPr>
        <p:sp>
          <p:nvSpPr>
            <p:cNvPr id="60" name="Rectangle 60"/>
            <p:cNvSpPr/>
            <p:nvPr/>
          </p:nvSpPr>
          <p:spPr>
            <a:xfrm>
              <a:off x="5105400" y="2371725"/>
              <a:ext cx="1828800" cy="742950"/>
            </a:xfrm>
            <a:prstGeom prst="roundRect">
              <a:avLst>
                <a:gd name="adj" fmla="val 10256"/>
              </a:avLst>
            </a:prstGeom>
            <a:solidFill>
              <a:srgbClr val="FFF4ED"/>
            </a:solidFill>
            <a:ln w="14288">
              <a:solidFill>
                <a:srgbClr val="D04A02"/>
              </a:solidFill>
              <a:custDash>
                <a:ds d="333333" sp="200000"/>
              </a:custDash>
            </a:ln>
          </p:spPr>
        </p:sp>
        <p:sp>
          <p:nvSpPr>
            <p:cNvPr id="61" name="Rectangle 61"/>
            <p:cNvSpPr/>
            <p:nvPr/>
          </p:nvSpPr>
          <p:spPr>
            <a:xfrm>
              <a:off x="6515100" y="2447925"/>
              <a:ext cx="342900" cy="152400"/>
            </a:xfrm>
            <a:prstGeom prst="roundRect">
              <a:avLst>
                <a:gd name="adj" fmla="val 50000"/>
              </a:avLst>
            </a:prstGeom>
            <a:solidFill>
              <a:srgbClr val="D04A0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62011" y="2481262"/>
              <a:ext cx="2490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短接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5219700" y="2447925"/>
              <a:ext cx="190500" cy="190500"/>
              <a:chOff x="5219700" y="2447925"/>
              <a:chExt cx="190500" cy="1905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5219700" y="24479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48828"/>
                    </a:moveTo>
                    <a:lnTo>
                      <a:pt x="41672" y="190500"/>
                    </a:lnTo>
                    <a:lnTo>
                      <a:pt x="95250" y="130969"/>
                    </a:lnTo>
                    <a:lnTo>
                      <a:pt x="119062" y="71438"/>
                    </a:lnTo>
                    <a:lnTo>
                      <a:pt x="190500" y="17859"/>
                    </a:lnTo>
                    <a:lnTo>
                      <a:pt x="172641" y="0"/>
                    </a:lnTo>
                    <a:lnTo>
                      <a:pt x="95250" y="47625"/>
                    </a:lnTo>
                    <a:lnTo>
                      <a:pt x="77391" y="83344"/>
                    </a:lnTo>
                    <a:lnTo>
                      <a:pt x="0" y="148828"/>
                    </a:ln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338762" y="2602706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11906" y="23812"/>
                    </a:move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0"/>
                      <a:pt x="18482" y="0"/>
                      <a:pt x="11906" y="0"/>
                    </a:cubicBezTo>
                    <a:cubicBezTo>
                      <a:pt x="5330" y="0"/>
                      <a:pt x="0" y="5330"/>
                      <a:pt x="0" y="11906"/>
                    </a:cubicBezTo>
                    <a:cubicBezTo>
                      <a:pt x="0" y="18482"/>
                      <a:pt x="5330" y="23812"/>
                      <a:pt x="11906" y="23812"/>
                    </a:cubicBez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362575" y="25312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lnTo>
                      <a:pt x="23812" y="0"/>
                    </a:lnTo>
                    <a:lnTo>
                      <a:pt x="47625" y="23812"/>
                    </a:lnTo>
                    <a:lnTo>
                      <a:pt x="23812" y="47625"/>
                    </a:lnTo>
                    <a:lnTo>
                      <a:pt x="0" y="23812"/>
                    </a:ln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243512" y="2471738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17859" y="0"/>
                    </a:moveTo>
                    <a:lnTo>
                      <a:pt x="0" y="17859"/>
                    </a:lnTo>
                    <a:lnTo>
                      <a:pt x="17859" y="35719"/>
                    </a:lnTo>
                    <a:lnTo>
                      <a:pt x="35719" y="17859"/>
                    </a:lnTo>
                    <a:lnTo>
                      <a:pt x="17859" y="0"/>
                    </a:ln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454968" y="24760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大模型直接分群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09222" y="2701766"/>
              <a:ext cx="9848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不受专家框架约束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5219700" y="2867025"/>
              <a:ext cx="666750" cy="211931"/>
              <a:chOff x="5219700" y="2867025"/>
              <a:chExt cx="666750" cy="211931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5219700" y="2867025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04A02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5286375" y="2933700"/>
                <a:ext cx="57150" cy="57150"/>
              </a:xfrm>
              <a:prstGeom prst="ellipse">
                <a:avLst/>
              </a:prstGeom>
              <a:solidFill>
                <a:srgbClr val="D04A02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5380672" y="291131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D04A0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李怡静</a:t>
                </a:r>
                <a:endParaRPr lang="zh-CN" sz="825" b="1" dirty="0">
                  <a:solidFill>
                    <a:srgbClr val="D04A0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7143750" y="1543050"/>
            <a:ext cx="1828800" cy="1571625"/>
            <a:chOff x="7143750" y="1543050"/>
            <a:chExt cx="1828800" cy="1571625"/>
          </a:xfrm>
        </p:grpSpPr>
        <p:sp>
          <p:nvSpPr>
            <p:cNvPr id="75" name="Rectangle 75"/>
            <p:cNvSpPr/>
            <p:nvPr/>
          </p:nvSpPr>
          <p:spPr>
            <a:xfrm>
              <a:off x="7143750" y="1543050"/>
              <a:ext cx="1828800" cy="15716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143750" y="1543050"/>
              <a:ext cx="1828800" cy="266700"/>
            </a:xfrm>
            <a:prstGeom prst="roundRect">
              <a:avLst>
                <a:gd name="adj" fmla="val 35714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143750" y="1714500"/>
              <a:ext cx="1828800" cy="9525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48525" y="1643062"/>
              <a:ext cx="3928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NODE 4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Freeform 79"/>
            <p:cNvSpPr/>
            <p:nvPr/>
          </p:nvSpPr>
          <p:spPr>
            <a:xfrm>
              <a:off x="7258050" y="1905000"/>
              <a:ext cx="224415" cy="224415"/>
            </a:xfrm>
            <a:custGeom>
              <a:avLst/>
              <a:gdLst/>
              <a:ahLst/>
              <a:cxnLst/>
              <a:rect l="l" t="t" r="r" b="b"/>
              <a:pathLst>
                <a:path w="224415" h="224415">
                  <a:moveTo>
                    <a:pt x="159909" y="180114"/>
                  </a:moveTo>
                  <a:cubicBezTo>
                    <a:pt x="143212" y="192618"/>
                    <a:pt x="122477" y="200025"/>
                    <a:pt x="100012" y="200025"/>
                  </a:cubicBezTo>
                  <a:cubicBezTo>
                    <a:pt x="44777" y="200025"/>
                    <a:pt x="0" y="155248"/>
                    <a:pt x="0" y="100012"/>
                  </a:cubicBezTo>
                  <a:cubicBezTo>
                    <a:pt x="0" y="44777"/>
                    <a:pt x="44777" y="0"/>
                    <a:pt x="100012" y="0"/>
                  </a:cubicBezTo>
                  <a:cubicBezTo>
                    <a:pt x="155248" y="0"/>
                    <a:pt x="200025" y="44777"/>
                    <a:pt x="200025" y="100012"/>
                  </a:cubicBezTo>
                  <a:cubicBezTo>
                    <a:pt x="200025" y="122477"/>
                    <a:pt x="192618" y="143212"/>
                    <a:pt x="180114" y="159909"/>
                  </a:cubicBezTo>
                  <a:lnTo>
                    <a:pt x="224415" y="204210"/>
                  </a:lnTo>
                  <a:lnTo>
                    <a:pt x="204210" y="224415"/>
                  </a:lnTo>
                  <a:lnTo>
                    <a:pt x="159909" y="180114"/>
                  </a:lnTo>
                  <a:close/>
                  <a:moveTo>
                    <a:pt x="79807" y="120218"/>
                  </a:moveTo>
                  <a:lnTo>
                    <a:pt x="59601" y="140424"/>
                  </a:lnTo>
                  <a:cubicBezTo>
                    <a:pt x="37283" y="118105"/>
                    <a:pt x="37283" y="81920"/>
                    <a:pt x="59601" y="59601"/>
                  </a:cubicBezTo>
                  <a:cubicBezTo>
                    <a:pt x="81920" y="37283"/>
                    <a:pt x="118105" y="37283"/>
                    <a:pt x="140424" y="59601"/>
                  </a:cubicBezTo>
                  <a:lnTo>
                    <a:pt x="120218" y="79807"/>
                  </a:lnTo>
                  <a:cubicBezTo>
                    <a:pt x="109059" y="68648"/>
                    <a:pt x="90966" y="68648"/>
                    <a:pt x="79807" y="79807"/>
                  </a:cubicBezTo>
                  <a:cubicBezTo>
                    <a:pt x="68648" y="90966"/>
                    <a:pt x="68648" y="109059"/>
                    <a:pt x="79807" y="120218"/>
                  </a:cubicBez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549515" y="19631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分群下钻分析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247572" y="2235041"/>
              <a:ext cx="11174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Top 诉求 / 典型话术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247572" y="2368391"/>
              <a:ext cx="12439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风险触发 / 退费敏感度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247572" y="2501741"/>
              <a:ext cx="8463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分群处置策略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7258050" y="2828925"/>
              <a:ext cx="666750" cy="211931"/>
              <a:chOff x="7258050" y="2828925"/>
              <a:chExt cx="666750" cy="211931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7258050" y="2828925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7324725" y="2895600"/>
                <a:ext cx="57150" cy="5715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419022" y="287321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李怡静</a:t>
                </a:r>
                <a:endParaRPr lang="zh-CN" sz="82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93" name="Group 93"/>
          <p:cNvGrpSpPr/>
          <p:nvPr/>
        </p:nvGrpSpPr>
        <p:grpSpPr>
          <a:xfrm>
            <a:off x="-7297" y="3371850"/>
            <a:ext cx="9113197" cy="1809750"/>
            <a:chOff x="-7297" y="3371850"/>
            <a:chExt cx="9113197" cy="1809750"/>
          </a:xfrm>
        </p:grpSpPr>
        <p:sp>
          <p:nvSpPr>
            <p:cNvPr id="89" name="Rectangle 89"/>
            <p:cNvSpPr/>
            <p:nvPr/>
          </p:nvSpPr>
          <p:spPr>
            <a:xfrm>
              <a:off x="419100" y="3371850"/>
              <a:ext cx="552450" cy="1809750"/>
            </a:xfrm>
            <a:prstGeom prst="roundRect">
              <a:avLst>
                <a:gd name="adj" fmla="val 10345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 rot="-5400000">
              <a:off x="-7297" y="4177665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A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链路二 · 大模型挖掘</a:t>
              </a:r>
              <a:endParaRPr lang="zh-CN" sz="975" b="1" dirty="0">
                <a:solidFill>
                  <a:srgbClr val="4A90A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09650" y="3371850"/>
              <a:ext cx="8096250" cy="209550"/>
            </a:xfrm>
            <a:prstGeom prst="roundRect">
              <a:avLst>
                <a:gd name="adj" fmla="val 27273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94422" y="3425666"/>
              <a:ext cx="27536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4A90A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 2 — UNSUPERVISED CLUSTERING DISCOVERY</a:t>
              </a:r>
              <a:endParaRPr lang="zh-CN" sz="825" b="1" dirty="0">
                <a:solidFill>
                  <a:srgbClr val="4A90A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028700" y="3600450"/>
            <a:ext cx="2718921" cy="1571625"/>
            <a:chOff x="1028700" y="3600450"/>
            <a:chExt cx="2718921" cy="1571625"/>
          </a:xfrm>
        </p:grpSpPr>
        <p:sp>
          <p:nvSpPr>
            <p:cNvPr id="94" name="Rectangle 94"/>
            <p:cNvSpPr/>
            <p:nvPr/>
          </p:nvSpPr>
          <p:spPr>
            <a:xfrm>
              <a:off x="1028700" y="3600450"/>
              <a:ext cx="2438400" cy="15716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9050">
              <a:solidFill>
                <a:srgbClr val="4A90A4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28700" y="3600450"/>
              <a:ext cx="2438400" cy="266700"/>
            </a:xfrm>
            <a:prstGeom prst="roundRect">
              <a:avLst>
                <a:gd name="adj" fmla="val 35714"/>
              </a:avLst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28700" y="3771900"/>
              <a:ext cx="2438400" cy="95250"/>
            </a:xfrm>
            <a:prstGeom prst="rect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133475" y="3700462"/>
              <a:ext cx="3928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NODE A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8" name="Freeform 98"/>
            <p:cNvSpPr/>
            <p:nvPr/>
          </p:nvSpPr>
          <p:spPr>
            <a:xfrm>
              <a:off x="1143000" y="39624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57162" y="85725"/>
                  </a:moveTo>
                  <a:cubicBezTo>
                    <a:pt x="180835" y="85725"/>
                    <a:pt x="200025" y="66535"/>
                    <a:pt x="200025" y="42862"/>
                  </a:cubicBezTo>
                  <a:cubicBezTo>
                    <a:pt x="200025" y="19190"/>
                    <a:pt x="180835" y="0"/>
                    <a:pt x="157162" y="0"/>
                  </a:cubicBezTo>
                  <a:cubicBezTo>
                    <a:pt x="133490" y="0"/>
                    <a:pt x="114300" y="19190"/>
                    <a:pt x="114300" y="42862"/>
                  </a:cubicBezTo>
                  <a:cubicBezTo>
                    <a:pt x="114300" y="46059"/>
                    <a:pt x="114650" y="49173"/>
                    <a:pt x="115313" y="52170"/>
                  </a:cubicBezTo>
                  <a:lnTo>
                    <a:pt x="69560" y="80765"/>
                  </a:lnTo>
                  <a:cubicBezTo>
                    <a:pt x="62236" y="74927"/>
                    <a:pt x="52957" y="71438"/>
                    <a:pt x="42862" y="71438"/>
                  </a:cubicBezTo>
                  <a:cubicBezTo>
                    <a:pt x="19190" y="71438"/>
                    <a:pt x="0" y="90628"/>
                    <a:pt x="0" y="114300"/>
                  </a:cubicBezTo>
                  <a:cubicBezTo>
                    <a:pt x="0" y="137972"/>
                    <a:pt x="19190" y="157162"/>
                    <a:pt x="42862" y="157162"/>
                  </a:cubicBezTo>
                  <a:cubicBezTo>
                    <a:pt x="52957" y="157162"/>
                    <a:pt x="62236" y="153673"/>
                    <a:pt x="69560" y="147834"/>
                  </a:cubicBezTo>
                  <a:lnTo>
                    <a:pt x="115313" y="176431"/>
                  </a:lnTo>
                  <a:cubicBezTo>
                    <a:pt x="114650" y="179427"/>
                    <a:pt x="114300" y="182541"/>
                    <a:pt x="114300" y="185738"/>
                  </a:cubicBezTo>
                  <a:cubicBezTo>
                    <a:pt x="114300" y="209410"/>
                    <a:pt x="133490" y="228600"/>
                    <a:pt x="157162" y="228600"/>
                  </a:cubicBezTo>
                  <a:cubicBezTo>
                    <a:pt x="180835" y="228600"/>
                    <a:pt x="200025" y="209410"/>
                    <a:pt x="200025" y="185738"/>
                  </a:cubicBezTo>
                  <a:cubicBezTo>
                    <a:pt x="200025" y="162065"/>
                    <a:pt x="180835" y="142875"/>
                    <a:pt x="157162" y="142875"/>
                  </a:cubicBezTo>
                  <a:cubicBezTo>
                    <a:pt x="147068" y="142875"/>
                    <a:pt x="137789" y="146364"/>
                    <a:pt x="130465" y="152203"/>
                  </a:cubicBezTo>
                  <a:lnTo>
                    <a:pt x="84712" y="123607"/>
                  </a:lnTo>
                  <a:cubicBezTo>
                    <a:pt x="85375" y="120611"/>
                    <a:pt x="85725" y="117496"/>
                    <a:pt x="85725" y="114300"/>
                  </a:cubicBezTo>
                  <a:cubicBezTo>
                    <a:pt x="85725" y="111104"/>
                    <a:pt x="85375" y="107989"/>
                    <a:pt x="84712" y="104993"/>
                  </a:cubicBezTo>
                  <a:lnTo>
                    <a:pt x="130465" y="76397"/>
                  </a:lnTo>
                  <a:cubicBezTo>
                    <a:pt x="137789" y="82236"/>
                    <a:pt x="147068" y="85725"/>
                    <a:pt x="157162" y="85725"/>
                  </a:cubicBez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434465" y="4020502"/>
              <a:ext cx="2313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 + embedding + 聚类算法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2522" y="42924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全量通话向量化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32522" y="4425791"/>
              <a:ext cx="725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自然语义簇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1143000" y="4886325"/>
              <a:ext cx="666750" cy="211931"/>
              <a:chOff x="1143000" y="4886325"/>
              <a:chExt cx="666750" cy="211931"/>
            </a:xfrm>
          </p:grpSpPr>
          <p:sp>
            <p:nvSpPr>
              <p:cNvPr id="102" name="Rectangle 102"/>
              <p:cNvSpPr/>
              <p:nvPr/>
            </p:nvSpPr>
            <p:spPr>
              <a:xfrm>
                <a:off x="1143000" y="4886325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A90A4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1209675" y="4953000"/>
                <a:ext cx="57150" cy="57150"/>
              </a:xfrm>
              <a:prstGeom prst="ellipse">
                <a:avLst/>
              </a:prstGeom>
              <a:solidFill>
                <a:srgbClr val="4A90A4"/>
              </a:solidFill>
              <a:ln>
                <a:noFill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1303972" y="493061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4A90A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殷文天</a:t>
                </a:r>
                <a:endParaRPr lang="zh-CN" sz="825" b="1" dirty="0">
                  <a:solidFill>
                    <a:srgbClr val="4A90A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22" name="Group 122"/>
          <p:cNvGrpSpPr/>
          <p:nvPr/>
        </p:nvGrpSpPr>
        <p:grpSpPr>
          <a:xfrm>
            <a:off x="3771900" y="3600450"/>
            <a:ext cx="2438400" cy="1571625"/>
            <a:chOff x="3771900" y="3600450"/>
            <a:chExt cx="2438400" cy="1571625"/>
          </a:xfrm>
        </p:grpSpPr>
        <p:sp>
          <p:nvSpPr>
            <p:cNvPr id="107" name="Rectangle 107"/>
            <p:cNvSpPr/>
            <p:nvPr/>
          </p:nvSpPr>
          <p:spPr>
            <a:xfrm>
              <a:off x="3771900" y="3600450"/>
              <a:ext cx="2438400" cy="15716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9050">
              <a:solidFill>
                <a:srgbClr val="4A90A4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3771900" y="3600450"/>
              <a:ext cx="2438400" cy="266700"/>
            </a:xfrm>
            <a:prstGeom prst="roundRect">
              <a:avLst>
                <a:gd name="adj" fmla="val 35714"/>
              </a:avLst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3771900" y="3771900"/>
              <a:ext cx="2438400" cy="95250"/>
            </a:xfrm>
            <a:prstGeom prst="rect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876675" y="3700462"/>
              <a:ext cx="3928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NODE B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14" name="Group 114"/>
            <p:cNvGrpSpPr/>
            <p:nvPr/>
          </p:nvGrpSpPr>
          <p:grpSpPr>
            <a:xfrm>
              <a:off x="3900488" y="3962400"/>
              <a:ext cx="200025" cy="228600"/>
              <a:chOff x="3900488" y="3962400"/>
              <a:chExt cx="200025" cy="2286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3900488" y="396240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0" y="71438"/>
                    </a:moveTo>
                    <a:lnTo>
                      <a:pt x="0" y="42862"/>
                    </a:lnTo>
                    <a:lnTo>
                      <a:pt x="100012" y="0"/>
                    </a:lnTo>
                    <a:lnTo>
                      <a:pt x="200025" y="42862"/>
                    </a:lnTo>
                    <a:lnTo>
                      <a:pt x="200025" y="71438"/>
                    </a:lnTo>
                    <a:lnTo>
                      <a:pt x="100012" y="114300"/>
                    </a:lnTo>
                    <a:lnTo>
                      <a:pt x="0" y="71438"/>
                    </a:lnTo>
                    <a:close/>
                  </a:path>
                </a:pathLst>
              </a:custGeom>
              <a:solidFill>
                <a:srgbClr val="4A90A4"/>
              </a:solidFill>
              <a:ln>
                <a:noFill/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3900488" y="411956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100012" y="71438"/>
                    </a:moveTo>
                    <a:lnTo>
                      <a:pt x="0" y="28575"/>
                    </a:lnTo>
                    <a:lnTo>
                      <a:pt x="0" y="0"/>
                    </a:lnTo>
                    <a:lnTo>
                      <a:pt x="100012" y="42862"/>
                    </a:lnTo>
                    <a:lnTo>
                      <a:pt x="200025" y="0"/>
                    </a:lnTo>
                    <a:lnTo>
                      <a:pt x="200025" y="28575"/>
                    </a:lnTo>
                    <a:lnTo>
                      <a:pt x="100012" y="71438"/>
                    </a:lnTo>
                    <a:close/>
                  </a:path>
                </a:pathLst>
              </a:custGeom>
              <a:solidFill>
                <a:srgbClr val="4A90A4"/>
              </a:solidFill>
              <a:ln>
                <a:noFill/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3900488" y="406241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0" y="28575"/>
                    </a:moveTo>
                    <a:lnTo>
                      <a:pt x="100012" y="71438"/>
                    </a:lnTo>
                    <a:lnTo>
                      <a:pt x="200025" y="28575"/>
                    </a:lnTo>
                    <a:lnTo>
                      <a:pt x="200025" y="0"/>
                    </a:lnTo>
                    <a:lnTo>
                      <a:pt x="100012" y="42862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4A90A4"/>
              </a:solidFill>
              <a:ln>
                <a:noFill/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4177665" y="40205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聚类行为洞察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3875722" y="4292441"/>
              <a:ext cx="10029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同簇词频 + 关键句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3875722" y="4425791"/>
              <a:ext cx="725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 大模型总结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21" name="Group 121"/>
            <p:cNvGrpSpPr/>
            <p:nvPr/>
          </p:nvGrpSpPr>
          <p:grpSpPr>
            <a:xfrm>
              <a:off x="3886200" y="4886325"/>
              <a:ext cx="666750" cy="211931"/>
              <a:chOff x="3886200" y="4886325"/>
              <a:chExt cx="666750" cy="211931"/>
            </a:xfrm>
          </p:grpSpPr>
          <p:sp>
            <p:nvSpPr>
              <p:cNvPr id="118" name="Rectangle 118"/>
              <p:cNvSpPr/>
              <p:nvPr/>
            </p:nvSpPr>
            <p:spPr>
              <a:xfrm>
                <a:off x="3886200" y="4886325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A90A4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3952875" y="4953000"/>
                <a:ext cx="57150" cy="57150"/>
              </a:xfrm>
              <a:prstGeom prst="ellipse">
                <a:avLst/>
              </a:prstGeom>
              <a:solidFill>
                <a:srgbClr val="4A90A4"/>
              </a:solidFill>
              <a:ln>
                <a:noFill/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4047172" y="493061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4A90A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殷文天</a:t>
                </a:r>
                <a:endParaRPr lang="zh-CN" sz="825" b="1" dirty="0">
                  <a:solidFill>
                    <a:srgbClr val="4A90A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35" name="Group 135"/>
          <p:cNvGrpSpPr/>
          <p:nvPr/>
        </p:nvGrpSpPr>
        <p:grpSpPr>
          <a:xfrm>
            <a:off x="6515100" y="3600450"/>
            <a:ext cx="2438400" cy="1571625"/>
            <a:chOff x="6515100" y="3600450"/>
            <a:chExt cx="2438400" cy="1571625"/>
          </a:xfrm>
        </p:grpSpPr>
        <p:sp>
          <p:nvSpPr>
            <p:cNvPr id="123" name="Rectangle 123"/>
            <p:cNvSpPr/>
            <p:nvPr/>
          </p:nvSpPr>
          <p:spPr>
            <a:xfrm>
              <a:off x="6515100" y="3600450"/>
              <a:ext cx="2438400" cy="15716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9050">
              <a:solidFill>
                <a:srgbClr val="4A90A4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6515100" y="3600450"/>
              <a:ext cx="2438400" cy="266700"/>
            </a:xfrm>
            <a:prstGeom prst="roundRect">
              <a:avLst>
                <a:gd name="adj" fmla="val 35714"/>
              </a:avLst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6515100" y="3771900"/>
              <a:ext cx="2438400" cy="95250"/>
            </a:xfrm>
            <a:prstGeom prst="rect">
              <a:avLst/>
            </a:prstGeom>
            <a:solidFill>
              <a:srgbClr val="4A90A4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619875" y="3700462"/>
              <a:ext cx="3928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NODE C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7" name="Freeform 127"/>
            <p:cNvSpPr/>
            <p:nvPr/>
          </p:nvSpPr>
          <p:spPr>
            <a:xfrm>
              <a:off x="6629400" y="3962400"/>
              <a:ext cx="224415" cy="224415"/>
            </a:xfrm>
            <a:custGeom>
              <a:avLst/>
              <a:gdLst/>
              <a:ahLst/>
              <a:cxnLst/>
              <a:rect l="l" t="t" r="r" b="b"/>
              <a:pathLst>
                <a:path w="224415" h="224415">
                  <a:moveTo>
                    <a:pt x="159909" y="180114"/>
                  </a:moveTo>
                  <a:cubicBezTo>
                    <a:pt x="143212" y="192618"/>
                    <a:pt x="122477" y="200025"/>
                    <a:pt x="100012" y="200025"/>
                  </a:cubicBezTo>
                  <a:cubicBezTo>
                    <a:pt x="44777" y="200025"/>
                    <a:pt x="0" y="155248"/>
                    <a:pt x="0" y="100012"/>
                  </a:cubicBezTo>
                  <a:cubicBezTo>
                    <a:pt x="0" y="44777"/>
                    <a:pt x="44777" y="0"/>
                    <a:pt x="100012" y="0"/>
                  </a:cubicBezTo>
                  <a:cubicBezTo>
                    <a:pt x="155248" y="0"/>
                    <a:pt x="200025" y="44777"/>
                    <a:pt x="200025" y="100012"/>
                  </a:cubicBezTo>
                  <a:cubicBezTo>
                    <a:pt x="200025" y="122477"/>
                    <a:pt x="192618" y="143212"/>
                    <a:pt x="180114" y="159909"/>
                  </a:cubicBezTo>
                  <a:lnTo>
                    <a:pt x="224415" y="204210"/>
                  </a:lnTo>
                  <a:lnTo>
                    <a:pt x="204210" y="224415"/>
                  </a:lnTo>
                  <a:lnTo>
                    <a:pt x="159909" y="180114"/>
                  </a:lnTo>
                  <a:close/>
                  <a:moveTo>
                    <a:pt x="79807" y="120218"/>
                  </a:moveTo>
                  <a:lnTo>
                    <a:pt x="59601" y="140424"/>
                  </a:lnTo>
                  <a:cubicBezTo>
                    <a:pt x="37283" y="118105"/>
                    <a:pt x="37283" y="81920"/>
                    <a:pt x="59601" y="59601"/>
                  </a:cubicBezTo>
                  <a:cubicBezTo>
                    <a:pt x="81920" y="37283"/>
                    <a:pt x="118105" y="37283"/>
                    <a:pt x="140424" y="59601"/>
                  </a:cubicBezTo>
                  <a:lnTo>
                    <a:pt x="120218" y="79807"/>
                  </a:lnTo>
                  <a:cubicBezTo>
                    <a:pt x="109059" y="68648"/>
                    <a:pt x="90966" y="68648"/>
                    <a:pt x="79807" y="79807"/>
                  </a:cubicBezTo>
                  <a:cubicBezTo>
                    <a:pt x="68648" y="90966"/>
                    <a:pt x="68648" y="109059"/>
                    <a:pt x="79807" y="120218"/>
                  </a:cubicBez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920865" y="40205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同质化信息挖掘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618922" y="4292441"/>
              <a:ext cx="12439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每簇为何相似 / 风险点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6618922" y="4425791"/>
              <a:ext cx="8463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 适配处置方式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34" name="Group 134"/>
            <p:cNvGrpSpPr/>
            <p:nvPr/>
          </p:nvGrpSpPr>
          <p:grpSpPr>
            <a:xfrm>
              <a:off x="6629400" y="4886325"/>
              <a:ext cx="666750" cy="211931"/>
              <a:chOff x="6629400" y="4886325"/>
              <a:chExt cx="666750" cy="211931"/>
            </a:xfrm>
          </p:grpSpPr>
          <p:sp>
            <p:nvSpPr>
              <p:cNvPr id="131" name="Rectangle 131"/>
              <p:cNvSpPr/>
              <p:nvPr/>
            </p:nvSpPr>
            <p:spPr>
              <a:xfrm>
                <a:off x="6629400" y="4886325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A90A4"/>
                </a:solidFill>
              </a:ln>
            </p:spPr>
          </p:sp>
          <p:sp>
            <p:nvSpPr>
              <p:cNvPr id="132" name="Ellipse 132"/>
              <p:cNvSpPr/>
              <p:nvPr/>
            </p:nvSpPr>
            <p:spPr>
              <a:xfrm>
                <a:off x="6696075" y="4953000"/>
                <a:ext cx="57150" cy="57150"/>
              </a:xfrm>
              <a:prstGeom prst="ellipse">
                <a:avLst/>
              </a:prstGeom>
              <a:solidFill>
                <a:srgbClr val="4A90A4"/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6790372" y="493061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4A90A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殷文天</a:t>
                </a:r>
                <a:endParaRPr lang="zh-CN" sz="825" b="1" dirty="0">
                  <a:solidFill>
                    <a:srgbClr val="4A90A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61" name="Group 161"/>
          <p:cNvGrpSpPr/>
          <p:nvPr/>
        </p:nvGrpSpPr>
        <p:grpSpPr>
          <a:xfrm>
            <a:off x="9163050" y="1314450"/>
            <a:ext cx="3107912" cy="3857625"/>
            <a:chOff x="9163050" y="1314450"/>
            <a:chExt cx="3107912" cy="3857625"/>
          </a:xfrm>
        </p:grpSpPr>
        <p:sp>
          <p:nvSpPr>
            <p:cNvPr id="136" name="Rectangle 136"/>
            <p:cNvSpPr/>
            <p:nvPr/>
          </p:nvSpPr>
          <p:spPr>
            <a:xfrm>
              <a:off x="9163050" y="1314450"/>
              <a:ext cx="2609850" cy="3857625"/>
            </a:xfrm>
            <a:prstGeom prst="roundRect">
              <a:avLst>
                <a:gd name="adj" fmla="val 4380"/>
              </a:avLst>
            </a:prstGeom>
            <a:solidFill>
              <a:srgbClr val="FFFFFF"/>
            </a:solidFill>
            <a:ln w="23812">
              <a:solidFill>
                <a:srgbClr val="1E3A5F"/>
              </a:solidFill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9163050" y="1314450"/>
              <a:ext cx="2609850" cy="419100"/>
            </a:xfrm>
            <a:prstGeom prst="roundRect">
              <a:avLst>
                <a:gd name="adj" fmla="val 27273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9163050" y="1619250"/>
              <a:ext cx="2609850" cy="1143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39" name="Freeform 139"/>
            <p:cNvSpPr/>
            <p:nvPr/>
          </p:nvSpPr>
          <p:spPr>
            <a:xfrm>
              <a:off x="9296400" y="1452562"/>
              <a:ext cx="228600" cy="142875"/>
            </a:xfrm>
            <a:custGeom>
              <a:avLst/>
              <a:gdLst/>
              <a:ahLst/>
              <a:cxnLst/>
              <a:rect l="l" t="t" r="r" b="b"/>
              <a:pathLst>
                <a:path w="228600" h="142875">
                  <a:moveTo>
                    <a:pt x="85725" y="85725"/>
                  </a:moveTo>
                  <a:lnTo>
                    <a:pt x="85725" y="142875"/>
                  </a:lnTo>
                  <a:lnTo>
                    <a:pt x="71438" y="142875"/>
                  </a:lnTo>
                  <a:lnTo>
                    <a:pt x="0" y="71438"/>
                  </a:lnTo>
                  <a:lnTo>
                    <a:pt x="71438" y="0"/>
                  </a:lnTo>
                  <a:lnTo>
                    <a:pt x="85725" y="0"/>
                  </a:lnTo>
                  <a:lnTo>
                    <a:pt x="85725" y="57150"/>
                  </a:lnTo>
                  <a:lnTo>
                    <a:pt x="142875" y="57150"/>
                  </a:lnTo>
                  <a:lnTo>
                    <a:pt x="142875" y="0"/>
                  </a:lnTo>
                  <a:lnTo>
                    <a:pt x="157163" y="0"/>
                  </a:lnTo>
                  <a:lnTo>
                    <a:pt x="228600" y="71438"/>
                  </a:lnTo>
                  <a:lnTo>
                    <a:pt x="157163" y="142875"/>
                  </a:lnTo>
                  <a:lnTo>
                    <a:pt x="142875" y="142875"/>
                  </a:lnTo>
                  <a:lnTo>
                    <a:pt x="142875" y="85725"/>
                  </a:lnTo>
                  <a:lnTo>
                    <a:pt x="85725" y="85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9568815" y="145827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横向比较与发现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44" name="Group 144"/>
            <p:cNvGrpSpPr/>
            <p:nvPr/>
          </p:nvGrpSpPr>
          <p:grpSpPr>
            <a:xfrm>
              <a:off x="9296400" y="1866900"/>
              <a:ext cx="666750" cy="211931"/>
              <a:chOff x="9296400" y="1866900"/>
              <a:chExt cx="666750" cy="211931"/>
            </a:xfrm>
          </p:grpSpPr>
          <p:sp>
            <p:nvSpPr>
              <p:cNvPr id="141" name="Rectangle 141"/>
              <p:cNvSpPr/>
              <p:nvPr/>
            </p:nvSpPr>
            <p:spPr>
              <a:xfrm>
                <a:off x="9296400" y="1866900"/>
                <a:ext cx="66675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9363075" y="1933575"/>
                <a:ext cx="57150" cy="57150"/>
              </a:xfrm>
              <a:prstGeom prst="ellipse">
                <a:avLst/>
              </a:prstGeom>
              <a:solidFill>
                <a:srgbClr val="1E3A5F"/>
              </a:solidFill>
              <a:ln>
                <a:noFill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9457372" y="1911191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E3A5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陶可晗</a:t>
                </a:r>
                <a:endParaRPr lang="zh-CN" sz="82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145" name="TextBox 145"/>
            <p:cNvSpPr txBox="1"/>
            <p:nvPr/>
          </p:nvSpPr>
          <p:spPr>
            <a:xfrm>
              <a:off x="9284018" y="223789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三方对齐 · 发现差异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6" name="Line 146"/>
            <p:cNvSpPr/>
            <p:nvPr/>
          </p:nvSpPr>
          <p:spPr>
            <a:xfrm>
              <a:off x="9296400" y="2438400"/>
              <a:ext cx="2343150" cy="9525"/>
            </a:xfrm>
            <a:custGeom>
              <a:avLst/>
              <a:gdLst/>
              <a:ahLst/>
              <a:cxnLst/>
              <a:rect l="l" t="t" r="r" b="b"/>
              <a:pathLst>
                <a:path w="2343150" h="9525">
                  <a:moveTo>
                    <a:pt x="0" y="0"/>
                  </a:moveTo>
                  <a:lnTo>
                    <a:pt x="234315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9284970" y="2531745"/>
              <a:ext cx="9824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链路一 专家分群</a:t>
              </a:r>
              <a:endParaRPr lang="zh-CN" sz="900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9284970" y="268414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链路一 大模型分群</a:t>
              </a:r>
              <a:endParaRPr lang="zh-CN" sz="900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9284970" y="2836545"/>
              <a:ext cx="850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链路二 聚类簇</a:t>
              </a:r>
              <a:endParaRPr lang="zh-CN" sz="900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9284970" y="2988945"/>
              <a:ext cx="9824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＋ 其他团队洞察</a:t>
              </a:r>
              <a:endParaRPr lang="zh-CN" sz="900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9284970" y="3427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04A0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差异举例</a:t>
              </a:r>
              <a:endParaRPr lang="zh-CN" sz="900" b="1" dirty="0">
                <a:solidFill>
                  <a:srgbClr val="D04A0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285922" y="3606641"/>
              <a:ext cx="12379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大模型认为的"豆包人"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9285922" y="3739991"/>
              <a:ext cx="15270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vs 专家规则定义的"豆包人"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9285922" y="3873341"/>
              <a:ext cx="10873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差异即新维度候选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5" name="Line 155"/>
            <p:cNvSpPr/>
            <p:nvPr/>
          </p:nvSpPr>
          <p:spPr>
            <a:xfrm>
              <a:off x="9296400" y="4286250"/>
              <a:ext cx="2343150" cy="9525"/>
            </a:xfrm>
            <a:custGeom>
              <a:avLst/>
              <a:gdLst/>
              <a:ahLst/>
              <a:cxnLst/>
              <a:rect l="l" t="t" r="r" b="b"/>
              <a:pathLst>
                <a:path w="2343150" h="9525">
                  <a:moveTo>
                    <a:pt x="0" y="0"/>
                  </a:moveTo>
                  <a:lnTo>
                    <a:pt x="234315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</a:ln>
          </p:spPr>
        </p:sp>
        <p:grpSp>
          <p:nvGrpSpPr>
            <p:cNvPr id="158" name="Group 158"/>
            <p:cNvGrpSpPr/>
            <p:nvPr/>
          </p:nvGrpSpPr>
          <p:grpSpPr>
            <a:xfrm>
              <a:off x="9296400" y="4381500"/>
              <a:ext cx="190500" cy="190500"/>
              <a:chOff x="9296400" y="4381500"/>
              <a:chExt cx="190500" cy="190500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9320212" y="4381500"/>
                <a:ext cx="16668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83344">
                    <a:moveTo>
                      <a:pt x="95250" y="83344"/>
                    </a:moveTo>
                    <a:lnTo>
                      <a:pt x="83344" y="71438"/>
                    </a:lnTo>
                    <a:lnTo>
                      <a:pt x="110644" y="44138"/>
                    </a:lnTo>
                    <a:lnTo>
                      <a:pt x="103669" y="37163"/>
                    </a:lnTo>
                    <a:cubicBezTo>
                      <a:pt x="95121" y="28615"/>
                      <a:pt x="83527" y="23812"/>
                      <a:pt x="71438" y="23812"/>
                    </a:cubicBezTo>
                    <a:cubicBezTo>
                      <a:pt x="59348" y="23812"/>
                      <a:pt x="47754" y="28615"/>
                      <a:pt x="39206" y="37163"/>
                    </a:cubicBezTo>
                    <a:lnTo>
                      <a:pt x="38185" y="38185"/>
                    </a:lnTo>
                    <a:cubicBezTo>
                      <a:pt x="28982" y="47387"/>
                      <a:pt x="23812" y="59868"/>
                      <a:pt x="23812" y="72882"/>
                    </a:cubicBezTo>
                    <a:lnTo>
                      <a:pt x="23812" y="83344"/>
                    </a:lnTo>
                    <a:lnTo>
                      <a:pt x="0" y="83344"/>
                    </a:lnTo>
                    <a:lnTo>
                      <a:pt x="0" y="72882"/>
                    </a:lnTo>
                    <a:cubicBezTo>
                      <a:pt x="0" y="53553"/>
                      <a:pt x="7679" y="35015"/>
                      <a:pt x="21347" y="21347"/>
                    </a:cubicBezTo>
                    <a:lnTo>
                      <a:pt x="22368" y="20325"/>
                    </a:lnTo>
                    <a:cubicBezTo>
                      <a:pt x="35382" y="7311"/>
                      <a:pt x="53033" y="0"/>
                      <a:pt x="71438" y="0"/>
                    </a:cubicBezTo>
                    <a:cubicBezTo>
                      <a:pt x="89842" y="0"/>
                      <a:pt x="107493" y="7311"/>
                      <a:pt x="120507" y="20325"/>
                    </a:cubicBezTo>
                    <a:lnTo>
                      <a:pt x="127481" y="27300"/>
                    </a:lnTo>
                    <a:lnTo>
                      <a:pt x="154781" y="0"/>
                    </a:lnTo>
                    <a:lnTo>
                      <a:pt x="166688" y="11906"/>
                    </a:lnTo>
                    <a:lnTo>
                      <a:pt x="166688" y="83344"/>
                    </a:lnTo>
                    <a:lnTo>
                      <a:pt x="95250" y="83344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9296400" y="4488656"/>
                <a:ext cx="16668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83344">
                    <a:moveTo>
                      <a:pt x="63018" y="46181"/>
                    </a:moveTo>
                    <a:cubicBezTo>
                      <a:pt x="71567" y="54728"/>
                      <a:pt x="83161" y="59531"/>
                      <a:pt x="95250" y="59531"/>
                    </a:cubicBezTo>
                    <a:cubicBezTo>
                      <a:pt x="107339" y="59531"/>
                      <a:pt x="118933" y="54729"/>
                      <a:pt x="127481" y="46181"/>
                    </a:cubicBezTo>
                    <a:lnTo>
                      <a:pt x="128503" y="45159"/>
                    </a:lnTo>
                    <a:cubicBezTo>
                      <a:pt x="137705" y="35957"/>
                      <a:pt x="142875" y="23476"/>
                      <a:pt x="142875" y="10462"/>
                    </a:cubicBezTo>
                    <a:lnTo>
                      <a:pt x="142875" y="0"/>
                    </a:lnTo>
                    <a:lnTo>
                      <a:pt x="166688" y="0"/>
                    </a:lnTo>
                    <a:lnTo>
                      <a:pt x="166688" y="10462"/>
                    </a:lnTo>
                    <a:cubicBezTo>
                      <a:pt x="166688" y="29792"/>
                      <a:pt x="159009" y="48329"/>
                      <a:pt x="145341" y="61997"/>
                    </a:cubicBezTo>
                    <a:lnTo>
                      <a:pt x="144319" y="63019"/>
                    </a:lnTo>
                    <a:cubicBezTo>
                      <a:pt x="131306" y="76032"/>
                      <a:pt x="113655" y="83344"/>
                      <a:pt x="95250" y="83344"/>
                    </a:cubicBezTo>
                    <a:cubicBezTo>
                      <a:pt x="76845" y="83344"/>
                      <a:pt x="59195" y="76032"/>
                      <a:pt x="46181" y="63019"/>
                    </a:cubicBezTo>
                    <a:lnTo>
                      <a:pt x="39206" y="56044"/>
                    </a:lnTo>
                    <a:lnTo>
                      <a:pt x="11906" y="83344"/>
                    </a:lnTo>
                    <a:lnTo>
                      <a:pt x="0" y="71438"/>
                    </a:lnTo>
                    <a:lnTo>
                      <a:pt x="0" y="0"/>
                    </a:lnTo>
                    <a:lnTo>
                      <a:pt x="71438" y="0"/>
                    </a:lnTo>
                    <a:lnTo>
                      <a:pt x="83344" y="11906"/>
                    </a:lnTo>
                    <a:lnTo>
                      <a:pt x="56044" y="39206"/>
                    </a:lnTo>
                    <a:lnTo>
                      <a:pt x="63018" y="46181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59" name="TextBox 159"/>
            <p:cNvSpPr txBox="1"/>
            <p:nvPr/>
          </p:nvSpPr>
          <p:spPr>
            <a:xfrm>
              <a:off x="9532620" y="44176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8A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反哺专家框架</a:t>
              </a:r>
              <a:endParaRPr lang="zh-CN" sz="900" b="1" dirty="0">
                <a:solidFill>
                  <a:srgbClr val="1F8A7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9285922" y="4654391"/>
              <a:ext cx="29850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新客群 / 新风险信号 / 新话术 → 沉淀为标签 + 评测样本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2857500" y="1857375"/>
            <a:ext cx="6343650" cy="2590800"/>
            <a:chOff x="2857500" y="1857375"/>
            <a:chExt cx="6343650" cy="2590800"/>
          </a:xfrm>
        </p:grpSpPr>
        <p:sp>
          <p:nvSpPr>
            <p:cNvPr id="162" name="Line 162"/>
            <p:cNvSpPr/>
            <p:nvPr/>
          </p:nvSpPr>
          <p:spPr>
            <a:xfrm>
              <a:off x="2857500" y="23241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3812">
              <a:solidFill>
                <a:srgbClr val="00A6A6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3028950" y="225742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164" name="Freeform 164"/>
            <p:cNvSpPr/>
            <p:nvPr/>
          </p:nvSpPr>
          <p:spPr>
            <a:xfrm>
              <a:off x="4895850" y="1914525"/>
              <a:ext cx="171450" cy="409575"/>
            </a:xfrm>
            <a:custGeom>
              <a:avLst/>
              <a:gdLst/>
              <a:ahLst/>
              <a:cxnLst/>
              <a:rect l="l" t="t" r="r" b="b"/>
              <a:pathLst>
                <a:path w="171450" h="409575">
                  <a:moveTo>
                    <a:pt x="0" y="409575"/>
                  </a:moveTo>
                  <a:lnTo>
                    <a:pt x="104775" y="409575"/>
                  </a:lnTo>
                  <a:lnTo>
                    <a:pt x="104775" y="0"/>
                  </a:lnTo>
                  <a:lnTo>
                    <a:pt x="171450" y="0"/>
                  </a:lnTo>
                </a:path>
              </a:pathLst>
            </a:custGeom>
            <a:noFill/>
            <a:ln w="23812">
              <a:solidFill>
                <a:srgbClr val="00A6A6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5067300" y="18573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166" name="Freeform 166"/>
            <p:cNvSpPr/>
            <p:nvPr/>
          </p:nvSpPr>
          <p:spPr>
            <a:xfrm>
              <a:off x="4895850" y="2324100"/>
              <a:ext cx="171450" cy="419100"/>
            </a:xfrm>
            <a:custGeom>
              <a:avLst/>
              <a:gdLst/>
              <a:ahLst/>
              <a:cxnLst/>
              <a:rect l="l" t="t" r="r" b="b"/>
              <a:pathLst>
                <a:path w="171450" h="419100">
                  <a:moveTo>
                    <a:pt x="0" y="0"/>
                  </a:moveTo>
                  <a:lnTo>
                    <a:pt x="104775" y="0"/>
                  </a:lnTo>
                  <a:lnTo>
                    <a:pt x="104775" y="419100"/>
                  </a:lnTo>
                  <a:lnTo>
                    <a:pt x="171450" y="419100"/>
                  </a:lnTo>
                </a:path>
              </a:pathLst>
            </a:custGeom>
            <a:noFill/>
            <a:ln w="23812">
              <a:solidFill>
                <a:srgbClr val="D04A02"/>
              </a:solidFill>
              <a:custDash>
                <a:ds d="240000" sp="160000"/>
              </a:custDash>
            </a:ln>
          </p:spPr>
        </p:sp>
        <p:sp>
          <p:nvSpPr>
            <p:cNvPr id="167" name="Freeform 167"/>
            <p:cNvSpPr/>
            <p:nvPr/>
          </p:nvSpPr>
          <p:spPr>
            <a:xfrm>
              <a:off x="5067300" y="26860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sp>
          <p:nvSpPr>
            <p:cNvPr id="168" name="Freeform 168"/>
            <p:cNvSpPr/>
            <p:nvPr/>
          </p:nvSpPr>
          <p:spPr>
            <a:xfrm>
              <a:off x="6934200" y="1914525"/>
              <a:ext cx="171450" cy="409575"/>
            </a:xfrm>
            <a:custGeom>
              <a:avLst/>
              <a:gdLst/>
              <a:ahLst/>
              <a:cxnLst/>
              <a:rect l="l" t="t" r="r" b="b"/>
              <a:pathLst>
                <a:path w="171450" h="409575">
                  <a:moveTo>
                    <a:pt x="0" y="0"/>
                  </a:moveTo>
                  <a:lnTo>
                    <a:pt x="104775" y="0"/>
                  </a:lnTo>
                  <a:lnTo>
                    <a:pt x="104775" y="409575"/>
                  </a:lnTo>
                  <a:lnTo>
                    <a:pt x="171450" y="409575"/>
                  </a:lnTo>
                </a:path>
              </a:pathLst>
            </a:custGeom>
            <a:noFill/>
            <a:ln w="23812">
              <a:solidFill>
                <a:srgbClr val="00A6A6"/>
              </a:solidFill>
            </a:ln>
          </p:spPr>
        </p:sp>
        <p:sp>
          <p:nvSpPr>
            <p:cNvPr id="169" name="Freeform 169"/>
            <p:cNvSpPr/>
            <p:nvPr/>
          </p:nvSpPr>
          <p:spPr>
            <a:xfrm>
              <a:off x="6934200" y="2324100"/>
              <a:ext cx="171450" cy="419100"/>
            </a:xfrm>
            <a:custGeom>
              <a:avLst/>
              <a:gdLst/>
              <a:ahLst/>
              <a:cxnLst/>
              <a:rect l="l" t="t" r="r" b="b"/>
              <a:pathLst>
                <a:path w="171450" h="419100">
                  <a:moveTo>
                    <a:pt x="0" y="419100"/>
                  </a:moveTo>
                  <a:lnTo>
                    <a:pt x="104775" y="419100"/>
                  </a:lnTo>
                  <a:lnTo>
                    <a:pt x="104775" y="0"/>
                  </a:lnTo>
                  <a:lnTo>
                    <a:pt x="171450" y="0"/>
                  </a:lnTo>
                </a:path>
              </a:pathLst>
            </a:custGeom>
            <a:noFill/>
            <a:ln w="23812">
              <a:solidFill>
                <a:srgbClr val="D04A02"/>
              </a:solidFill>
              <a:custDash>
                <a:ds d="240000" sp="160000"/>
              </a:custDash>
            </a:ln>
          </p:spPr>
        </p:sp>
        <p:sp>
          <p:nvSpPr>
            <p:cNvPr id="170" name="Freeform 170"/>
            <p:cNvSpPr/>
            <p:nvPr/>
          </p:nvSpPr>
          <p:spPr>
            <a:xfrm>
              <a:off x="7105650" y="225742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171" name="Line 171"/>
            <p:cNvSpPr/>
            <p:nvPr/>
          </p:nvSpPr>
          <p:spPr>
            <a:xfrm>
              <a:off x="3467100" y="4381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3812">
              <a:solidFill>
                <a:srgbClr val="4A90A4"/>
              </a:solidFill>
            </a:ln>
          </p:spPr>
        </p:sp>
        <p:sp>
          <p:nvSpPr>
            <p:cNvPr id="172" name="Freeform 172"/>
            <p:cNvSpPr/>
            <p:nvPr/>
          </p:nvSpPr>
          <p:spPr>
            <a:xfrm>
              <a:off x="3733800" y="431482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  <p:sp>
          <p:nvSpPr>
            <p:cNvPr id="173" name="Line 173"/>
            <p:cNvSpPr/>
            <p:nvPr/>
          </p:nvSpPr>
          <p:spPr>
            <a:xfrm>
              <a:off x="6210300" y="4381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3812">
              <a:solidFill>
                <a:srgbClr val="4A90A4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6477000" y="431482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  <p:sp>
          <p:nvSpPr>
            <p:cNvPr id="175" name="Line 175"/>
            <p:cNvSpPr/>
            <p:nvPr/>
          </p:nvSpPr>
          <p:spPr>
            <a:xfrm>
              <a:off x="8972550" y="23241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3812">
              <a:solidFill>
                <a:srgbClr val="00A6A6"/>
              </a:solidFill>
            </a:ln>
          </p:spPr>
        </p:sp>
        <p:sp>
          <p:nvSpPr>
            <p:cNvPr id="176" name="Freeform 176"/>
            <p:cNvSpPr/>
            <p:nvPr/>
          </p:nvSpPr>
          <p:spPr>
            <a:xfrm>
              <a:off x="9124950" y="225742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177" name="Line 177"/>
            <p:cNvSpPr/>
            <p:nvPr/>
          </p:nvSpPr>
          <p:spPr>
            <a:xfrm>
              <a:off x="8953500" y="43815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3812">
              <a:solidFill>
                <a:srgbClr val="4A90A4"/>
              </a:solidFill>
            </a:ln>
          </p:spPr>
        </p:sp>
        <p:sp>
          <p:nvSpPr>
            <p:cNvPr id="178" name="Freeform 178"/>
            <p:cNvSpPr/>
            <p:nvPr/>
          </p:nvSpPr>
          <p:spPr>
            <a:xfrm>
              <a:off x="9124950" y="431482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4A90A4"/>
            </a:solidFill>
            <a:ln>
              <a:noFill/>
            </a:ln>
          </p:spPr>
        </p:sp>
      </p:grpSp>
      <p:grpSp>
        <p:nvGrpSpPr>
          <p:cNvPr id="186" name="Group 186"/>
          <p:cNvGrpSpPr/>
          <p:nvPr/>
        </p:nvGrpSpPr>
        <p:grpSpPr>
          <a:xfrm>
            <a:off x="419100" y="5334000"/>
            <a:ext cx="2724150" cy="876300"/>
            <a:chOff x="419100" y="5334000"/>
            <a:chExt cx="2724150" cy="876300"/>
          </a:xfrm>
        </p:grpSpPr>
        <p:sp>
          <p:nvSpPr>
            <p:cNvPr id="180" name="Rectangle 180"/>
            <p:cNvSpPr/>
            <p:nvPr/>
          </p:nvSpPr>
          <p:spPr>
            <a:xfrm>
              <a:off x="419100" y="5334000"/>
              <a:ext cx="272415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19100" y="53340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2" name="Freeform 182"/>
            <p:cNvSpPr/>
            <p:nvPr/>
          </p:nvSpPr>
          <p:spPr>
            <a:xfrm>
              <a:off x="590550" y="5467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83344" y="35719"/>
                  </a:moveTo>
                  <a:lnTo>
                    <a:pt x="83344" y="100182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07156" y="90318"/>
                  </a:lnTo>
                  <a:lnTo>
                    <a:pt x="107156" y="35719"/>
                  </a:lnTo>
                  <a:lnTo>
                    <a:pt x="83344" y="35719"/>
                  </a:lnTo>
                  <a:close/>
                </a:path>
              </a:pathLst>
            </a:custGeom>
            <a:solidFill>
              <a:srgbClr val="1E3A5F"/>
            </a:solidFill>
            <a:ln>
              <a:noFill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827722" y="5425916"/>
              <a:ext cx="3498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 1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824865" y="55445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输入与跑通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580072" y="5835491"/>
              <a:ext cx="24669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专家知识入库 · 行为信号定义 · 聚类链路打通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3" name="Group 193"/>
          <p:cNvGrpSpPr/>
          <p:nvPr/>
        </p:nvGrpSpPr>
        <p:grpSpPr>
          <a:xfrm>
            <a:off x="3295650" y="5334000"/>
            <a:ext cx="2724150" cy="876300"/>
            <a:chOff x="3295650" y="5334000"/>
            <a:chExt cx="2724150" cy="876300"/>
          </a:xfrm>
        </p:grpSpPr>
        <p:sp>
          <p:nvSpPr>
            <p:cNvPr id="187" name="Rectangle 187"/>
            <p:cNvSpPr/>
            <p:nvPr/>
          </p:nvSpPr>
          <p:spPr>
            <a:xfrm>
              <a:off x="3295650" y="5334000"/>
              <a:ext cx="272415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188" name="Rectangle 188"/>
            <p:cNvSpPr/>
            <p:nvPr/>
          </p:nvSpPr>
          <p:spPr>
            <a:xfrm>
              <a:off x="3295650" y="53340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89" name="Freeform 189"/>
            <p:cNvSpPr/>
            <p:nvPr/>
          </p:nvSpPr>
          <p:spPr>
            <a:xfrm>
              <a:off x="3467100" y="5467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83344" y="35719"/>
                  </a:moveTo>
                  <a:lnTo>
                    <a:pt x="83344" y="100182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07156" y="90318"/>
                  </a:lnTo>
                  <a:lnTo>
                    <a:pt x="107156" y="35719"/>
                  </a:lnTo>
                  <a:lnTo>
                    <a:pt x="83344" y="35719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190" name="TextBox 190"/>
            <p:cNvSpPr txBox="1"/>
            <p:nvPr/>
          </p:nvSpPr>
          <p:spPr>
            <a:xfrm>
              <a:off x="3704272" y="5425916"/>
              <a:ext cx="3815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 2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3701415" y="55445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横向对齐</a:t>
              </a:r>
              <a:endParaRPr lang="zh-CN" sz="1050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3456622" y="5835491"/>
              <a:ext cx="24850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专家 / 大模型 / 聚类簇三方对齐 · 发现新维度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0" name="Group 200"/>
          <p:cNvGrpSpPr/>
          <p:nvPr/>
        </p:nvGrpSpPr>
        <p:grpSpPr>
          <a:xfrm>
            <a:off x="6172200" y="5334000"/>
            <a:ext cx="2724150" cy="876300"/>
            <a:chOff x="6172200" y="5334000"/>
            <a:chExt cx="2724150" cy="876300"/>
          </a:xfrm>
        </p:grpSpPr>
        <p:sp>
          <p:nvSpPr>
            <p:cNvPr id="194" name="Rectangle 194"/>
            <p:cNvSpPr/>
            <p:nvPr/>
          </p:nvSpPr>
          <p:spPr>
            <a:xfrm>
              <a:off x="6172200" y="5334000"/>
              <a:ext cx="272415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195" name="Rectangle 195"/>
            <p:cNvSpPr/>
            <p:nvPr/>
          </p:nvSpPr>
          <p:spPr>
            <a:xfrm>
              <a:off x="6172200" y="53340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96" name="Freeform 196"/>
            <p:cNvSpPr/>
            <p:nvPr/>
          </p:nvSpPr>
          <p:spPr>
            <a:xfrm>
              <a:off x="6343650" y="5467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83344" y="35719"/>
                  </a:moveTo>
                  <a:lnTo>
                    <a:pt x="83344" y="100182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07156" y="90318"/>
                  </a:lnTo>
                  <a:lnTo>
                    <a:pt x="107156" y="35719"/>
                  </a:lnTo>
                  <a:lnTo>
                    <a:pt x="83344" y="35719"/>
                  </a:lnTo>
                  <a:close/>
                </a:path>
              </a:pathLst>
            </a:custGeom>
            <a:solidFill>
              <a:srgbClr val="1E3A5F"/>
            </a:solidFill>
            <a:ln>
              <a:noFill/>
            </a:ln>
          </p:spPr>
        </p:sp>
        <p:sp>
          <p:nvSpPr>
            <p:cNvPr id="197" name="TextBox 197"/>
            <p:cNvSpPr txBox="1"/>
            <p:nvPr/>
          </p:nvSpPr>
          <p:spPr>
            <a:xfrm>
              <a:off x="6580822" y="5425916"/>
              <a:ext cx="3815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 3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6577965" y="55445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重点客群下钻</a:t>
              </a:r>
              <a:endPara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6333172" y="5835491"/>
              <a:ext cx="21175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Top 诉求 · 话术 · 风险 · 处置建议输出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7" name="Group 207"/>
          <p:cNvGrpSpPr/>
          <p:nvPr/>
        </p:nvGrpSpPr>
        <p:grpSpPr>
          <a:xfrm>
            <a:off x="9048750" y="5334000"/>
            <a:ext cx="2724150" cy="876300"/>
            <a:chOff x="9048750" y="5334000"/>
            <a:chExt cx="2724150" cy="876300"/>
          </a:xfrm>
        </p:grpSpPr>
        <p:sp>
          <p:nvSpPr>
            <p:cNvPr id="201" name="Rectangle 201"/>
            <p:cNvSpPr/>
            <p:nvPr/>
          </p:nvSpPr>
          <p:spPr>
            <a:xfrm>
              <a:off x="9048750" y="5334000"/>
              <a:ext cx="272415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E2EC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9048750" y="53340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03" name="Freeform 203"/>
            <p:cNvSpPr/>
            <p:nvPr/>
          </p:nvSpPr>
          <p:spPr>
            <a:xfrm>
              <a:off x="9220200" y="5467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83344" y="35719"/>
                  </a:moveTo>
                  <a:lnTo>
                    <a:pt x="83344" y="100182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07156" y="90318"/>
                  </a:lnTo>
                  <a:lnTo>
                    <a:pt x="107156" y="35719"/>
                  </a:lnTo>
                  <a:lnTo>
                    <a:pt x="83344" y="35719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9457372" y="5425916"/>
              <a:ext cx="3815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 4</a:t>
              </a:r>
              <a:endParaRPr lang="zh-CN" sz="825" b="1" dirty="0">
                <a:solidFill>
                  <a:srgbClr val="6670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5" name="TextBox 205"/>
            <p:cNvSpPr txBox="1"/>
            <p:nvPr/>
          </p:nvSpPr>
          <p:spPr>
            <a:xfrm>
              <a:off x="9454515" y="55445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工具化落地</a:t>
              </a:r>
              <a:endParaRPr lang="zh-CN" sz="1050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9209722" y="5835491"/>
              <a:ext cx="23825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工单高亮 · 坐席辅助 · AI 首通回访 · 周复盘</a:t>
              </a:r>
              <a:endParaRPr lang="zh-CN" sz="825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1" name="Group 211"/>
          <p:cNvGrpSpPr/>
          <p:nvPr/>
        </p:nvGrpSpPr>
        <p:grpSpPr>
          <a:xfrm>
            <a:off x="3124200" y="5686425"/>
            <a:ext cx="5924550" cy="171450"/>
            <a:chOff x="3124200" y="5686425"/>
            <a:chExt cx="5924550" cy="171450"/>
          </a:xfrm>
        </p:grpSpPr>
        <p:sp>
          <p:nvSpPr>
            <p:cNvPr id="208" name="Freeform 208"/>
            <p:cNvSpPr/>
            <p:nvPr/>
          </p:nvSpPr>
          <p:spPr>
            <a:xfrm>
              <a:off x="3124200" y="56864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38100"/>
                  </a:moveTo>
                  <a:lnTo>
                    <a:pt x="95250" y="38100"/>
                  </a:lnTo>
                  <a:lnTo>
                    <a:pt x="95250" y="0"/>
                  </a:lnTo>
                  <a:lnTo>
                    <a:pt x="171450" y="85725"/>
                  </a:lnTo>
                  <a:lnTo>
                    <a:pt x="95250" y="171450"/>
                  </a:lnTo>
                  <a:lnTo>
                    <a:pt x="952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8A2B3"/>
            </a:solidFill>
            <a:ln>
              <a:noFill/>
            </a:ln>
          </p:spPr>
        </p:sp>
        <p:sp>
          <p:nvSpPr>
            <p:cNvPr id="209" name="Freeform 209"/>
            <p:cNvSpPr/>
            <p:nvPr/>
          </p:nvSpPr>
          <p:spPr>
            <a:xfrm>
              <a:off x="6000750" y="56864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38100"/>
                  </a:moveTo>
                  <a:lnTo>
                    <a:pt x="95250" y="38100"/>
                  </a:lnTo>
                  <a:lnTo>
                    <a:pt x="95250" y="0"/>
                  </a:lnTo>
                  <a:lnTo>
                    <a:pt x="171450" y="85725"/>
                  </a:lnTo>
                  <a:lnTo>
                    <a:pt x="95250" y="171450"/>
                  </a:lnTo>
                  <a:lnTo>
                    <a:pt x="952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8A2B3"/>
            </a:solidFill>
            <a:ln>
              <a:noFill/>
            </a:ln>
          </p:spPr>
        </p:sp>
        <p:sp>
          <p:nvSpPr>
            <p:cNvPr id="210" name="Freeform 210"/>
            <p:cNvSpPr/>
            <p:nvPr/>
          </p:nvSpPr>
          <p:spPr>
            <a:xfrm>
              <a:off x="8877300" y="56864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38100"/>
                  </a:moveTo>
                  <a:lnTo>
                    <a:pt x="95250" y="38100"/>
                  </a:lnTo>
                  <a:lnTo>
                    <a:pt x="95250" y="0"/>
                  </a:lnTo>
                  <a:lnTo>
                    <a:pt x="171450" y="85725"/>
                  </a:lnTo>
                  <a:lnTo>
                    <a:pt x="95250" y="171450"/>
                  </a:lnTo>
                  <a:lnTo>
                    <a:pt x="952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8A2B3"/>
            </a:solidFill>
            <a:ln>
              <a:noFill/>
            </a:ln>
          </p:spPr>
        </p:sp>
      </p:grpSp>
      <p:grpSp>
        <p:nvGrpSpPr>
          <p:cNvPr id="216" name="Group 216"/>
          <p:cNvGrpSpPr/>
          <p:nvPr/>
        </p:nvGrpSpPr>
        <p:grpSpPr>
          <a:xfrm>
            <a:off x="419100" y="6457950"/>
            <a:ext cx="11364277" cy="259556"/>
            <a:chOff x="419100" y="6457950"/>
            <a:chExt cx="11364277" cy="259556"/>
          </a:xfrm>
        </p:grpSpPr>
        <p:sp>
          <p:nvSpPr>
            <p:cNvPr id="212" name="Line 212"/>
            <p:cNvSpPr/>
            <p:nvPr/>
          </p:nvSpPr>
          <p:spPr>
            <a:xfrm>
              <a:off x="419100" y="6457950"/>
              <a:ext cx="11353800" cy="9525"/>
            </a:xfrm>
            <a:custGeom>
              <a:avLst/>
              <a:gdLst/>
              <a:ahLst/>
              <a:cxnLst/>
              <a:rect l="l" t="t" r="r" b="b"/>
              <a:pathLst>
                <a:path w="11353800" h="9525">
                  <a:moveTo>
                    <a:pt x="0" y="0"/>
                  </a:moveTo>
                  <a:lnTo>
                    <a:pt x="1135380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</a:ln>
          </p:spPr>
        </p:sp>
        <p:sp>
          <p:nvSpPr>
            <p:cNvPr id="213" name="TextBox 213"/>
            <p:cNvSpPr txBox="1"/>
            <p:nvPr/>
          </p:nvSpPr>
          <p:spPr>
            <a:xfrm>
              <a:off x="2094547" y="6511766"/>
              <a:ext cx="22059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共需要</a:t>
              </a:r>
              <a:r>
                <a:rPr lang="en-US" altLang="zh-CN" sz="1200" b="1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r>
                <a:rPr lang="zh-CN" altLang="en-US" sz="1200" b="1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个人力</a:t>
              </a:r>
              <a:r>
                <a:rPr lang="en-US" altLang="zh-CN" sz="1200" b="1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= </a:t>
              </a:r>
              <a:r>
                <a:rPr lang="zh-CN" sz="1200" b="1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 人各 0.5 人力</a:t>
              </a:r>
              <a:endParaRPr lang="zh-CN" sz="1200" b="1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4590097" y="6549866"/>
              <a:ext cx="4572000" cy="127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整体规划</a:t>
              </a:r>
              <a:r>
                <a:rPr lang="zh-CN" sz="825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及代码架构 </a:t>
              </a:r>
              <a:r>
                <a:rPr lang="zh-CN" sz="82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李嘉辉</a:t>
              </a:r>
              <a:r>
                <a:rPr lang="zh-CN" sz="825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· 聚类条线 </a:t>
              </a:r>
              <a:r>
                <a:rPr lang="zh-CN" sz="825" b="1" dirty="0">
                  <a:solidFill>
                    <a:srgbClr val="4A90A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殷文天</a:t>
              </a:r>
              <a:r>
                <a:rPr lang="zh-CN" sz="825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· 行为与分群洞察 </a:t>
              </a:r>
              <a:r>
                <a:rPr lang="zh-CN" sz="82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李怡静</a:t>
              </a:r>
              <a:r>
                <a:rPr lang="zh-CN" sz="825" dirty="0">
                  <a:solidFill>
                    <a:srgbClr val="6670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· 横向比较与发现 </a:t>
              </a:r>
              <a:r>
                <a:rPr lang="zh-CN" sz="82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陶可晗</a:t>
              </a:r>
              <a:endParaRPr lang="zh-CN" sz="82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11256359" y="654986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8A2B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 02 / 02</a:t>
              </a:r>
              <a:endParaRPr lang="zh-CN" sz="825" dirty="0">
                <a:solidFill>
                  <a:srgbClr val="98A2B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4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4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45" grpId="0"/>
      <p:bldP spid="59" grpId="0"/>
      <p:bldP spid="74" grpId="0"/>
      <p:bldP spid="88" grpId="0"/>
      <p:bldP spid="106" grpId="0"/>
      <p:bldP spid="122" grpId="0"/>
      <p:bldP spid="135" grpId="0"/>
      <p:bldP spid="161" grpId="0"/>
      <p:bldP spid="179" grpId="0"/>
      <p:bldP spid="186" grpId="0"/>
      <p:bldP spid="193" grpId="0"/>
      <p:bldP spid="200" grpId="0"/>
      <p:bldP spid="207" grpId="0"/>
      <p:bldP spid="211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2ZjN2JjMTE5MDYzZTVlYjE4MDMzYzllYzhkNmQ4ZD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1586</Words>
  <Application>WPS 演示</Application>
  <PresentationFormat>On-screen Show (4:3)</PresentationFormat>
  <Paragraphs>273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乐观的摸摸头</cp:lastModifiedBy>
  <cp:revision>20</cp:revision>
  <dcterms:created xsi:type="dcterms:W3CDTF">2013-01-27T09:14:00Z</dcterms:created>
  <dcterms:modified xsi:type="dcterms:W3CDTF">2026-05-09T08:54:06Z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8CA1FD9CE634493296FC65C7426953A3_12</vt:lpwstr>
  </property>
  <property fmtid="{D5CDD505-2E9C-101B-9397-08002B2CF9AE}" pid="3" name="KSOProductBuildVer">
    <vt:lpwstr>2052-11.1.0.14309</vt:lpwstr>
  </property>
</Properties>
</file>