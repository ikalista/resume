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8" r:id="rId3"/>
    <p:sldId id="256" r:id="rId5"/>
    <p:sldId id="257" r:id="rId6"/>
  </p:sldIdLst>
  <p:sldSz cx="12192000" cy="6858000" type="screen4x3"/>
  <p:notesSz cx="6858000" cy="9144000"/>
  <p:custDataLst>
    <p:tags r:id="rId10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这一页补充的是客诉风险识别的特征体系。这里要区分清楚四路信号的职责：信贷客诉模型特征是结构化变量底座，包含客诉与进线历史、APP 和 API 行为、账单页和借款详情操作、还款和逾期表现、协商和贷后记录、人群地域变量以及历史评分等。信贷话务特征补充通话和投诉动作，比如外诉次数、进线次数、通话最大和平均时长、截图、附件、投诉 APP、多渠道投诉、上门投诉和诉讼等。强弱判断不放在结构化模型特征里，而是放在 AI 文本特征里：文本会判断用户是强意愿、已付出动作，还是一次性进线、虚拟计划、低行动信号。最后 AI 情绪特征捕捉强不满、急迫、对抗和反复施压。四类特征交叉后，可以把“真实高风险”和“一次性扬言但缺少行动”的用户区分开。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这一页的核心结论是，伏羲 Auto-Research 不只是把模型 AUC 从人工建模的零点七四五提升到零点七五六，更重要的是自动发现了有效的建模策略。它在搜索过程中识别到当前任务更适合使用 GOSS loss，同时针对正负样本比例对 y 的影响做了缓解，并发现过拟合问题后主动降低模型复杂度。这些动作都是自动化完成的，并且已经由模型工程师验证有效。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落到外诉 T30 场景，更高的 AUC 意味着更可靠的外诉风险分层。通话结束后，模型可以更准地区分高风险和低风险人群，高风险人群通过补钱或强化安抚降低外诉概率，低风险人群则减少不必要成本。同时，伏羲 Auto-Research 仍然保留了效率收益，把特征工程和模型工程都从两天压缩到一天，整体建模周期从约十四天缩短到约十二天。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1104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457200" y="990600"/>
              <a:ext cx="11277600" cy="9525"/>
            </a:xfrm>
            <a:prstGeom prst="rect">
              <a:avLst/>
            </a:prstGeom>
            <a:solidFill>
              <a:srgbClr val="D8E1EA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457200" y="308610"/>
            <a:ext cx="8110823" cy="696278"/>
            <a:chOff x="457200" y="308610"/>
            <a:chExt cx="8110823" cy="696278"/>
          </a:xfrm>
        </p:grpSpPr>
        <p:sp>
          <p:nvSpPr>
            <p:cNvPr id="6" name="Rectangle 6"/>
            <p:cNvSpPr/>
            <p:nvPr/>
          </p:nvSpPr>
          <p:spPr>
            <a:xfrm>
              <a:off x="457200" y="361950"/>
              <a:ext cx="76200" cy="419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565C0"/>
                </a:gs>
                <a:gs pos="100000">
                  <a:srgbClr val="00A884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32460" y="308610"/>
              <a:ext cx="7935563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0B1F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客诉风险识别：四路特征融合判断投诉强度</a:t>
              </a:r>
              <a:endParaRPr lang="zh-CN" sz="2700" b="1" dirty="0">
                <a:solidFill>
                  <a:srgbClr val="0B1F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49605" y="730568"/>
              <a:ext cx="74970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客诉模型特征、信贷话务特征、AI 文本特征与 AI 情绪特征共同支撑外诉 T30 风险分层</a:t>
              </a:r>
              <a:endParaRPr lang="zh-CN" sz="13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257800" y="2647950"/>
            <a:ext cx="1676400" cy="1676400"/>
            <a:chOff x="5257800" y="2647950"/>
            <a:chExt cx="1676400" cy="1676400"/>
          </a:xfrm>
        </p:grpSpPr>
        <p:sp>
          <p:nvSpPr>
            <p:cNvPr id="10" name="Ellipse 10"/>
            <p:cNvSpPr/>
            <p:nvPr/>
          </p:nvSpPr>
          <p:spPr>
            <a:xfrm>
              <a:off x="5257800" y="2647950"/>
              <a:ext cx="1676400" cy="1676400"/>
            </a:xfrm>
            <a:prstGeom prst="ellipse">
              <a:avLst/>
            </a:prstGeom>
            <a:solidFill>
              <a:srgbClr val="0B1F33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5410200" y="2800350"/>
              <a:ext cx="1371600" cy="1371600"/>
            </a:xfrm>
            <a:prstGeom prst="ellipse">
              <a:avLst/>
            </a:prstGeom>
            <a:solidFill>
              <a:srgbClr val="0B1F33"/>
            </a:solidFill>
            <a:ln w="19050">
              <a:solidFill>
                <a:srgbClr val="00A884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315950" y="3117532"/>
              <a:ext cx="15601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客诉风险识别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369576" y="3468052"/>
              <a:ext cx="14528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D8E1E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结构化变量 × AI 理解</a:t>
              </a:r>
              <a:endParaRPr lang="zh-CN" sz="1050" dirty="0">
                <a:solidFill>
                  <a:srgbClr val="D8E1E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514023" y="3723799"/>
              <a:ext cx="11639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00A88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输出高低风险分层</a:t>
              </a:r>
              <a:endParaRPr lang="zh-CN" sz="975" dirty="0">
                <a:solidFill>
                  <a:srgbClr val="00A88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343400" y="2419350"/>
            <a:ext cx="3505200" cy="2133600"/>
            <a:chOff x="4343400" y="2419350"/>
            <a:chExt cx="3505200" cy="2133600"/>
          </a:xfrm>
        </p:grpSpPr>
        <p:sp>
          <p:nvSpPr>
            <p:cNvPr id="16" name="Line 16"/>
            <p:cNvSpPr/>
            <p:nvPr/>
          </p:nvSpPr>
          <p:spPr>
            <a:xfrm flipH="1" flipV="1">
              <a:off x="4343400" y="2419350"/>
              <a:ext cx="914400" cy="552450"/>
            </a:xfrm>
            <a:prstGeom prst="line">
              <a:avLst/>
            </a:prstGeom>
            <a:noFill/>
            <a:ln w="28575">
              <a:solidFill>
                <a:srgbClr val="1565C0"/>
              </a:solidFill>
              <a:tailEnd type="triangle" w="lg" len="lg"/>
            </a:ln>
          </p:spPr>
        </p:sp>
        <p:sp>
          <p:nvSpPr>
            <p:cNvPr id="17" name="Line 17"/>
            <p:cNvSpPr/>
            <p:nvPr/>
          </p:nvSpPr>
          <p:spPr>
            <a:xfrm flipV="1">
              <a:off x="6934200" y="2419350"/>
              <a:ext cx="914400" cy="552450"/>
            </a:xfrm>
            <a:prstGeom prst="line">
              <a:avLst/>
            </a:prstGeom>
            <a:noFill/>
            <a:ln w="28575">
              <a:solidFill>
                <a:srgbClr val="1565C0"/>
              </a:solidFill>
              <a:tailEnd type="triangle" w="lg" len="lg"/>
            </a:ln>
          </p:spPr>
        </p:sp>
        <p:sp>
          <p:nvSpPr>
            <p:cNvPr id="18" name="Line 18"/>
            <p:cNvSpPr/>
            <p:nvPr/>
          </p:nvSpPr>
          <p:spPr>
            <a:xfrm flipH="1">
              <a:off x="4343400" y="4000500"/>
              <a:ext cx="914400" cy="552450"/>
            </a:xfrm>
            <a:prstGeom prst="line">
              <a:avLst/>
            </a:prstGeom>
            <a:noFill/>
            <a:ln w="28575">
              <a:solidFill>
                <a:srgbClr val="00A884"/>
              </a:solidFill>
              <a:tailEnd type="triangle" w="lg" len="lg"/>
            </a:ln>
          </p:spPr>
        </p:sp>
        <p:sp>
          <p:nvSpPr>
            <p:cNvPr id="19" name="Line 19"/>
            <p:cNvSpPr/>
            <p:nvPr/>
          </p:nvSpPr>
          <p:spPr>
            <a:xfrm>
              <a:off x="6934200" y="4000500"/>
              <a:ext cx="914400" cy="552450"/>
            </a:xfrm>
            <a:prstGeom prst="line">
              <a:avLst/>
            </a:prstGeom>
            <a:noFill/>
            <a:ln w="28575">
              <a:solidFill>
                <a:srgbClr val="00A884"/>
              </a:solidFill>
              <a:tailEnd type="triangle" w="lg" len="lg"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457200" y="1314450"/>
            <a:ext cx="4610100" cy="2019300"/>
            <a:chOff x="457200" y="1314450"/>
            <a:chExt cx="4610100" cy="2019300"/>
          </a:xfrm>
        </p:grpSpPr>
        <p:sp>
          <p:nvSpPr>
            <p:cNvPr id="21" name="Rectangle 21"/>
            <p:cNvSpPr/>
            <p:nvPr/>
          </p:nvSpPr>
          <p:spPr>
            <a:xfrm>
              <a:off x="457200" y="1314450"/>
              <a:ext cx="4610100" cy="2019300"/>
            </a:xfrm>
            <a:prstGeom prst="roundRect">
              <a:avLst>
                <a:gd name="adj" fmla="val 3774"/>
              </a:avLst>
            </a:prstGeom>
            <a:solidFill>
              <a:srgbClr val="FFFFFF"/>
            </a:solidFill>
            <a:ln w="13335">
              <a:solidFill>
                <a:srgbClr val="1565C0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57200" y="1314450"/>
              <a:ext cx="4610100" cy="457200"/>
            </a:xfrm>
            <a:prstGeom prst="roundRect">
              <a:avLst>
                <a:gd name="adj" fmla="val 16667"/>
              </a:avLst>
            </a:prstGeom>
            <a:solidFill>
              <a:srgbClr val="E8F2FF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735806" y="1476970"/>
              <a:ext cx="185738" cy="193727"/>
              <a:chOff x="735806" y="1476970"/>
              <a:chExt cx="185738" cy="193727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743545" y="1484709"/>
                <a:ext cx="170259" cy="178115"/>
              </a:xfrm>
              <a:custGeom>
                <a:avLst/>
                <a:gdLst/>
                <a:ahLst/>
                <a:cxnLst/>
                <a:rect l="l" t="t" r="r" b="b"/>
                <a:pathLst>
                  <a:path w="170259" h="178115">
                    <a:moveTo>
                      <a:pt x="170259" y="7739"/>
                    </a:moveTo>
                    <a:lnTo>
                      <a:pt x="170259" y="64592"/>
                    </a:lnTo>
                    <a:cubicBezTo>
                      <a:pt x="170259" y="146026"/>
                      <a:pt x="101275" y="173007"/>
                      <a:pt x="87509" y="177582"/>
                    </a:cubicBezTo>
                    <a:cubicBezTo>
                      <a:pt x="85968" y="178115"/>
                      <a:pt x="84292" y="178115"/>
                      <a:pt x="82750" y="177582"/>
                    </a:cubicBezTo>
                    <a:cubicBezTo>
                      <a:pt x="68984" y="173026"/>
                      <a:pt x="0" y="146075"/>
                      <a:pt x="0" y="64611"/>
                    </a:cubicBezTo>
                    <a:lnTo>
                      <a:pt x="0" y="7739"/>
                    </a:lnTo>
                    <a:cubicBezTo>
                      <a:pt x="0" y="3465"/>
                      <a:pt x="3465" y="0"/>
                      <a:pt x="7739" y="0"/>
                    </a:cubicBezTo>
                    <a:lnTo>
                      <a:pt x="162520" y="0"/>
                    </a:lnTo>
                    <a:cubicBezTo>
                      <a:pt x="166794" y="0"/>
                      <a:pt x="170259" y="3465"/>
                      <a:pt x="170259" y="7739"/>
                    </a:cubicBezTo>
                    <a:close/>
                  </a:path>
                </a:pathLst>
              </a:custGeom>
              <a:solidFill>
                <a:srgbClr val="1565C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735806" y="1476970"/>
                <a:ext cx="185738" cy="193727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93727">
                    <a:moveTo>
                      <a:pt x="170259" y="0"/>
                    </a:moveTo>
                    <a:lnTo>
                      <a:pt x="15478" y="0"/>
                    </a:lnTo>
                    <a:cubicBezTo>
                      <a:pt x="6930" y="0"/>
                      <a:pt x="0" y="6930"/>
                      <a:pt x="0" y="15478"/>
                    </a:cubicBezTo>
                    <a:lnTo>
                      <a:pt x="0" y="72331"/>
                    </a:lnTo>
                    <a:cubicBezTo>
                      <a:pt x="0" y="159028"/>
                      <a:pt x="73347" y="187779"/>
                      <a:pt x="88032" y="192654"/>
                    </a:cubicBezTo>
                    <a:cubicBezTo>
                      <a:pt x="91167" y="193727"/>
                      <a:pt x="94570" y="193727"/>
                      <a:pt x="97706" y="192654"/>
                    </a:cubicBezTo>
                    <a:cubicBezTo>
                      <a:pt x="112410" y="187769"/>
                      <a:pt x="185738" y="159018"/>
                      <a:pt x="185738" y="72322"/>
                    </a:cubicBezTo>
                    <a:lnTo>
                      <a:pt x="185738" y="15478"/>
                    </a:lnTo>
                    <a:cubicBezTo>
                      <a:pt x="185738" y="6930"/>
                      <a:pt x="178808" y="0"/>
                      <a:pt x="170259" y="0"/>
                    </a:cubicBezTo>
                    <a:close/>
                    <a:moveTo>
                      <a:pt x="170259" y="72351"/>
                    </a:moveTo>
                    <a:cubicBezTo>
                      <a:pt x="170259" y="148213"/>
                      <a:pt x="106083" y="173558"/>
                      <a:pt x="92869" y="177969"/>
                    </a:cubicBezTo>
                    <a:cubicBezTo>
                      <a:pt x="79780" y="173616"/>
                      <a:pt x="15478" y="148290"/>
                      <a:pt x="15478" y="72351"/>
                    </a:cubicBezTo>
                    <a:lnTo>
                      <a:pt x="15478" y="15478"/>
                    </a:lnTo>
                    <a:lnTo>
                      <a:pt x="170259" y="15478"/>
                    </a:lnTo>
                    <a:close/>
                    <a:moveTo>
                      <a:pt x="85130" y="92869"/>
                    </a:moveTo>
                    <a:lnTo>
                      <a:pt x="85130" y="54173"/>
                    </a:lnTo>
                    <a:cubicBezTo>
                      <a:pt x="85130" y="49899"/>
                      <a:pt x="88595" y="46434"/>
                      <a:pt x="92869" y="46434"/>
                    </a:cubicBezTo>
                    <a:cubicBezTo>
                      <a:pt x="97143" y="46434"/>
                      <a:pt x="100608" y="49899"/>
                      <a:pt x="100608" y="54173"/>
                    </a:cubicBezTo>
                    <a:lnTo>
                      <a:pt x="100608" y="92869"/>
                    </a:lnTo>
                    <a:cubicBezTo>
                      <a:pt x="100608" y="97143"/>
                      <a:pt x="97143" y="100608"/>
                      <a:pt x="92869" y="100608"/>
                    </a:cubicBezTo>
                    <a:cubicBezTo>
                      <a:pt x="88595" y="100608"/>
                      <a:pt x="85130" y="97143"/>
                      <a:pt x="85130" y="92869"/>
                    </a:cubicBezTo>
                    <a:close/>
                    <a:moveTo>
                      <a:pt x="81260" y="127695"/>
                    </a:moveTo>
                    <a:cubicBezTo>
                      <a:pt x="81260" y="121283"/>
                      <a:pt x="86458" y="116086"/>
                      <a:pt x="92869" y="116086"/>
                    </a:cubicBezTo>
                    <a:cubicBezTo>
                      <a:pt x="99280" y="116086"/>
                      <a:pt x="104477" y="121283"/>
                      <a:pt x="104477" y="127695"/>
                    </a:cubicBezTo>
                    <a:cubicBezTo>
                      <a:pt x="104477" y="134106"/>
                      <a:pt x="99280" y="139303"/>
                      <a:pt x="92869" y="139303"/>
                    </a:cubicBezTo>
                    <a:cubicBezTo>
                      <a:pt x="86458" y="139303"/>
                      <a:pt x="81260" y="134106"/>
                      <a:pt x="81260" y="127695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049655" y="1463992"/>
              <a:ext cx="16904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1F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信贷客诉模型特征</a:t>
              </a:r>
              <a:endParaRPr lang="zh-CN" sz="1350" b="1" dirty="0">
                <a:solidFill>
                  <a:srgbClr val="0B1F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295650" y="1512570"/>
              <a:ext cx="8115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1565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结构化变量层</a:t>
              </a:r>
              <a:endParaRPr lang="zh-CN" sz="900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33" name="Group 33"/>
            <p:cNvGrpSpPr/>
            <p:nvPr/>
          </p:nvGrpSpPr>
          <p:grpSpPr>
            <a:xfrm>
              <a:off x="704850" y="1943100"/>
              <a:ext cx="1962150" cy="1066800"/>
              <a:chOff x="704850" y="1943100"/>
              <a:chExt cx="1962150" cy="106680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704850" y="1943100"/>
                <a:ext cx="1962150" cy="1066800"/>
              </a:xfrm>
              <a:prstGeom prst="roundRect">
                <a:avLst>
                  <a:gd name="adj" fmla="val 7143"/>
                </a:avLst>
              </a:prstGeom>
              <a:solidFill>
                <a:srgbClr val="FDECEC"/>
              </a:solidFill>
              <a:ln w="9525">
                <a:solidFill>
                  <a:srgbClr val="E55353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880110" y="2051685"/>
                <a:ext cx="131864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E5535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客诉与进线历史</a:t>
                </a:r>
                <a:endParaRPr lang="zh-CN" sz="1200" b="1" dirty="0">
                  <a:solidFill>
                    <a:srgbClr val="E5535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82968" y="2314099"/>
                <a:ext cx="171931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0B1F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ticketcount / 90d 非本人</a:t>
                </a:r>
                <a:endParaRPr lang="zh-CN" sz="975" dirty="0">
                  <a:solidFill>
                    <a:srgbClr val="0B1F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882968" y="2523649"/>
                <a:ext cx="143451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0B1F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incoming_cnt_15_day</a:t>
                </a:r>
                <a:endParaRPr lang="zh-CN" sz="975" dirty="0">
                  <a:solidFill>
                    <a:srgbClr val="0B1F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82968" y="2733199"/>
                <a:ext cx="171931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0B1F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total_complaint_7d / 10d</a:t>
                </a:r>
                <a:endParaRPr lang="zh-CN" sz="975" dirty="0">
                  <a:solidFill>
                    <a:srgbClr val="0B1F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2895600" y="1943100"/>
              <a:ext cx="1924050" cy="1066800"/>
              <a:chOff x="2895600" y="1943100"/>
              <a:chExt cx="1924050" cy="10668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2895600" y="1943100"/>
                <a:ext cx="1924050" cy="1066800"/>
              </a:xfrm>
              <a:prstGeom prst="roundRect">
                <a:avLst>
                  <a:gd name="adj" fmla="val 7143"/>
                </a:avLst>
              </a:prstGeom>
              <a:solidFill>
                <a:srgbClr val="E8F8F2"/>
              </a:solidFill>
              <a:ln w="9525">
                <a:solidFill>
                  <a:srgbClr val="00A884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3070860" y="2051685"/>
                <a:ext cx="155787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0A884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行为 / 履约 / 人群</a:t>
                </a:r>
                <a:endParaRPr lang="zh-CN" sz="1200" b="1" dirty="0">
                  <a:solidFill>
                    <a:srgbClr val="00A88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3073718" y="2314099"/>
                <a:ext cx="149859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0B1F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APP / API / 账单页操作</a:t>
                </a:r>
                <a:endParaRPr lang="zh-CN" sz="975" dirty="0">
                  <a:solidFill>
                    <a:srgbClr val="0B1F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3073718" y="2523649"/>
                <a:ext cx="159115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0B1F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还款、逾期、拒绝、协商</a:t>
                </a:r>
                <a:endParaRPr lang="zh-CN" sz="975" dirty="0">
                  <a:solidFill>
                    <a:srgbClr val="0B1F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3073718" y="2733199"/>
                <a:ext cx="17264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0B1F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年龄、地域 GDP、历史评分</a:t>
                </a:r>
                <a:endParaRPr lang="zh-CN" sz="975" dirty="0">
                  <a:solidFill>
                    <a:srgbClr val="0B1F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63" name="Group 63"/>
          <p:cNvGrpSpPr/>
          <p:nvPr/>
        </p:nvGrpSpPr>
        <p:grpSpPr>
          <a:xfrm>
            <a:off x="7124700" y="1314450"/>
            <a:ext cx="4610100" cy="2019300"/>
            <a:chOff x="7124700" y="1314450"/>
            <a:chExt cx="4610100" cy="2019300"/>
          </a:xfrm>
        </p:grpSpPr>
        <p:sp>
          <p:nvSpPr>
            <p:cNvPr id="41" name="Rectangle 41"/>
            <p:cNvSpPr/>
            <p:nvPr/>
          </p:nvSpPr>
          <p:spPr>
            <a:xfrm>
              <a:off x="7124700" y="1314450"/>
              <a:ext cx="4610100" cy="2019300"/>
            </a:xfrm>
            <a:prstGeom prst="roundRect">
              <a:avLst>
                <a:gd name="adj" fmla="val 3774"/>
              </a:avLst>
            </a:prstGeom>
            <a:solidFill>
              <a:srgbClr val="FFFFFF"/>
            </a:solidFill>
            <a:ln w="11430">
              <a:solidFill>
                <a:srgbClr val="D8E1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7124700" y="1314450"/>
              <a:ext cx="4610100" cy="457200"/>
            </a:xfrm>
            <a:prstGeom prst="roundRect">
              <a:avLst>
                <a:gd name="adj" fmla="val 16667"/>
              </a:avLst>
            </a:prstGeom>
            <a:solidFill>
              <a:srgbClr val="E8F2FF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7403257" y="1460777"/>
              <a:ext cx="194236" cy="194241"/>
              <a:chOff x="7403257" y="1460777"/>
              <a:chExt cx="194236" cy="194241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7411027" y="1468884"/>
                <a:ext cx="178364" cy="178363"/>
              </a:xfrm>
              <a:custGeom>
                <a:avLst/>
                <a:gdLst/>
                <a:ahLst/>
                <a:cxnLst/>
                <a:rect l="l" t="t" r="r" b="b"/>
                <a:pathLst>
                  <a:path w="178364" h="178363">
                    <a:moveTo>
                      <a:pt x="177958" y="137793"/>
                    </a:moveTo>
                    <a:cubicBezTo>
                      <a:pt x="174850" y="161024"/>
                      <a:pt x="155020" y="178363"/>
                      <a:pt x="131582" y="178346"/>
                    </a:cubicBezTo>
                    <a:cubicBezTo>
                      <a:pt x="58921" y="178346"/>
                      <a:pt x="18" y="119442"/>
                      <a:pt x="18" y="46781"/>
                    </a:cubicBezTo>
                    <a:cubicBezTo>
                      <a:pt x="0" y="23343"/>
                      <a:pt x="17339" y="3514"/>
                      <a:pt x="40571" y="405"/>
                    </a:cubicBezTo>
                    <a:cubicBezTo>
                      <a:pt x="43981" y="0"/>
                      <a:pt x="47250" y="1891"/>
                      <a:pt x="48600" y="5049"/>
                    </a:cubicBezTo>
                    <a:lnTo>
                      <a:pt x="69041" y="50709"/>
                    </a:lnTo>
                    <a:cubicBezTo>
                      <a:pt x="70061" y="53091"/>
                      <a:pt x="69821" y="55825"/>
                      <a:pt x="68402" y="57993"/>
                    </a:cubicBezTo>
                    <a:lnTo>
                      <a:pt x="47729" y="82575"/>
                    </a:lnTo>
                    <a:cubicBezTo>
                      <a:pt x="46237" y="84826"/>
                      <a:pt x="46039" y="87695"/>
                      <a:pt x="47207" y="90130"/>
                    </a:cubicBezTo>
                    <a:cubicBezTo>
                      <a:pt x="55207" y="106508"/>
                      <a:pt x="72136" y="123234"/>
                      <a:pt x="88562" y="131157"/>
                    </a:cubicBezTo>
                    <a:cubicBezTo>
                      <a:pt x="91011" y="132319"/>
                      <a:pt x="93891" y="132102"/>
                      <a:pt x="96137" y="130586"/>
                    </a:cubicBezTo>
                    <a:lnTo>
                      <a:pt x="120322" y="109981"/>
                    </a:lnTo>
                    <a:cubicBezTo>
                      <a:pt x="122499" y="108532"/>
                      <a:pt x="125261" y="108281"/>
                      <a:pt x="127664" y="109313"/>
                    </a:cubicBezTo>
                    <a:lnTo>
                      <a:pt x="173286" y="129754"/>
                    </a:lnTo>
                    <a:cubicBezTo>
                      <a:pt x="176459" y="131095"/>
                      <a:pt x="178364" y="134372"/>
                      <a:pt x="177958" y="137793"/>
                    </a:cubicBezTo>
                    <a:close/>
                  </a:path>
                </a:pathLst>
              </a:custGeom>
              <a:solidFill>
                <a:srgbClr val="1565C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7403257" y="1460777"/>
                <a:ext cx="194236" cy="194241"/>
              </a:xfrm>
              <a:custGeom>
                <a:avLst/>
                <a:gdLst/>
                <a:ahLst/>
                <a:cxnLst/>
                <a:rect l="l" t="t" r="r" b="b"/>
                <a:pathLst>
                  <a:path w="194236" h="194241">
                    <a:moveTo>
                      <a:pt x="116396" y="14191"/>
                    </a:moveTo>
                    <a:cubicBezTo>
                      <a:pt x="116927" y="12207"/>
                      <a:pt x="118224" y="10516"/>
                      <a:pt x="120002" y="9489"/>
                    </a:cubicBezTo>
                    <a:cubicBezTo>
                      <a:pt x="121780" y="8462"/>
                      <a:pt x="123893" y="8184"/>
                      <a:pt x="125877" y="8715"/>
                    </a:cubicBezTo>
                    <a:cubicBezTo>
                      <a:pt x="155090" y="16337"/>
                      <a:pt x="177903" y="39151"/>
                      <a:pt x="185525" y="68364"/>
                    </a:cubicBezTo>
                    <a:cubicBezTo>
                      <a:pt x="186057" y="70348"/>
                      <a:pt x="185779" y="72461"/>
                      <a:pt x="184752" y="74239"/>
                    </a:cubicBezTo>
                    <a:cubicBezTo>
                      <a:pt x="183725" y="76017"/>
                      <a:pt x="182034" y="77314"/>
                      <a:pt x="180050" y="77845"/>
                    </a:cubicBezTo>
                    <a:cubicBezTo>
                      <a:pt x="179396" y="78016"/>
                      <a:pt x="178723" y="78104"/>
                      <a:pt x="178047" y="78106"/>
                    </a:cubicBezTo>
                    <a:cubicBezTo>
                      <a:pt x="174541" y="78106"/>
                      <a:pt x="171473" y="75748"/>
                      <a:pt x="170570" y="72360"/>
                    </a:cubicBezTo>
                    <a:cubicBezTo>
                      <a:pt x="164353" y="48511"/>
                      <a:pt x="145729" y="29888"/>
                      <a:pt x="121881" y="23671"/>
                    </a:cubicBezTo>
                    <a:cubicBezTo>
                      <a:pt x="119896" y="23143"/>
                      <a:pt x="118202" y="21846"/>
                      <a:pt x="117173" y="20068"/>
                    </a:cubicBezTo>
                    <a:cubicBezTo>
                      <a:pt x="116144" y="18290"/>
                      <a:pt x="115865" y="16175"/>
                      <a:pt x="116396" y="14191"/>
                    </a:cubicBezTo>
                    <a:close/>
                    <a:moveTo>
                      <a:pt x="114142" y="54627"/>
                    </a:moveTo>
                    <a:cubicBezTo>
                      <a:pt x="127482" y="58187"/>
                      <a:pt x="136053" y="66758"/>
                      <a:pt x="139613" y="80099"/>
                    </a:cubicBezTo>
                    <a:cubicBezTo>
                      <a:pt x="140516" y="83487"/>
                      <a:pt x="143585" y="85845"/>
                      <a:pt x="147091" y="85845"/>
                    </a:cubicBezTo>
                    <a:cubicBezTo>
                      <a:pt x="147767" y="85843"/>
                      <a:pt x="148440" y="85755"/>
                      <a:pt x="149094" y="85584"/>
                    </a:cubicBezTo>
                    <a:cubicBezTo>
                      <a:pt x="151077" y="85053"/>
                      <a:pt x="152769" y="83756"/>
                      <a:pt x="153796" y="81978"/>
                    </a:cubicBezTo>
                    <a:cubicBezTo>
                      <a:pt x="154823" y="80200"/>
                      <a:pt x="155101" y="78087"/>
                      <a:pt x="154569" y="76103"/>
                    </a:cubicBezTo>
                    <a:cubicBezTo>
                      <a:pt x="149616" y="57568"/>
                      <a:pt x="136673" y="44625"/>
                      <a:pt x="118137" y="39672"/>
                    </a:cubicBezTo>
                    <a:cubicBezTo>
                      <a:pt x="114008" y="38568"/>
                      <a:pt x="109765" y="41022"/>
                      <a:pt x="108662" y="45152"/>
                    </a:cubicBezTo>
                    <a:cubicBezTo>
                      <a:pt x="107559" y="49282"/>
                      <a:pt x="110012" y="53524"/>
                      <a:pt x="114142" y="54627"/>
                    </a:cubicBezTo>
                    <a:close/>
                    <a:moveTo>
                      <a:pt x="193410" y="146867"/>
                    </a:moveTo>
                    <a:cubicBezTo>
                      <a:pt x="189841" y="173984"/>
                      <a:pt x="166703" y="194241"/>
                      <a:pt x="139352" y="194192"/>
                    </a:cubicBezTo>
                    <a:cubicBezTo>
                      <a:pt x="62542" y="194192"/>
                      <a:pt x="49" y="131699"/>
                      <a:pt x="49" y="54889"/>
                    </a:cubicBezTo>
                    <a:cubicBezTo>
                      <a:pt x="0" y="27538"/>
                      <a:pt x="20257" y="4400"/>
                      <a:pt x="47373" y="831"/>
                    </a:cubicBezTo>
                    <a:cubicBezTo>
                      <a:pt x="54181" y="0"/>
                      <a:pt x="60724" y="3748"/>
                      <a:pt x="63451" y="10041"/>
                    </a:cubicBezTo>
                    <a:lnTo>
                      <a:pt x="83882" y="55653"/>
                    </a:lnTo>
                    <a:lnTo>
                      <a:pt x="83882" y="55769"/>
                    </a:lnTo>
                    <a:cubicBezTo>
                      <a:pt x="85947" y="60533"/>
                      <a:pt x="85486" y="66015"/>
                      <a:pt x="82654" y="70367"/>
                    </a:cubicBezTo>
                    <a:cubicBezTo>
                      <a:pt x="82480" y="70628"/>
                      <a:pt x="82296" y="70870"/>
                      <a:pt x="82102" y="71112"/>
                    </a:cubicBezTo>
                    <a:lnTo>
                      <a:pt x="61962" y="94987"/>
                    </a:lnTo>
                    <a:cubicBezTo>
                      <a:pt x="69207" y="109710"/>
                      <a:pt x="84608" y="124975"/>
                      <a:pt x="99525" y="132241"/>
                    </a:cubicBezTo>
                    <a:lnTo>
                      <a:pt x="123071" y="112206"/>
                    </a:lnTo>
                    <a:cubicBezTo>
                      <a:pt x="123302" y="112012"/>
                      <a:pt x="123545" y="111831"/>
                      <a:pt x="123797" y="111664"/>
                    </a:cubicBezTo>
                    <a:cubicBezTo>
                      <a:pt x="128146" y="108764"/>
                      <a:pt x="133665" y="108254"/>
                      <a:pt x="138472" y="110310"/>
                    </a:cubicBezTo>
                    <a:lnTo>
                      <a:pt x="138598" y="110368"/>
                    </a:lnTo>
                    <a:lnTo>
                      <a:pt x="184171" y="130789"/>
                    </a:lnTo>
                    <a:cubicBezTo>
                      <a:pt x="190475" y="133507"/>
                      <a:pt x="194236" y="140052"/>
                      <a:pt x="193410" y="146867"/>
                    </a:cubicBezTo>
                    <a:close/>
                    <a:moveTo>
                      <a:pt x="178047" y="144933"/>
                    </a:moveTo>
                    <a:cubicBezTo>
                      <a:pt x="178047" y="144933"/>
                      <a:pt x="177980" y="144933"/>
                      <a:pt x="177941" y="144933"/>
                    </a:cubicBezTo>
                    <a:lnTo>
                      <a:pt x="177941" y="144933"/>
                    </a:lnTo>
                    <a:lnTo>
                      <a:pt x="132474" y="124569"/>
                    </a:lnTo>
                    <a:lnTo>
                      <a:pt x="108918" y="144604"/>
                    </a:lnTo>
                    <a:cubicBezTo>
                      <a:pt x="108690" y="144797"/>
                      <a:pt x="108451" y="144978"/>
                      <a:pt x="108202" y="145145"/>
                    </a:cubicBezTo>
                    <a:cubicBezTo>
                      <a:pt x="103671" y="148168"/>
                      <a:pt x="97885" y="148587"/>
                      <a:pt x="92966" y="146248"/>
                    </a:cubicBezTo>
                    <a:cubicBezTo>
                      <a:pt x="74847" y="137493"/>
                      <a:pt x="56786" y="119568"/>
                      <a:pt x="48022" y="101642"/>
                    </a:cubicBezTo>
                    <a:cubicBezTo>
                      <a:pt x="45661" y="96760"/>
                      <a:pt x="46028" y="90998"/>
                      <a:pt x="48989" y="86454"/>
                    </a:cubicBezTo>
                    <a:cubicBezTo>
                      <a:pt x="49153" y="86192"/>
                      <a:pt x="49337" y="85943"/>
                      <a:pt x="49540" y="85709"/>
                    </a:cubicBezTo>
                    <a:lnTo>
                      <a:pt x="69701" y="61805"/>
                    </a:lnTo>
                    <a:lnTo>
                      <a:pt x="49386" y="16338"/>
                    </a:lnTo>
                    <a:cubicBezTo>
                      <a:pt x="49382" y="16300"/>
                      <a:pt x="49382" y="16261"/>
                      <a:pt x="49386" y="16222"/>
                    </a:cubicBezTo>
                    <a:cubicBezTo>
                      <a:pt x="29977" y="18754"/>
                      <a:pt x="15475" y="35316"/>
                      <a:pt x="15527" y="54889"/>
                    </a:cubicBezTo>
                    <a:cubicBezTo>
                      <a:pt x="15602" y="123244"/>
                      <a:pt x="70996" y="178639"/>
                      <a:pt x="139352" y="178714"/>
                    </a:cubicBezTo>
                    <a:cubicBezTo>
                      <a:pt x="158912" y="178781"/>
                      <a:pt x="175479" y="164313"/>
                      <a:pt x="178047" y="144923"/>
                    </a:cubicBezTo>
                    <a:close/>
                  </a:path>
                </a:pathLst>
              </a:custGeom>
              <a:solidFill>
                <a:srgbClr val="1565C0"/>
              </a:solidFill>
              <a:ln>
                <a:noFill/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7717155" y="1463992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1F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信贷话务特征</a:t>
              </a:r>
              <a:endParaRPr lang="zh-CN" sz="1350" b="1" dirty="0">
                <a:solidFill>
                  <a:srgbClr val="0B1F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856595" y="1512570"/>
              <a:ext cx="680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1565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接触强度层</a:t>
              </a:r>
              <a:endParaRPr lang="zh-CN" sz="900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62" name="Group 62"/>
            <p:cNvGrpSpPr/>
            <p:nvPr/>
          </p:nvGrpSpPr>
          <p:grpSpPr>
            <a:xfrm>
              <a:off x="7372350" y="1952625"/>
              <a:ext cx="4114800" cy="1140619"/>
              <a:chOff x="7372350" y="1952625"/>
              <a:chExt cx="4114800" cy="1140619"/>
            </a:xfrm>
          </p:grpSpPr>
          <p:sp>
            <p:nvSpPr>
              <p:cNvPr id="48" name="Rectangle 48"/>
              <p:cNvSpPr/>
              <p:nvPr/>
            </p:nvSpPr>
            <p:spPr>
              <a:xfrm>
                <a:off x="7372350" y="1952625"/>
                <a:ext cx="876300" cy="704850"/>
              </a:xfrm>
              <a:prstGeom prst="roundRect">
                <a:avLst>
                  <a:gd name="adj" fmla="val 10811"/>
                </a:avLst>
              </a:prstGeom>
              <a:solidFill>
                <a:srgbClr val="F7FAFC"/>
              </a:solidFill>
              <a:ln w="9525">
                <a:solidFill>
                  <a:srgbClr val="D8E1EA"/>
                </a:solidFill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7586329" y="2083118"/>
                <a:ext cx="44834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1565C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进线</a:t>
                </a:r>
                <a:endParaRPr lang="zh-CN" sz="1350" b="1" dirty="0">
                  <a:solidFill>
                    <a:srgbClr val="1565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7450741" y="2369820"/>
                <a:ext cx="71951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jinxian_cnt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1" name="Rectangle 51"/>
              <p:cNvSpPr/>
              <p:nvPr/>
            </p:nvSpPr>
            <p:spPr>
              <a:xfrm>
                <a:off x="8458200" y="1952625"/>
                <a:ext cx="1104900" cy="704850"/>
              </a:xfrm>
              <a:prstGeom prst="roundRect">
                <a:avLst>
                  <a:gd name="adj" fmla="val 10811"/>
                </a:avLst>
              </a:prstGeom>
              <a:solidFill>
                <a:srgbClr val="F7FAFC"/>
              </a:solidFill>
              <a:ln w="9525">
                <a:solidFill>
                  <a:srgbClr val="D8E1EA"/>
                </a:solidFill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8627364" y="2108835"/>
                <a:ext cx="76657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0B1F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通话时长</a:t>
                </a:r>
                <a:endParaRPr lang="zh-CN" sz="1200" b="1" dirty="0">
                  <a:solidFill>
                    <a:srgbClr val="0B1F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8453723" y="2369820"/>
                <a:ext cx="111385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max / avg / total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4" name="Rectangle 54"/>
              <p:cNvSpPr/>
              <p:nvPr/>
            </p:nvSpPr>
            <p:spPr>
              <a:xfrm>
                <a:off x="9772650" y="1952625"/>
                <a:ext cx="781050" cy="704850"/>
              </a:xfrm>
              <a:prstGeom prst="roundRect">
                <a:avLst>
                  <a:gd name="adj" fmla="val 10811"/>
                </a:avLst>
              </a:prstGeom>
              <a:solidFill>
                <a:srgbClr val="F7FAFC"/>
              </a:solidFill>
              <a:ln w="9525">
                <a:solidFill>
                  <a:srgbClr val="D8E1EA"/>
                </a:solidFill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9963912" y="2108835"/>
                <a:ext cx="39852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0B1F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凭证</a:t>
                </a:r>
                <a:endParaRPr lang="zh-CN" sz="1200" b="1" dirty="0">
                  <a:solidFill>
                    <a:srgbClr val="0B1F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9813274" y="2369820"/>
                <a:ext cx="69980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截图 / 附件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7" name="Rectangle 57"/>
              <p:cNvSpPr/>
              <p:nvPr/>
            </p:nvSpPr>
            <p:spPr>
              <a:xfrm>
                <a:off x="10763250" y="1952625"/>
                <a:ext cx="723900" cy="704850"/>
              </a:xfrm>
              <a:prstGeom prst="roundRect">
                <a:avLst>
                  <a:gd name="adj" fmla="val 10811"/>
                </a:avLst>
              </a:prstGeom>
              <a:solidFill>
                <a:srgbClr val="FDECEC"/>
              </a:solidFill>
              <a:ln w="9525">
                <a:solidFill>
                  <a:srgbClr val="E55353"/>
                </a:solidFill>
              </a:ln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10833926" y="2108835"/>
                <a:ext cx="58254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E5535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强动作</a:t>
                </a:r>
                <a:endParaRPr lang="zh-CN" sz="1200" b="1" dirty="0">
                  <a:solidFill>
                    <a:srgbClr val="E5535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10775299" y="2369820"/>
                <a:ext cx="69980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上门 / 诉讼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0" name="Rectangle 60"/>
              <p:cNvSpPr/>
              <p:nvPr/>
            </p:nvSpPr>
            <p:spPr>
              <a:xfrm>
                <a:off x="7372350" y="2838450"/>
                <a:ext cx="4114800" cy="228600"/>
              </a:xfrm>
              <a:prstGeom prst="roundRect">
                <a:avLst>
                  <a:gd name="adj" fmla="val 33333"/>
                </a:avLst>
              </a:prstGeom>
              <a:solidFill>
                <a:srgbClr val="E8F8F2"/>
              </a:solidFill>
              <a:ln>
                <a:noFill/>
              </a:ln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7705379" y="2895124"/>
                <a:ext cx="344874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00A884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外诉、投诉来源、投诉 APP、多渠道投诉、黑猫 30d</a:t>
                </a:r>
                <a:endParaRPr lang="zh-CN" sz="975" b="1" dirty="0">
                  <a:solidFill>
                    <a:srgbClr val="00A88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82" name="Group 82"/>
          <p:cNvGrpSpPr/>
          <p:nvPr/>
        </p:nvGrpSpPr>
        <p:grpSpPr>
          <a:xfrm>
            <a:off x="457200" y="3638550"/>
            <a:ext cx="4610100" cy="2324100"/>
            <a:chOff x="457200" y="3638550"/>
            <a:chExt cx="4610100" cy="2324100"/>
          </a:xfrm>
        </p:grpSpPr>
        <p:sp>
          <p:nvSpPr>
            <p:cNvPr id="64" name="Rectangle 64"/>
            <p:cNvSpPr/>
            <p:nvPr/>
          </p:nvSpPr>
          <p:spPr>
            <a:xfrm>
              <a:off x="457200" y="3638550"/>
              <a:ext cx="4610100" cy="2324100"/>
            </a:xfrm>
            <a:prstGeom prst="roundRect">
              <a:avLst>
                <a:gd name="adj" fmla="val 3279"/>
              </a:avLst>
            </a:prstGeom>
            <a:solidFill>
              <a:srgbClr val="FFFFFF"/>
            </a:solidFill>
            <a:ln w="11430">
              <a:solidFill>
                <a:srgbClr val="D8E1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457200" y="3638550"/>
              <a:ext cx="4610100" cy="457200"/>
            </a:xfrm>
            <a:prstGeom prst="roundRect">
              <a:avLst>
                <a:gd name="adj" fmla="val 16667"/>
              </a:avLst>
            </a:prstGeom>
            <a:solidFill>
              <a:srgbClr val="E8F8F2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728031" y="3808809"/>
              <a:ext cx="201251" cy="185738"/>
              <a:chOff x="728031" y="3808809"/>
              <a:chExt cx="201251" cy="185738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735806" y="3816548"/>
                <a:ext cx="185738" cy="170794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70794">
                    <a:moveTo>
                      <a:pt x="185738" y="7739"/>
                    </a:moveTo>
                    <a:lnTo>
                      <a:pt x="185738" y="131564"/>
                    </a:lnTo>
                    <a:cubicBezTo>
                      <a:pt x="185738" y="135838"/>
                      <a:pt x="182273" y="139303"/>
                      <a:pt x="177998" y="139303"/>
                    </a:cubicBezTo>
                    <a:lnTo>
                      <a:pt x="48853" y="139303"/>
                    </a:lnTo>
                    <a:cubicBezTo>
                      <a:pt x="47030" y="139304"/>
                      <a:pt x="45265" y="139948"/>
                      <a:pt x="43871" y="141122"/>
                    </a:cubicBezTo>
                    <a:lnTo>
                      <a:pt x="12721" y="168431"/>
                    </a:lnTo>
                    <a:cubicBezTo>
                      <a:pt x="10420" y="170367"/>
                      <a:pt x="7205" y="170794"/>
                      <a:pt x="4478" y="169527"/>
                    </a:cubicBezTo>
                    <a:cubicBezTo>
                      <a:pt x="1751" y="168260"/>
                      <a:pt x="4" y="165528"/>
                      <a:pt x="0" y="162520"/>
                    </a:cubicBezTo>
                    <a:lnTo>
                      <a:pt x="0" y="7739"/>
                    </a:lnTo>
                    <a:cubicBezTo>
                      <a:pt x="0" y="3465"/>
                      <a:pt x="3465" y="0"/>
                      <a:pt x="7739" y="0"/>
                    </a:cubicBezTo>
                    <a:lnTo>
                      <a:pt x="177998" y="0"/>
                    </a:lnTo>
                    <a:cubicBezTo>
                      <a:pt x="182273" y="0"/>
                      <a:pt x="185738" y="3465"/>
                      <a:pt x="185738" y="7739"/>
                    </a:cubicBezTo>
                    <a:close/>
                  </a:path>
                </a:pathLst>
              </a:custGeom>
              <a:solidFill>
                <a:srgbClr val="00A88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728031" y="3808809"/>
                <a:ext cx="201251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201251" h="185738">
                    <a:moveTo>
                      <a:pt x="185773" y="0"/>
                    </a:moveTo>
                    <a:lnTo>
                      <a:pt x="15514" y="0"/>
                    </a:lnTo>
                    <a:cubicBezTo>
                      <a:pt x="6966" y="0"/>
                      <a:pt x="36" y="6930"/>
                      <a:pt x="36" y="15478"/>
                    </a:cubicBezTo>
                    <a:lnTo>
                      <a:pt x="36" y="170259"/>
                    </a:lnTo>
                    <a:cubicBezTo>
                      <a:pt x="0" y="176285"/>
                      <a:pt x="3497" y="181773"/>
                      <a:pt x="8974" y="184286"/>
                    </a:cubicBezTo>
                    <a:cubicBezTo>
                      <a:pt x="11023" y="185238"/>
                      <a:pt x="13255" y="185733"/>
                      <a:pt x="15514" y="185738"/>
                    </a:cubicBezTo>
                    <a:cubicBezTo>
                      <a:pt x="19147" y="185729"/>
                      <a:pt x="22660" y="184433"/>
                      <a:pt x="25430" y="182081"/>
                    </a:cubicBezTo>
                    <a:cubicBezTo>
                      <a:pt x="25476" y="182051"/>
                      <a:pt x="25518" y="182015"/>
                      <a:pt x="25555" y="181974"/>
                    </a:cubicBezTo>
                    <a:lnTo>
                      <a:pt x="56628" y="154781"/>
                    </a:lnTo>
                    <a:lnTo>
                      <a:pt x="185773" y="154781"/>
                    </a:lnTo>
                    <a:cubicBezTo>
                      <a:pt x="194322" y="154781"/>
                      <a:pt x="201251" y="147851"/>
                      <a:pt x="201251" y="139303"/>
                    </a:cubicBezTo>
                    <a:lnTo>
                      <a:pt x="201251" y="15478"/>
                    </a:lnTo>
                    <a:cubicBezTo>
                      <a:pt x="201251" y="6930"/>
                      <a:pt x="194322" y="0"/>
                      <a:pt x="185773" y="0"/>
                    </a:cubicBezTo>
                    <a:close/>
                    <a:moveTo>
                      <a:pt x="15514" y="170259"/>
                    </a:moveTo>
                    <a:lnTo>
                      <a:pt x="15514" y="170259"/>
                    </a:lnTo>
                    <a:close/>
                    <a:moveTo>
                      <a:pt x="185773" y="139303"/>
                    </a:moveTo>
                    <a:lnTo>
                      <a:pt x="56628" y="139303"/>
                    </a:lnTo>
                    <a:cubicBezTo>
                      <a:pt x="52983" y="139301"/>
                      <a:pt x="49454" y="140586"/>
                      <a:pt x="46664" y="142931"/>
                    </a:cubicBezTo>
                    <a:lnTo>
                      <a:pt x="46547" y="143037"/>
                    </a:lnTo>
                    <a:lnTo>
                      <a:pt x="15514" y="170259"/>
                    </a:lnTo>
                    <a:lnTo>
                      <a:pt x="15514" y="15478"/>
                    </a:lnTo>
                    <a:lnTo>
                      <a:pt x="185773" y="15478"/>
                    </a:lnTo>
                    <a:close/>
                    <a:moveTo>
                      <a:pt x="61948" y="61912"/>
                    </a:moveTo>
                    <a:cubicBezTo>
                      <a:pt x="61948" y="57638"/>
                      <a:pt x="65413" y="54173"/>
                      <a:pt x="69687" y="54173"/>
                    </a:cubicBezTo>
                    <a:lnTo>
                      <a:pt x="131600" y="54173"/>
                    </a:lnTo>
                    <a:cubicBezTo>
                      <a:pt x="135874" y="54173"/>
                      <a:pt x="139339" y="57638"/>
                      <a:pt x="139339" y="61912"/>
                    </a:cubicBezTo>
                    <a:cubicBezTo>
                      <a:pt x="139339" y="66187"/>
                      <a:pt x="135874" y="69652"/>
                      <a:pt x="131600" y="69652"/>
                    </a:cubicBezTo>
                    <a:lnTo>
                      <a:pt x="69687" y="69652"/>
                    </a:lnTo>
                    <a:cubicBezTo>
                      <a:pt x="65413" y="69652"/>
                      <a:pt x="61948" y="66187"/>
                      <a:pt x="61948" y="61912"/>
                    </a:cubicBezTo>
                    <a:close/>
                    <a:moveTo>
                      <a:pt x="61948" y="92869"/>
                    </a:moveTo>
                    <a:cubicBezTo>
                      <a:pt x="61948" y="88595"/>
                      <a:pt x="65413" y="85130"/>
                      <a:pt x="69687" y="85130"/>
                    </a:cubicBezTo>
                    <a:lnTo>
                      <a:pt x="131600" y="85130"/>
                    </a:lnTo>
                    <a:cubicBezTo>
                      <a:pt x="135874" y="85130"/>
                      <a:pt x="139339" y="88595"/>
                      <a:pt x="139339" y="92869"/>
                    </a:cubicBezTo>
                    <a:cubicBezTo>
                      <a:pt x="139339" y="97143"/>
                      <a:pt x="135874" y="100608"/>
                      <a:pt x="131600" y="100608"/>
                    </a:cubicBezTo>
                    <a:lnTo>
                      <a:pt x="69687" y="100608"/>
                    </a:lnTo>
                    <a:cubicBezTo>
                      <a:pt x="65413" y="100608"/>
                      <a:pt x="61948" y="97143"/>
                      <a:pt x="61948" y="92869"/>
                    </a:cubicBezTo>
                    <a:close/>
                  </a:path>
                </a:pathLst>
              </a:custGeom>
              <a:solidFill>
                <a:srgbClr val="00A884"/>
              </a:solidFill>
              <a:ln>
                <a:noFill/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1049655" y="3788092"/>
              <a:ext cx="11004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1F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AI 文本特征</a:t>
              </a:r>
              <a:endParaRPr lang="zh-CN" sz="1350" b="1" dirty="0">
                <a:solidFill>
                  <a:srgbClr val="0B1F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3427095" y="3836670"/>
              <a:ext cx="680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00A88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语义证据层</a:t>
              </a:r>
              <a:endParaRPr lang="zh-CN" sz="900" dirty="0">
                <a:solidFill>
                  <a:srgbClr val="00A88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81" name="Group 81"/>
            <p:cNvGrpSpPr/>
            <p:nvPr/>
          </p:nvGrpSpPr>
          <p:grpSpPr>
            <a:xfrm>
              <a:off x="704850" y="4343400"/>
              <a:ext cx="4114800" cy="1143000"/>
              <a:chOff x="704850" y="4343400"/>
              <a:chExt cx="4114800" cy="1143000"/>
            </a:xfrm>
          </p:grpSpPr>
          <p:sp>
            <p:nvSpPr>
              <p:cNvPr id="71" name="Rectangle 71"/>
              <p:cNvSpPr/>
              <p:nvPr/>
            </p:nvSpPr>
            <p:spPr>
              <a:xfrm>
                <a:off x="704850" y="4343400"/>
                <a:ext cx="1962150" cy="1143000"/>
              </a:xfrm>
              <a:prstGeom prst="roundRect">
                <a:avLst>
                  <a:gd name="adj" fmla="val 6667"/>
                </a:avLst>
              </a:prstGeom>
              <a:solidFill>
                <a:srgbClr val="FDECEC"/>
              </a:solidFill>
              <a:ln w="9525">
                <a:solidFill>
                  <a:srgbClr val="E55353"/>
                </a:solidFill>
              </a:ln>
            </p:spPr>
          </p:sp>
          <p:sp>
            <p:nvSpPr>
              <p:cNvPr id="72" name="TextBox 72"/>
              <p:cNvSpPr txBox="1"/>
              <p:nvPr/>
            </p:nvSpPr>
            <p:spPr>
              <a:xfrm>
                <a:off x="880110" y="4451985"/>
                <a:ext cx="134624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E5535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强意愿 / 已付出</a:t>
                </a:r>
                <a:endParaRPr lang="zh-CN" sz="1200" b="1" dirty="0">
                  <a:solidFill>
                    <a:srgbClr val="E5535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882968" y="4714399"/>
                <a:ext cx="144875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0B1F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高频催促或并发多渠道</a:t>
                </a:r>
                <a:endParaRPr lang="zh-CN" sz="975" dirty="0">
                  <a:solidFill>
                    <a:srgbClr val="0B1F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882968" y="4923949"/>
                <a:ext cx="144875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0B1F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声称外诉、上门、诉讼</a:t>
                </a:r>
                <a:endParaRPr lang="zh-CN" sz="975" dirty="0">
                  <a:solidFill>
                    <a:srgbClr val="0B1F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882968" y="5133499"/>
                <a:ext cx="173355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0B1F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提供收入困难、征信、发票</a:t>
                </a:r>
                <a:endParaRPr lang="zh-CN" sz="975" dirty="0">
                  <a:solidFill>
                    <a:srgbClr val="0B1F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76" name="Rectangle 76"/>
              <p:cNvSpPr/>
              <p:nvPr/>
            </p:nvSpPr>
            <p:spPr>
              <a:xfrm>
                <a:off x="2895600" y="4343400"/>
                <a:ext cx="1924050" cy="1143000"/>
              </a:xfrm>
              <a:prstGeom prst="roundRect">
                <a:avLst>
                  <a:gd name="adj" fmla="val 6667"/>
                </a:avLst>
              </a:prstGeom>
              <a:solidFill>
                <a:srgbClr val="E8F2FF"/>
              </a:solidFill>
              <a:ln w="9525">
                <a:solidFill>
                  <a:srgbClr val="1565C0"/>
                </a:solidFill>
              </a:ln>
            </p:spPr>
          </p:sp>
          <p:sp>
            <p:nvSpPr>
              <p:cNvPr id="77" name="TextBox 77"/>
              <p:cNvSpPr txBox="1"/>
              <p:nvPr/>
            </p:nvSpPr>
            <p:spPr>
              <a:xfrm>
                <a:off x="3070860" y="4451985"/>
                <a:ext cx="153026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565C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弱意愿 / 虚拟计划</a:t>
                </a:r>
                <a:endParaRPr lang="zh-CN" sz="1200" b="1" dirty="0">
                  <a:solidFill>
                    <a:srgbClr val="1565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78" name="TextBox 78"/>
              <p:cNvSpPr txBox="1"/>
              <p:nvPr/>
            </p:nvSpPr>
            <p:spPr>
              <a:xfrm>
                <a:off x="3073718" y="4714399"/>
                <a:ext cx="159115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0B1F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一次性进线，无重复动作</a:t>
                </a:r>
                <a:endParaRPr lang="zh-CN" sz="975" dirty="0">
                  <a:solidFill>
                    <a:srgbClr val="0B1F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3073718" y="4923949"/>
                <a:ext cx="144875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0B1F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首次进线，无历史行为</a:t>
                </a:r>
                <a:endParaRPr lang="zh-CN" sz="975" dirty="0">
                  <a:solidFill>
                    <a:srgbClr val="0B1F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80" name="TextBox 80"/>
              <p:cNvSpPr txBox="1"/>
              <p:nvPr/>
            </p:nvSpPr>
            <p:spPr>
              <a:xfrm>
                <a:off x="3073718" y="5133499"/>
                <a:ext cx="144163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0B1F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沟通较短，APP 行为弱</a:t>
                </a:r>
                <a:endParaRPr lang="zh-CN" sz="975" dirty="0">
                  <a:solidFill>
                    <a:srgbClr val="0B1F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100" name="Group 100"/>
          <p:cNvGrpSpPr/>
          <p:nvPr/>
        </p:nvGrpSpPr>
        <p:grpSpPr>
          <a:xfrm>
            <a:off x="7124700" y="3638550"/>
            <a:ext cx="4610100" cy="2324100"/>
            <a:chOff x="7124700" y="3638550"/>
            <a:chExt cx="4610100" cy="2324100"/>
          </a:xfrm>
        </p:grpSpPr>
        <p:sp>
          <p:nvSpPr>
            <p:cNvPr id="83" name="Rectangle 83"/>
            <p:cNvSpPr/>
            <p:nvPr/>
          </p:nvSpPr>
          <p:spPr>
            <a:xfrm>
              <a:off x="7124700" y="3638550"/>
              <a:ext cx="4610100" cy="2324100"/>
            </a:xfrm>
            <a:prstGeom prst="roundRect">
              <a:avLst>
                <a:gd name="adj" fmla="val 3279"/>
              </a:avLst>
            </a:prstGeom>
            <a:solidFill>
              <a:srgbClr val="FFFFFF"/>
            </a:solidFill>
            <a:ln w="11430">
              <a:solidFill>
                <a:srgbClr val="D8E1EA"/>
              </a:solidFill>
            </a:ln>
          </p:spPr>
        </p:sp>
        <p:sp>
          <p:nvSpPr>
            <p:cNvPr id="84" name="Rectangle 84"/>
            <p:cNvSpPr/>
            <p:nvPr/>
          </p:nvSpPr>
          <p:spPr>
            <a:xfrm>
              <a:off x="7124700" y="3638550"/>
              <a:ext cx="4610100" cy="457200"/>
            </a:xfrm>
            <a:prstGeom prst="roundRect">
              <a:avLst>
                <a:gd name="adj" fmla="val 16667"/>
              </a:avLst>
            </a:prstGeom>
            <a:solidFill>
              <a:srgbClr val="FDECEC"/>
            </a:solidFill>
            <a:ln>
              <a:noFill/>
            </a:ln>
          </p:spPr>
        </p:sp>
        <p:grpSp>
          <p:nvGrpSpPr>
            <p:cNvPr id="87" name="Group 87"/>
            <p:cNvGrpSpPr/>
            <p:nvPr/>
          </p:nvGrpSpPr>
          <p:grpSpPr>
            <a:xfrm>
              <a:off x="7387828" y="3793331"/>
              <a:ext cx="216694" cy="186040"/>
              <a:chOff x="7387828" y="3793331"/>
              <a:chExt cx="216694" cy="186040"/>
            </a:xfrm>
          </p:grpSpPr>
          <p:sp>
            <p:nvSpPr>
              <p:cNvPr id="85" name="Freeform 85"/>
              <p:cNvSpPr/>
              <p:nvPr/>
            </p:nvSpPr>
            <p:spPr>
              <a:xfrm>
                <a:off x="7395567" y="3801070"/>
                <a:ext cx="201216" cy="170259"/>
              </a:xfrm>
              <a:custGeom>
                <a:avLst/>
                <a:gdLst/>
                <a:ahLst/>
                <a:cxnLst/>
                <a:rect l="l" t="t" r="r" b="b"/>
                <a:pathLst>
                  <a:path w="201216" h="170259">
                    <a:moveTo>
                      <a:pt x="201216" y="52239"/>
                    </a:moveTo>
                    <a:cubicBezTo>
                      <a:pt x="201216" y="116086"/>
                      <a:pt x="100608" y="170259"/>
                      <a:pt x="100608" y="170259"/>
                    </a:cubicBezTo>
                    <a:cubicBezTo>
                      <a:pt x="100608" y="170259"/>
                      <a:pt x="0" y="116086"/>
                      <a:pt x="0" y="52239"/>
                    </a:cubicBezTo>
                    <a:cubicBezTo>
                      <a:pt x="0" y="23388"/>
                      <a:pt x="23388" y="0"/>
                      <a:pt x="52239" y="0"/>
                    </a:cubicBezTo>
                    <a:cubicBezTo>
                      <a:pt x="74092" y="0"/>
                      <a:pt x="92811" y="11908"/>
                      <a:pt x="100608" y="30956"/>
                    </a:cubicBezTo>
                    <a:cubicBezTo>
                      <a:pt x="108405" y="11908"/>
                      <a:pt x="127124" y="0"/>
                      <a:pt x="148977" y="0"/>
                    </a:cubicBezTo>
                    <a:cubicBezTo>
                      <a:pt x="177828" y="0"/>
                      <a:pt x="201216" y="23388"/>
                      <a:pt x="201216" y="52239"/>
                    </a:cubicBezTo>
                    <a:close/>
                  </a:path>
                </a:pathLst>
              </a:custGeom>
              <a:solidFill>
                <a:srgbClr val="E55353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7387828" y="3793331"/>
                <a:ext cx="216694" cy="186040"/>
              </a:xfrm>
              <a:custGeom>
                <a:avLst/>
                <a:gdLst/>
                <a:ahLst/>
                <a:cxnLst/>
                <a:rect l="l" t="t" r="r" b="b"/>
                <a:pathLst>
                  <a:path w="216694" h="186040">
                    <a:moveTo>
                      <a:pt x="54173" y="100608"/>
                    </a:moveTo>
                    <a:lnTo>
                      <a:pt x="15478" y="100608"/>
                    </a:lnTo>
                    <a:cubicBezTo>
                      <a:pt x="11204" y="100608"/>
                      <a:pt x="7739" y="97143"/>
                      <a:pt x="7739" y="92869"/>
                    </a:cubicBezTo>
                    <a:cubicBezTo>
                      <a:pt x="7739" y="88595"/>
                      <a:pt x="11204" y="85130"/>
                      <a:pt x="15478" y="85130"/>
                    </a:cubicBezTo>
                    <a:lnTo>
                      <a:pt x="50033" y="85130"/>
                    </a:lnTo>
                    <a:lnTo>
                      <a:pt x="63209" y="65356"/>
                    </a:lnTo>
                    <a:cubicBezTo>
                      <a:pt x="64644" y="63200"/>
                      <a:pt x="67062" y="61905"/>
                      <a:pt x="69652" y="61905"/>
                    </a:cubicBezTo>
                    <a:cubicBezTo>
                      <a:pt x="72241" y="61905"/>
                      <a:pt x="74660" y="63200"/>
                      <a:pt x="76094" y="65356"/>
                    </a:cubicBezTo>
                    <a:lnTo>
                      <a:pt x="100608" y="102117"/>
                    </a:lnTo>
                    <a:lnTo>
                      <a:pt x="109643" y="88574"/>
                    </a:lnTo>
                    <a:cubicBezTo>
                      <a:pt x="111080" y="86420"/>
                      <a:pt x="113498" y="85128"/>
                      <a:pt x="116086" y="85130"/>
                    </a:cubicBezTo>
                    <a:lnTo>
                      <a:pt x="139303" y="85130"/>
                    </a:lnTo>
                    <a:cubicBezTo>
                      <a:pt x="143577" y="85130"/>
                      <a:pt x="147042" y="88595"/>
                      <a:pt x="147042" y="92869"/>
                    </a:cubicBezTo>
                    <a:cubicBezTo>
                      <a:pt x="147042" y="97143"/>
                      <a:pt x="143577" y="100608"/>
                      <a:pt x="139303" y="100608"/>
                    </a:cubicBezTo>
                    <a:lnTo>
                      <a:pt x="120226" y="100608"/>
                    </a:lnTo>
                    <a:lnTo>
                      <a:pt x="107051" y="120381"/>
                    </a:lnTo>
                    <a:cubicBezTo>
                      <a:pt x="105616" y="122537"/>
                      <a:pt x="103198" y="123833"/>
                      <a:pt x="100608" y="123833"/>
                    </a:cubicBezTo>
                    <a:cubicBezTo>
                      <a:pt x="98018" y="123833"/>
                      <a:pt x="95600" y="122537"/>
                      <a:pt x="94165" y="120381"/>
                    </a:cubicBezTo>
                    <a:lnTo>
                      <a:pt x="69652" y="83601"/>
                    </a:lnTo>
                    <a:lnTo>
                      <a:pt x="60616" y="97145"/>
                    </a:lnTo>
                    <a:cubicBezTo>
                      <a:pt x="59184" y="99305"/>
                      <a:pt x="56765" y="100605"/>
                      <a:pt x="54173" y="100608"/>
                    </a:cubicBezTo>
                    <a:close/>
                    <a:moveTo>
                      <a:pt x="156716" y="0"/>
                    </a:moveTo>
                    <a:cubicBezTo>
                      <a:pt x="136740" y="0"/>
                      <a:pt x="119249" y="8590"/>
                      <a:pt x="108347" y="23111"/>
                    </a:cubicBezTo>
                    <a:cubicBezTo>
                      <a:pt x="97444" y="8590"/>
                      <a:pt x="79954" y="0"/>
                      <a:pt x="59978" y="0"/>
                    </a:cubicBezTo>
                    <a:cubicBezTo>
                      <a:pt x="26868" y="37"/>
                      <a:pt x="37" y="26868"/>
                      <a:pt x="0" y="59978"/>
                    </a:cubicBezTo>
                    <a:cubicBezTo>
                      <a:pt x="0" y="60703"/>
                      <a:pt x="0" y="61429"/>
                      <a:pt x="0" y="62154"/>
                    </a:cubicBezTo>
                    <a:cubicBezTo>
                      <a:pt x="134" y="66429"/>
                      <a:pt x="3707" y="69785"/>
                      <a:pt x="7981" y="69652"/>
                    </a:cubicBezTo>
                    <a:cubicBezTo>
                      <a:pt x="12255" y="69518"/>
                      <a:pt x="15612" y="65945"/>
                      <a:pt x="15478" y="61671"/>
                    </a:cubicBezTo>
                    <a:cubicBezTo>
                      <a:pt x="15478" y="61110"/>
                      <a:pt x="15478" y="60539"/>
                      <a:pt x="15478" y="59978"/>
                    </a:cubicBezTo>
                    <a:cubicBezTo>
                      <a:pt x="15510" y="35415"/>
                      <a:pt x="35415" y="15510"/>
                      <a:pt x="59978" y="15478"/>
                    </a:cubicBezTo>
                    <a:cubicBezTo>
                      <a:pt x="78793" y="15478"/>
                      <a:pt x="94591" y="25500"/>
                      <a:pt x="101188" y="41597"/>
                    </a:cubicBezTo>
                    <a:cubicBezTo>
                      <a:pt x="102381" y="44501"/>
                      <a:pt x="105208" y="46396"/>
                      <a:pt x="108347" y="46396"/>
                    </a:cubicBezTo>
                    <a:cubicBezTo>
                      <a:pt x="111485" y="46396"/>
                      <a:pt x="114313" y="44501"/>
                      <a:pt x="115506" y="41597"/>
                    </a:cubicBezTo>
                    <a:cubicBezTo>
                      <a:pt x="122103" y="25471"/>
                      <a:pt x="137900" y="15478"/>
                      <a:pt x="156716" y="15478"/>
                    </a:cubicBezTo>
                    <a:cubicBezTo>
                      <a:pt x="181279" y="15510"/>
                      <a:pt x="201184" y="35415"/>
                      <a:pt x="201216" y="59978"/>
                    </a:cubicBezTo>
                    <a:cubicBezTo>
                      <a:pt x="201216" y="111839"/>
                      <a:pt x="125992" y="158796"/>
                      <a:pt x="108347" y="169099"/>
                    </a:cubicBezTo>
                    <a:cubicBezTo>
                      <a:pt x="97870" y="162994"/>
                      <a:pt x="67107" y="143947"/>
                      <a:pt x="43842" y="118591"/>
                    </a:cubicBezTo>
                    <a:cubicBezTo>
                      <a:pt x="41972" y="116552"/>
                      <a:pt x="39156" y="115666"/>
                      <a:pt x="36456" y="116265"/>
                    </a:cubicBezTo>
                    <a:cubicBezTo>
                      <a:pt x="33755" y="116865"/>
                      <a:pt x="31579" y="118860"/>
                      <a:pt x="30748" y="121499"/>
                    </a:cubicBezTo>
                    <a:cubicBezTo>
                      <a:pt x="29917" y="124138"/>
                      <a:pt x="30557" y="127019"/>
                      <a:pt x="32427" y="129059"/>
                    </a:cubicBezTo>
                    <a:cubicBezTo>
                      <a:pt x="62580" y="161950"/>
                      <a:pt x="102978" y="183890"/>
                      <a:pt x="104680" y="184809"/>
                    </a:cubicBezTo>
                    <a:cubicBezTo>
                      <a:pt x="106970" y="186040"/>
                      <a:pt x="109724" y="186040"/>
                      <a:pt x="112013" y="184809"/>
                    </a:cubicBezTo>
                    <a:cubicBezTo>
                      <a:pt x="116289" y="182506"/>
                      <a:pt x="216694" y="127695"/>
                      <a:pt x="216694" y="59978"/>
                    </a:cubicBezTo>
                    <a:cubicBezTo>
                      <a:pt x="216656" y="26868"/>
                      <a:pt x="189825" y="37"/>
                      <a:pt x="156716" y="0"/>
                    </a:cubicBezTo>
                    <a:close/>
                  </a:path>
                </a:pathLst>
              </a:custGeom>
              <a:solidFill>
                <a:srgbClr val="E55353"/>
              </a:solidFill>
              <a:ln>
                <a:noFill/>
              </a:ln>
            </p:spPr>
          </p:sp>
        </p:grpSp>
        <p:sp>
          <p:nvSpPr>
            <p:cNvPr id="88" name="TextBox 88"/>
            <p:cNvSpPr txBox="1"/>
            <p:nvPr/>
          </p:nvSpPr>
          <p:spPr>
            <a:xfrm>
              <a:off x="7717155" y="3788092"/>
              <a:ext cx="11004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1F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AI 情绪特征</a:t>
              </a:r>
              <a:endParaRPr lang="zh-CN" sz="1350" b="1" dirty="0">
                <a:solidFill>
                  <a:srgbClr val="0B1F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0856595" y="3836670"/>
              <a:ext cx="680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E5535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态度强度层</a:t>
              </a:r>
              <a:endParaRPr lang="zh-CN" sz="900" dirty="0">
                <a:solidFill>
                  <a:srgbClr val="E5535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99" name="Group 99"/>
            <p:cNvGrpSpPr/>
            <p:nvPr/>
          </p:nvGrpSpPr>
          <p:grpSpPr>
            <a:xfrm>
              <a:off x="7359015" y="4400550"/>
              <a:ext cx="4128135" cy="1235869"/>
              <a:chOff x="7359015" y="4400550"/>
              <a:chExt cx="4128135" cy="1235869"/>
            </a:xfrm>
          </p:grpSpPr>
          <p:sp>
            <p:nvSpPr>
              <p:cNvPr id="90" name="Rectangle 90"/>
              <p:cNvSpPr/>
              <p:nvPr/>
            </p:nvSpPr>
            <p:spPr>
              <a:xfrm>
                <a:off x="7372350" y="4400550"/>
                <a:ext cx="4114800" cy="266700"/>
              </a:xfrm>
              <a:prstGeom prst="roundRect">
                <a:avLst>
                  <a:gd name="adj" fmla="val 28571"/>
                </a:avLst>
              </a:prstGeom>
              <a:solidFill>
                <a:srgbClr val="E8F8F2"/>
              </a:solidFill>
              <a:ln>
                <a:noFill/>
              </a:ln>
            </p:spPr>
          </p:sp>
          <p:sp>
            <p:nvSpPr>
              <p:cNvPr id="91" name="Rectangle 91"/>
              <p:cNvSpPr/>
              <p:nvPr/>
            </p:nvSpPr>
            <p:spPr>
              <a:xfrm>
                <a:off x="8743950" y="4400550"/>
                <a:ext cx="1371600" cy="266700"/>
              </a:xfrm>
              <a:prstGeom prst="rect">
                <a:avLst/>
              </a:prstGeom>
              <a:solidFill>
                <a:srgbClr val="E8F2FF"/>
              </a:solidFill>
              <a:ln>
                <a:noFill/>
              </a:ln>
            </p:spPr>
          </p:sp>
          <p:sp>
            <p:nvSpPr>
              <p:cNvPr id="92" name="Rectangle 92"/>
              <p:cNvSpPr/>
              <p:nvPr/>
            </p:nvSpPr>
            <p:spPr>
              <a:xfrm>
                <a:off x="10115550" y="4400550"/>
                <a:ext cx="1371600" cy="266700"/>
              </a:xfrm>
              <a:prstGeom prst="roundRect">
                <a:avLst>
                  <a:gd name="adj" fmla="val 28571"/>
                </a:avLst>
              </a:prstGeom>
              <a:solidFill>
                <a:srgbClr val="FDECEC"/>
              </a:solidFill>
              <a:ln>
                <a:noFill/>
              </a:ln>
            </p:spPr>
          </p:sp>
          <p:sp>
            <p:nvSpPr>
              <p:cNvPr id="93" name="TextBox 93"/>
              <p:cNvSpPr txBox="1"/>
              <p:nvPr/>
            </p:nvSpPr>
            <p:spPr>
              <a:xfrm>
                <a:off x="7896249" y="4476274"/>
                <a:ext cx="32380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00A884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平稳</a:t>
                </a:r>
                <a:endParaRPr lang="zh-CN" sz="975" b="1" dirty="0">
                  <a:solidFill>
                    <a:srgbClr val="00A88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94" name="TextBox 94"/>
              <p:cNvSpPr txBox="1"/>
              <p:nvPr/>
            </p:nvSpPr>
            <p:spPr>
              <a:xfrm>
                <a:off x="9267849" y="4476274"/>
                <a:ext cx="32380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1565C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急迫</a:t>
                </a:r>
                <a:endParaRPr lang="zh-CN" sz="975" b="1" dirty="0">
                  <a:solidFill>
                    <a:srgbClr val="1565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95" name="TextBox 95"/>
              <p:cNvSpPr txBox="1"/>
              <p:nvPr/>
            </p:nvSpPr>
            <p:spPr>
              <a:xfrm>
                <a:off x="10564689" y="4476274"/>
                <a:ext cx="47332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E5535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强不满</a:t>
                </a:r>
                <a:endParaRPr lang="zh-CN" sz="975" b="1" dirty="0">
                  <a:solidFill>
                    <a:srgbClr val="E5535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96" name="TextBox 96"/>
              <p:cNvSpPr txBox="1"/>
              <p:nvPr/>
            </p:nvSpPr>
            <p:spPr>
              <a:xfrm>
                <a:off x="7359015" y="4934902"/>
                <a:ext cx="163687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B1F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重点捕捉情绪升级信号</a:t>
                </a:r>
                <a:endParaRPr lang="zh-CN" sz="1050" b="1" dirty="0">
                  <a:solidFill>
                    <a:srgbClr val="0B1F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97" name="TextBox 97"/>
              <p:cNvSpPr txBox="1"/>
              <p:nvPr/>
            </p:nvSpPr>
            <p:spPr>
              <a:xfrm>
                <a:off x="7359968" y="5209699"/>
                <a:ext cx="244554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反复施压、对抗表达、低耐受、强催促</a:t>
                </a:r>
                <a:endPara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98" name="TextBox 98"/>
              <p:cNvSpPr txBox="1"/>
              <p:nvPr/>
            </p:nvSpPr>
            <p:spPr>
              <a:xfrm>
                <a:off x="7359968" y="5438299"/>
                <a:ext cx="301513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与话务频次和文本意图交叉后，提升风险置信度</a:t>
                </a:r>
                <a:endPara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103" name="Group 103"/>
          <p:cNvGrpSpPr/>
          <p:nvPr/>
        </p:nvGrpSpPr>
        <p:grpSpPr>
          <a:xfrm>
            <a:off x="457200" y="6153150"/>
            <a:ext cx="11277600" cy="361950"/>
            <a:chOff x="457200" y="6153150"/>
            <a:chExt cx="11277600" cy="361950"/>
          </a:xfrm>
        </p:grpSpPr>
        <p:sp>
          <p:nvSpPr>
            <p:cNvPr id="101" name="Rectangle 101"/>
            <p:cNvSpPr/>
            <p:nvPr/>
          </p:nvSpPr>
          <p:spPr>
            <a:xfrm>
              <a:off x="457200" y="6153150"/>
              <a:ext cx="11277600" cy="361950"/>
            </a:xfrm>
            <a:prstGeom prst="roundRect">
              <a:avLst>
                <a:gd name="adj" fmla="val 21053"/>
              </a:avLst>
            </a:prstGeom>
            <a:solidFill>
              <a:srgbClr val="0B1F33"/>
            </a:solidFill>
            <a:ln>
              <a:noFill/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650558" y="6253639"/>
              <a:ext cx="105027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结构化模型变量负责“事实底座”，AI 文本负责强弱与费力度理解： </a:t>
              </a:r>
              <a:r>
                <a:rPr lang="zh-CN" sz="1275" b="1" dirty="0">
                  <a:solidFill>
                    <a:srgbClr val="00A88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再叠加话务动作和情绪强度，形成更稳的外诉风险判断</a:t>
              </a:r>
              <a:endParaRPr lang="zh-CN" sz="1275" b="1" dirty="0">
                <a:solidFill>
                  <a:srgbClr val="00A88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06" name="Group 106"/>
          <p:cNvGrpSpPr/>
          <p:nvPr/>
        </p:nvGrpSpPr>
        <p:grpSpPr>
          <a:xfrm>
            <a:off x="445770" y="6608445"/>
            <a:ext cx="11300460" cy="182880"/>
            <a:chOff x="445770" y="6608445"/>
            <a:chExt cx="11300460" cy="182880"/>
          </a:xfrm>
        </p:grpSpPr>
        <p:sp>
          <p:nvSpPr>
            <p:cNvPr id="104" name="TextBox 104"/>
            <p:cNvSpPr txBox="1"/>
            <p:nvPr/>
          </p:nvSpPr>
          <p:spPr>
            <a:xfrm>
              <a:off x="445770" y="6608445"/>
              <a:ext cx="42488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Source: 内部客诉与信贷话务特征梳理；风险分层口径用于模型特征说明</a:t>
              </a:r>
              <a:endParaRPr lang="zh-CN" sz="9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11283029" y="6608445"/>
              <a:ext cx="46320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03 / 03</a:t>
              </a:r>
              <a:endParaRPr lang="zh-CN" sz="9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4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4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1" dur="4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0" grpId="0"/>
      <p:bldP spid="40" grpId="0"/>
      <p:bldP spid="63" grpId="0"/>
      <p:bldP spid="82" grpId="0"/>
      <p:bldP spid="100" grpId="0"/>
      <p:bldP spid="10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1104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457200" y="990600"/>
              <a:ext cx="11277600" cy="9525"/>
            </a:xfrm>
            <a:prstGeom prst="rect">
              <a:avLst/>
            </a:prstGeom>
            <a:solidFill>
              <a:srgbClr val="D8E1EA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457200" y="324802"/>
            <a:ext cx="11758324" cy="680086"/>
            <a:chOff x="457200" y="324802"/>
            <a:chExt cx="11758324" cy="680086"/>
          </a:xfrm>
        </p:grpSpPr>
        <p:sp>
          <p:nvSpPr>
            <p:cNvPr id="6" name="Rectangle 6"/>
            <p:cNvSpPr/>
            <p:nvPr/>
          </p:nvSpPr>
          <p:spPr>
            <a:xfrm>
              <a:off x="457200" y="361950"/>
              <a:ext cx="76200" cy="419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565C0"/>
                </a:gs>
                <a:gs pos="100000">
                  <a:srgbClr val="00A884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34365" y="324802"/>
              <a:ext cx="1158115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0B1F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伏羲 Auto-Research：自动发现有效建模策略，AUC 提升至 0.756</a:t>
              </a:r>
              <a:endParaRPr lang="zh-CN" sz="2550" b="1" dirty="0">
                <a:solidFill>
                  <a:srgbClr val="0B1F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49605" y="730568"/>
              <a:ext cx="819702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从人工建模 0.745 提升到 0.756，关键增益来自对 LGBM 参数、样本比例和过拟合的自动洞察</a:t>
              </a:r>
              <a:endParaRPr lang="zh-CN" sz="13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57200" y="1314450"/>
            <a:ext cx="6667500" cy="4476750"/>
            <a:chOff x="457200" y="1314450"/>
            <a:chExt cx="6667500" cy="4476750"/>
          </a:xfrm>
        </p:grpSpPr>
        <p:sp>
          <p:nvSpPr>
            <p:cNvPr id="10" name="Rectangle 10"/>
            <p:cNvSpPr/>
            <p:nvPr/>
          </p:nvSpPr>
          <p:spPr>
            <a:xfrm>
              <a:off x="457200" y="1314450"/>
              <a:ext cx="6667500" cy="4057650"/>
            </a:xfrm>
            <a:prstGeom prst="roundRect">
              <a:avLst>
                <a:gd name="adj" fmla="val 1878"/>
              </a:avLst>
            </a:prstGeom>
            <a:solidFill>
              <a:srgbClr val="FFFFFF"/>
            </a:solidFill>
            <a:ln w="11430">
              <a:solidFill>
                <a:srgbClr val="D8E1E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91515" y="1486852"/>
              <a:ext cx="13148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真实搜索过程截图</a:t>
              </a:r>
              <a:endParaRPr lang="zh-CN" sz="105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04850" y="1771650"/>
              <a:ext cx="6172200" cy="3390900"/>
            </a:xfrm>
            <a:prstGeom prst="roundRect">
              <a:avLst>
                <a:gd name="adj" fmla="val 2247"/>
              </a:avLst>
            </a:prstGeom>
            <a:solidFill>
              <a:srgbClr val="FFFFFF"/>
            </a:solidFill>
            <a:ln w="9525">
              <a:solidFill>
                <a:srgbClr val="D8E1EA"/>
              </a:solidFill>
            </a:ln>
          </p:spPr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42950" y="1809750"/>
              <a:ext cx="6096000" cy="3343275"/>
            </a:xfrm>
            <a:prstGeom prst="rect">
              <a:avLst/>
            </a:prstGeom>
          </p:spPr>
        </p:pic>
        <p:grpSp>
          <p:nvGrpSpPr>
            <p:cNvPr id="19" name="Group 19"/>
            <p:cNvGrpSpPr/>
            <p:nvPr/>
          </p:nvGrpSpPr>
          <p:grpSpPr>
            <a:xfrm>
              <a:off x="704850" y="5467350"/>
              <a:ext cx="6172200" cy="323850"/>
              <a:chOff x="704850" y="5467350"/>
              <a:chExt cx="6172200" cy="32385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704850" y="5467350"/>
                <a:ext cx="6172200" cy="323850"/>
              </a:xfrm>
              <a:prstGeom prst="roundRect">
                <a:avLst>
                  <a:gd name="adj" fmla="val 23529"/>
                </a:avLst>
              </a:prstGeom>
              <a:solidFill>
                <a:srgbClr val="E8F8F2"/>
              </a:solidFill>
              <a:ln w="9525">
                <a:solidFill>
                  <a:srgbClr val="00A884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881062" y="5555456"/>
                <a:ext cx="158126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B1F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人工建模 AUC 0.745</a:t>
                </a:r>
                <a:endParaRPr lang="zh-CN" sz="1125" b="1" dirty="0">
                  <a:solidFill>
                    <a:srgbClr val="0B1F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6" name="Line 16"/>
              <p:cNvSpPr/>
              <p:nvPr/>
            </p:nvSpPr>
            <p:spPr>
              <a:xfrm>
                <a:off x="2362200" y="5619750"/>
                <a:ext cx="666750" cy="1"/>
              </a:xfrm>
              <a:prstGeom prst="line">
                <a:avLst/>
              </a:prstGeom>
              <a:noFill/>
              <a:ln w="28575">
                <a:solidFill>
                  <a:srgbClr val="00A884"/>
                </a:solidFill>
                <a:tailEnd type="triangle" w="lg" len="lg"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3243262" y="5555456"/>
                <a:ext cx="212471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0A884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Auto-Research AUC 0.756</a:t>
                </a:r>
                <a:endParaRPr lang="zh-CN" sz="1125" b="1" dirty="0">
                  <a:solidFill>
                    <a:srgbClr val="00A88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5399151" y="5571649"/>
                <a:ext cx="42348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7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+0.011</a:t>
                </a:r>
                <a:endPara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51" name="Group 51"/>
          <p:cNvGrpSpPr/>
          <p:nvPr/>
        </p:nvGrpSpPr>
        <p:grpSpPr>
          <a:xfrm>
            <a:off x="7429500" y="1314450"/>
            <a:ext cx="4305300" cy="4057650"/>
            <a:chOff x="7429500" y="1314450"/>
            <a:chExt cx="4305300" cy="4057650"/>
          </a:xfrm>
        </p:grpSpPr>
        <p:sp>
          <p:nvSpPr>
            <p:cNvPr id="21" name="Rectangle 21"/>
            <p:cNvSpPr/>
            <p:nvPr/>
          </p:nvSpPr>
          <p:spPr>
            <a:xfrm>
              <a:off x="7429500" y="1314450"/>
              <a:ext cx="4305300" cy="4057650"/>
            </a:xfrm>
            <a:prstGeom prst="roundRect">
              <a:avLst>
                <a:gd name="adj" fmla="val 1878"/>
              </a:avLst>
            </a:prstGeom>
            <a:solidFill>
              <a:srgbClr val="FFFFFF"/>
            </a:solidFill>
            <a:ln w="11430">
              <a:solidFill>
                <a:srgbClr val="D8E1EA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63815" y="1486852"/>
              <a:ext cx="17978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自动发现的有效建模策略</a:t>
              </a:r>
              <a:endParaRPr lang="zh-CN" sz="105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29" name="Group 29"/>
            <p:cNvGrpSpPr/>
            <p:nvPr/>
          </p:nvGrpSpPr>
          <p:grpSpPr>
            <a:xfrm>
              <a:off x="7677150" y="1847850"/>
              <a:ext cx="3829050" cy="742950"/>
              <a:chOff x="7677150" y="1847850"/>
              <a:chExt cx="3829050" cy="74295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7677150" y="1847850"/>
                <a:ext cx="3829050" cy="742950"/>
              </a:xfrm>
              <a:prstGeom prst="roundRect">
                <a:avLst>
                  <a:gd name="adj" fmla="val 10256"/>
                </a:avLst>
              </a:prstGeom>
              <a:solidFill>
                <a:srgbClr val="E8F2FF"/>
              </a:solidFill>
              <a:ln w="13335">
                <a:solidFill>
                  <a:srgbClr val="1565C0"/>
                </a:solidFill>
              </a:ln>
            </p:spPr>
          </p:sp>
          <p:grpSp>
            <p:nvGrpSpPr>
              <p:cNvPr id="26" name="Group 26"/>
              <p:cNvGrpSpPr/>
              <p:nvPr/>
            </p:nvGrpSpPr>
            <p:grpSpPr>
              <a:xfrm>
                <a:off x="7885509" y="2102644"/>
                <a:ext cx="241102" cy="214312"/>
                <a:chOff x="7885509" y="2102644"/>
                <a:chExt cx="241102" cy="214312"/>
              </a:xfrm>
            </p:grpSpPr>
            <p:sp>
              <p:nvSpPr>
                <p:cNvPr id="24" name="Freeform 24"/>
                <p:cNvSpPr/>
                <p:nvPr/>
              </p:nvSpPr>
              <p:spPr>
                <a:xfrm>
                  <a:off x="7894439" y="2111573"/>
                  <a:ext cx="223242" cy="1964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242" h="196453">
                      <a:moveTo>
                        <a:pt x="53578" y="80367"/>
                      </a:moveTo>
                      <a:lnTo>
                        <a:pt x="53578" y="116086"/>
                      </a:lnTo>
                      <a:cubicBezTo>
                        <a:pt x="53578" y="121018"/>
                        <a:pt x="49580" y="125016"/>
                        <a:pt x="44648" y="125016"/>
                      </a:cubicBezTo>
                      <a:lnTo>
                        <a:pt x="8930" y="125016"/>
                      </a:lnTo>
                      <a:cubicBezTo>
                        <a:pt x="3998" y="125016"/>
                        <a:pt x="0" y="121018"/>
                        <a:pt x="0" y="116086"/>
                      </a:cubicBezTo>
                      <a:lnTo>
                        <a:pt x="0" y="80367"/>
                      </a:lnTo>
                      <a:cubicBezTo>
                        <a:pt x="0" y="75435"/>
                        <a:pt x="3998" y="71438"/>
                        <a:pt x="8930" y="71438"/>
                      </a:cubicBezTo>
                      <a:lnTo>
                        <a:pt x="44648" y="71438"/>
                      </a:lnTo>
                      <a:cubicBezTo>
                        <a:pt x="49580" y="71438"/>
                        <a:pt x="53578" y="75435"/>
                        <a:pt x="53578" y="80367"/>
                      </a:cubicBezTo>
                      <a:close/>
                      <a:moveTo>
                        <a:pt x="214312" y="0"/>
                      </a:moveTo>
                      <a:lnTo>
                        <a:pt x="160734" y="0"/>
                      </a:lnTo>
                      <a:cubicBezTo>
                        <a:pt x="155803" y="0"/>
                        <a:pt x="151805" y="3998"/>
                        <a:pt x="151805" y="8930"/>
                      </a:cubicBezTo>
                      <a:lnTo>
                        <a:pt x="151805" y="62508"/>
                      </a:lnTo>
                      <a:cubicBezTo>
                        <a:pt x="151805" y="67440"/>
                        <a:pt x="155803" y="71438"/>
                        <a:pt x="160734" y="71438"/>
                      </a:cubicBezTo>
                      <a:lnTo>
                        <a:pt x="214312" y="71438"/>
                      </a:lnTo>
                      <a:cubicBezTo>
                        <a:pt x="219244" y="71438"/>
                        <a:pt x="223242" y="67440"/>
                        <a:pt x="223242" y="62508"/>
                      </a:cubicBezTo>
                      <a:lnTo>
                        <a:pt x="223242" y="8930"/>
                      </a:lnTo>
                      <a:cubicBezTo>
                        <a:pt x="223242" y="3998"/>
                        <a:pt x="219244" y="0"/>
                        <a:pt x="214312" y="0"/>
                      </a:cubicBezTo>
                      <a:close/>
                      <a:moveTo>
                        <a:pt x="214312" y="125016"/>
                      </a:moveTo>
                      <a:lnTo>
                        <a:pt x="160734" y="125016"/>
                      </a:lnTo>
                      <a:cubicBezTo>
                        <a:pt x="155803" y="125016"/>
                        <a:pt x="151805" y="129014"/>
                        <a:pt x="151805" y="133945"/>
                      </a:cubicBezTo>
                      <a:lnTo>
                        <a:pt x="151805" y="187523"/>
                      </a:lnTo>
                      <a:cubicBezTo>
                        <a:pt x="151805" y="192455"/>
                        <a:pt x="155803" y="196453"/>
                        <a:pt x="160734" y="196453"/>
                      </a:cubicBezTo>
                      <a:lnTo>
                        <a:pt x="214312" y="196453"/>
                      </a:lnTo>
                      <a:cubicBezTo>
                        <a:pt x="219244" y="196453"/>
                        <a:pt x="223242" y="192455"/>
                        <a:pt x="223242" y="187523"/>
                      </a:cubicBezTo>
                      <a:lnTo>
                        <a:pt x="223242" y="133945"/>
                      </a:lnTo>
                      <a:cubicBezTo>
                        <a:pt x="223242" y="129014"/>
                        <a:pt x="219244" y="125016"/>
                        <a:pt x="214312" y="125016"/>
                      </a:cubicBezTo>
                      <a:close/>
                    </a:path>
                  </a:pathLst>
                </a:custGeom>
                <a:solidFill>
                  <a:srgbClr val="1565C0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7885509" y="2102644"/>
                  <a:ext cx="241102" cy="2143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102" h="214312">
                      <a:moveTo>
                        <a:pt x="169664" y="89297"/>
                      </a:moveTo>
                      <a:lnTo>
                        <a:pt x="223242" y="89297"/>
                      </a:lnTo>
                      <a:cubicBezTo>
                        <a:pt x="233106" y="89297"/>
                        <a:pt x="241102" y="81301"/>
                        <a:pt x="241102" y="71438"/>
                      </a:cubicBezTo>
                      <a:lnTo>
                        <a:pt x="241102" y="17859"/>
                      </a:lnTo>
                      <a:cubicBezTo>
                        <a:pt x="241102" y="7996"/>
                        <a:pt x="233106" y="0"/>
                        <a:pt x="223242" y="0"/>
                      </a:cubicBezTo>
                      <a:lnTo>
                        <a:pt x="169664" y="0"/>
                      </a:lnTo>
                      <a:cubicBezTo>
                        <a:pt x="159801" y="0"/>
                        <a:pt x="151805" y="7996"/>
                        <a:pt x="151805" y="17859"/>
                      </a:cubicBezTo>
                      <a:lnTo>
                        <a:pt x="151805" y="35719"/>
                      </a:lnTo>
                      <a:lnTo>
                        <a:pt x="142875" y="35719"/>
                      </a:lnTo>
                      <a:cubicBezTo>
                        <a:pt x="123148" y="35719"/>
                        <a:pt x="107156" y="51711"/>
                        <a:pt x="107156" y="71438"/>
                      </a:cubicBezTo>
                      <a:lnTo>
                        <a:pt x="107156" y="98227"/>
                      </a:lnTo>
                      <a:lnTo>
                        <a:pt x="71438" y="98227"/>
                      </a:lnTo>
                      <a:lnTo>
                        <a:pt x="71438" y="89297"/>
                      </a:lnTo>
                      <a:cubicBezTo>
                        <a:pt x="71438" y="79433"/>
                        <a:pt x="63442" y="71438"/>
                        <a:pt x="53578" y="71438"/>
                      </a:cubicBezTo>
                      <a:lnTo>
                        <a:pt x="17859" y="71438"/>
                      </a:lnTo>
                      <a:cubicBezTo>
                        <a:pt x="7996" y="71438"/>
                        <a:pt x="0" y="79433"/>
                        <a:pt x="0" y="89297"/>
                      </a:cubicBezTo>
                      <a:lnTo>
                        <a:pt x="0" y="125016"/>
                      </a:lnTo>
                      <a:cubicBezTo>
                        <a:pt x="0" y="134879"/>
                        <a:pt x="7996" y="142875"/>
                        <a:pt x="17859" y="142875"/>
                      </a:cubicBezTo>
                      <a:lnTo>
                        <a:pt x="53578" y="142875"/>
                      </a:lnTo>
                      <a:cubicBezTo>
                        <a:pt x="63442" y="142875"/>
                        <a:pt x="71438" y="134879"/>
                        <a:pt x="71438" y="125016"/>
                      </a:cubicBezTo>
                      <a:lnTo>
                        <a:pt x="71438" y="116086"/>
                      </a:lnTo>
                      <a:lnTo>
                        <a:pt x="107156" y="116086"/>
                      </a:lnTo>
                      <a:lnTo>
                        <a:pt x="107156" y="142875"/>
                      </a:lnTo>
                      <a:cubicBezTo>
                        <a:pt x="107156" y="162602"/>
                        <a:pt x="123148" y="178594"/>
                        <a:pt x="142875" y="178594"/>
                      </a:cubicBezTo>
                      <a:lnTo>
                        <a:pt x="151805" y="178594"/>
                      </a:lnTo>
                      <a:lnTo>
                        <a:pt x="151805" y="196453"/>
                      </a:lnTo>
                      <a:cubicBezTo>
                        <a:pt x="151805" y="206317"/>
                        <a:pt x="159801" y="214312"/>
                        <a:pt x="169664" y="214312"/>
                      </a:cubicBezTo>
                      <a:lnTo>
                        <a:pt x="223242" y="214312"/>
                      </a:lnTo>
                      <a:cubicBezTo>
                        <a:pt x="233106" y="214312"/>
                        <a:pt x="241102" y="206317"/>
                        <a:pt x="241102" y="196453"/>
                      </a:cubicBezTo>
                      <a:lnTo>
                        <a:pt x="241102" y="142875"/>
                      </a:lnTo>
                      <a:cubicBezTo>
                        <a:pt x="241102" y="133012"/>
                        <a:pt x="233106" y="125016"/>
                        <a:pt x="223242" y="125016"/>
                      </a:cubicBezTo>
                      <a:lnTo>
                        <a:pt x="169664" y="125016"/>
                      </a:lnTo>
                      <a:cubicBezTo>
                        <a:pt x="159801" y="125016"/>
                        <a:pt x="151805" y="133012"/>
                        <a:pt x="151805" y="142875"/>
                      </a:cubicBezTo>
                      <a:lnTo>
                        <a:pt x="151805" y="160734"/>
                      </a:lnTo>
                      <a:lnTo>
                        <a:pt x="142875" y="160734"/>
                      </a:lnTo>
                      <a:cubicBezTo>
                        <a:pt x="133012" y="160734"/>
                        <a:pt x="125016" y="152738"/>
                        <a:pt x="125016" y="142875"/>
                      </a:cubicBezTo>
                      <a:lnTo>
                        <a:pt x="125016" y="71438"/>
                      </a:lnTo>
                      <a:cubicBezTo>
                        <a:pt x="125016" y="61574"/>
                        <a:pt x="133012" y="53578"/>
                        <a:pt x="142875" y="53578"/>
                      </a:cubicBezTo>
                      <a:lnTo>
                        <a:pt x="151805" y="53578"/>
                      </a:lnTo>
                      <a:lnTo>
                        <a:pt x="151805" y="71438"/>
                      </a:lnTo>
                      <a:cubicBezTo>
                        <a:pt x="151805" y="81301"/>
                        <a:pt x="159801" y="89297"/>
                        <a:pt x="169664" y="89297"/>
                      </a:cubicBezTo>
                      <a:close/>
                      <a:moveTo>
                        <a:pt x="53578" y="125016"/>
                      </a:moveTo>
                      <a:lnTo>
                        <a:pt x="17859" y="125016"/>
                      </a:lnTo>
                      <a:lnTo>
                        <a:pt x="17859" y="89297"/>
                      </a:lnTo>
                      <a:lnTo>
                        <a:pt x="53578" y="89297"/>
                      </a:lnTo>
                      <a:lnTo>
                        <a:pt x="53578" y="125016"/>
                      </a:lnTo>
                      <a:close/>
                      <a:moveTo>
                        <a:pt x="169664" y="142875"/>
                      </a:moveTo>
                      <a:lnTo>
                        <a:pt x="223242" y="142875"/>
                      </a:lnTo>
                      <a:lnTo>
                        <a:pt x="223242" y="196453"/>
                      </a:lnTo>
                      <a:lnTo>
                        <a:pt x="169664" y="196453"/>
                      </a:lnTo>
                      <a:close/>
                      <a:moveTo>
                        <a:pt x="169664" y="17859"/>
                      </a:moveTo>
                      <a:lnTo>
                        <a:pt x="223242" y="17859"/>
                      </a:lnTo>
                      <a:lnTo>
                        <a:pt x="223242" y="71438"/>
                      </a:lnTo>
                      <a:lnTo>
                        <a:pt x="169664" y="71438"/>
                      </a:lnTo>
                      <a:close/>
                    </a:path>
                  </a:pathLst>
                </a:custGeom>
                <a:solidFill>
                  <a:srgbClr val="1565C0"/>
                </a:solidFill>
                <a:ln>
                  <a:noFill/>
                </a:ln>
              </p:spPr>
            </p:sp>
          </p:grpSp>
          <p:sp>
            <p:nvSpPr>
              <p:cNvPr id="27" name="TextBox 27"/>
              <p:cNvSpPr txBox="1"/>
              <p:nvPr/>
            </p:nvSpPr>
            <p:spPr>
              <a:xfrm>
                <a:off x="8271510" y="1965960"/>
                <a:ext cx="187071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B1F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更深的 LGBM 参数洞察</a:t>
                </a:r>
                <a:endParaRPr lang="zh-CN" sz="1200" b="1" dirty="0">
                  <a:solidFill>
                    <a:srgbClr val="0B1F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274368" y="2237899"/>
                <a:ext cx="258082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自动发现当前任务更适合使用 GOSS loss</a:t>
                </a:r>
                <a:endPara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677150" y="2743200"/>
              <a:ext cx="3829050" cy="742950"/>
              <a:chOff x="7677150" y="2743200"/>
              <a:chExt cx="3829050" cy="74295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7677150" y="2743200"/>
                <a:ext cx="3829050" cy="742950"/>
              </a:xfrm>
              <a:prstGeom prst="roundRect">
                <a:avLst>
                  <a:gd name="adj" fmla="val 10256"/>
                </a:avLst>
              </a:prstGeom>
              <a:solidFill>
                <a:srgbClr val="FFFFFF"/>
              </a:solidFill>
              <a:ln w="13335">
                <a:solidFill>
                  <a:srgbClr val="D8E1EA"/>
                </a:solidFill>
              </a:ln>
            </p:spPr>
          </p:sp>
          <p:grpSp>
            <p:nvGrpSpPr>
              <p:cNvPr id="33" name="Group 33"/>
              <p:cNvGrpSpPr/>
              <p:nvPr/>
            </p:nvGrpSpPr>
            <p:grpSpPr>
              <a:xfrm>
                <a:off x="7903369" y="2989064"/>
                <a:ext cx="214312" cy="232172"/>
                <a:chOff x="7903369" y="2989064"/>
                <a:chExt cx="214312" cy="232172"/>
              </a:xfrm>
            </p:grpSpPr>
            <p:sp>
              <p:nvSpPr>
                <p:cNvPr id="31" name="Freeform 31"/>
                <p:cNvSpPr/>
                <p:nvPr/>
              </p:nvSpPr>
              <p:spPr>
                <a:xfrm>
                  <a:off x="7912298" y="2997994"/>
                  <a:ext cx="196453" cy="1071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453" h="107156">
                      <a:moveTo>
                        <a:pt x="196453" y="53578"/>
                      </a:moveTo>
                      <a:cubicBezTo>
                        <a:pt x="196453" y="83169"/>
                        <a:pt x="152474" y="107156"/>
                        <a:pt x="98227" y="107156"/>
                      </a:cubicBezTo>
                      <a:cubicBezTo>
                        <a:pt x="43979" y="107156"/>
                        <a:pt x="0" y="83169"/>
                        <a:pt x="0" y="53578"/>
                      </a:cubicBezTo>
                      <a:cubicBezTo>
                        <a:pt x="0" y="23987"/>
                        <a:pt x="43979" y="0"/>
                        <a:pt x="98227" y="0"/>
                      </a:cubicBezTo>
                      <a:cubicBezTo>
                        <a:pt x="152474" y="0"/>
                        <a:pt x="196453" y="23987"/>
                        <a:pt x="196453" y="53578"/>
                      </a:cubicBezTo>
                      <a:close/>
                    </a:path>
                  </a:pathLst>
                </a:custGeom>
                <a:solidFill>
                  <a:srgbClr val="1565C0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7903369" y="2989064"/>
                  <a:ext cx="214312" cy="2321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12" h="232172">
                      <a:moveTo>
                        <a:pt x="107156" y="0"/>
                      </a:moveTo>
                      <a:cubicBezTo>
                        <a:pt x="47071" y="0"/>
                        <a:pt x="0" y="27459"/>
                        <a:pt x="0" y="62508"/>
                      </a:cubicBezTo>
                      <a:lnTo>
                        <a:pt x="0" y="169664"/>
                      </a:lnTo>
                      <a:cubicBezTo>
                        <a:pt x="0" y="204713"/>
                        <a:pt x="47071" y="232172"/>
                        <a:pt x="107156" y="232172"/>
                      </a:cubicBezTo>
                      <a:cubicBezTo>
                        <a:pt x="167242" y="232172"/>
                        <a:pt x="214312" y="204713"/>
                        <a:pt x="214312" y="169664"/>
                      </a:cubicBezTo>
                      <a:lnTo>
                        <a:pt x="214312" y="62508"/>
                      </a:lnTo>
                      <a:cubicBezTo>
                        <a:pt x="214312" y="27459"/>
                        <a:pt x="167242" y="0"/>
                        <a:pt x="107156" y="0"/>
                      </a:cubicBezTo>
                      <a:close/>
                      <a:moveTo>
                        <a:pt x="196453" y="116086"/>
                      </a:moveTo>
                      <a:cubicBezTo>
                        <a:pt x="196453" y="126824"/>
                        <a:pt x="187657" y="137774"/>
                        <a:pt x="172332" y="146134"/>
                      </a:cubicBezTo>
                      <a:cubicBezTo>
                        <a:pt x="155075" y="155544"/>
                        <a:pt x="131925" y="160734"/>
                        <a:pt x="107156" y="160734"/>
                      </a:cubicBezTo>
                      <a:cubicBezTo>
                        <a:pt x="82388" y="160734"/>
                        <a:pt x="59237" y="155544"/>
                        <a:pt x="41981" y="146134"/>
                      </a:cubicBezTo>
                      <a:cubicBezTo>
                        <a:pt x="26655" y="137774"/>
                        <a:pt x="17859" y="126824"/>
                        <a:pt x="17859" y="116086"/>
                      </a:cubicBezTo>
                      <a:lnTo>
                        <a:pt x="17859" y="97512"/>
                      </a:lnTo>
                      <a:cubicBezTo>
                        <a:pt x="36902" y="114255"/>
                        <a:pt x="69462" y="125016"/>
                        <a:pt x="107156" y="125016"/>
                      </a:cubicBezTo>
                      <a:cubicBezTo>
                        <a:pt x="144851" y="125016"/>
                        <a:pt x="177411" y="114211"/>
                        <a:pt x="196453" y="97512"/>
                      </a:cubicBezTo>
                      <a:close/>
                      <a:moveTo>
                        <a:pt x="41981" y="32459"/>
                      </a:moveTo>
                      <a:cubicBezTo>
                        <a:pt x="59237" y="23050"/>
                        <a:pt x="82388" y="17859"/>
                        <a:pt x="107156" y="17859"/>
                      </a:cubicBezTo>
                      <a:cubicBezTo>
                        <a:pt x="131925" y="17859"/>
                        <a:pt x="155075" y="23050"/>
                        <a:pt x="172332" y="32459"/>
                      </a:cubicBezTo>
                      <a:cubicBezTo>
                        <a:pt x="187657" y="40820"/>
                        <a:pt x="196453" y="51770"/>
                        <a:pt x="196453" y="62508"/>
                      </a:cubicBezTo>
                      <a:cubicBezTo>
                        <a:pt x="196453" y="73246"/>
                        <a:pt x="187657" y="84196"/>
                        <a:pt x="172332" y="92556"/>
                      </a:cubicBezTo>
                      <a:cubicBezTo>
                        <a:pt x="155075" y="101966"/>
                        <a:pt x="131925" y="107156"/>
                        <a:pt x="107156" y="107156"/>
                      </a:cubicBezTo>
                      <a:cubicBezTo>
                        <a:pt x="82388" y="107156"/>
                        <a:pt x="59237" y="101966"/>
                        <a:pt x="41981" y="92556"/>
                      </a:cubicBezTo>
                      <a:cubicBezTo>
                        <a:pt x="26655" y="84196"/>
                        <a:pt x="17859" y="73246"/>
                        <a:pt x="17859" y="62508"/>
                      </a:cubicBezTo>
                      <a:cubicBezTo>
                        <a:pt x="17859" y="51770"/>
                        <a:pt x="26655" y="40820"/>
                        <a:pt x="41981" y="32459"/>
                      </a:cubicBezTo>
                      <a:close/>
                      <a:moveTo>
                        <a:pt x="172332" y="199712"/>
                      </a:moveTo>
                      <a:cubicBezTo>
                        <a:pt x="155075" y="209122"/>
                        <a:pt x="131925" y="214312"/>
                        <a:pt x="107156" y="214312"/>
                      </a:cubicBezTo>
                      <a:cubicBezTo>
                        <a:pt x="82388" y="214312"/>
                        <a:pt x="59237" y="209122"/>
                        <a:pt x="41981" y="199712"/>
                      </a:cubicBezTo>
                      <a:cubicBezTo>
                        <a:pt x="26655" y="191352"/>
                        <a:pt x="17859" y="180402"/>
                        <a:pt x="17859" y="169664"/>
                      </a:cubicBezTo>
                      <a:lnTo>
                        <a:pt x="17859" y="151090"/>
                      </a:lnTo>
                      <a:cubicBezTo>
                        <a:pt x="36902" y="167833"/>
                        <a:pt x="69462" y="178594"/>
                        <a:pt x="107156" y="178594"/>
                      </a:cubicBezTo>
                      <a:cubicBezTo>
                        <a:pt x="144851" y="178594"/>
                        <a:pt x="177411" y="167789"/>
                        <a:pt x="196453" y="151090"/>
                      </a:cubicBezTo>
                      <a:lnTo>
                        <a:pt x="196453" y="169664"/>
                      </a:lnTo>
                      <a:cubicBezTo>
                        <a:pt x="196453" y="180402"/>
                        <a:pt x="187657" y="191352"/>
                        <a:pt x="172332" y="199712"/>
                      </a:cubicBezTo>
                      <a:close/>
                    </a:path>
                  </a:pathLst>
                </a:custGeom>
                <a:solidFill>
                  <a:srgbClr val="1565C0"/>
                </a:solidFill>
                <a:ln>
                  <a:noFill/>
                </a:ln>
              </p:spPr>
            </p:sp>
          </p:grpSp>
          <p:sp>
            <p:nvSpPr>
              <p:cNvPr id="34" name="TextBox 34"/>
              <p:cNvSpPr txBox="1"/>
              <p:nvPr/>
            </p:nvSpPr>
            <p:spPr>
              <a:xfrm>
                <a:off x="8271510" y="2861310"/>
                <a:ext cx="242277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B1F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敲定并缓解正负样本比例影响</a:t>
                </a:r>
                <a:endParaRPr lang="zh-CN" sz="1200" b="1" dirty="0">
                  <a:solidFill>
                    <a:srgbClr val="0B1F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274368" y="3133249"/>
                <a:ext cx="303649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识别样本结构对 y 的影响，并自动调整建模策略</a:t>
                </a:r>
                <a:endPara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7677150" y="3638550"/>
              <a:ext cx="3829050" cy="742950"/>
              <a:chOff x="7677150" y="3638550"/>
              <a:chExt cx="3829050" cy="742950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7677150" y="3638550"/>
                <a:ext cx="3829050" cy="742950"/>
              </a:xfrm>
              <a:prstGeom prst="roundRect">
                <a:avLst>
                  <a:gd name="adj" fmla="val 10256"/>
                </a:avLst>
              </a:prstGeom>
              <a:solidFill>
                <a:srgbClr val="E8F8F2"/>
              </a:solidFill>
              <a:ln w="13335">
                <a:solidFill>
                  <a:srgbClr val="00A884"/>
                </a:solidFill>
              </a:ln>
            </p:spPr>
          </p:sp>
          <p:grpSp>
            <p:nvGrpSpPr>
              <p:cNvPr id="40" name="Group 40"/>
              <p:cNvGrpSpPr/>
              <p:nvPr/>
            </p:nvGrpSpPr>
            <p:grpSpPr>
              <a:xfrm>
                <a:off x="7882062" y="3873616"/>
                <a:ext cx="258907" cy="257115"/>
                <a:chOff x="7882062" y="3873616"/>
                <a:chExt cx="258907" cy="257115"/>
              </a:xfrm>
            </p:grpSpPr>
            <p:sp>
              <p:nvSpPr>
                <p:cNvPr id="38" name="Freeform 38"/>
                <p:cNvSpPr/>
                <p:nvPr/>
              </p:nvSpPr>
              <p:spPr>
                <a:xfrm>
                  <a:off x="7956947" y="3946922"/>
                  <a:ext cx="107156" cy="1071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56" h="107156">
                      <a:moveTo>
                        <a:pt x="107156" y="53578"/>
                      </a:moveTo>
                      <a:cubicBezTo>
                        <a:pt x="107156" y="83169"/>
                        <a:pt x="83169" y="107156"/>
                        <a:pt x="53578" y="107156"/>
                      </a:cubicBezTo>
                      <a:cubicBezTo>
                        <a:pt x="23988" y="107156"/>
                        <a:pt x="0" y="83169"/>
                        <a:pt x="0" y="53578"/>
                      </a:cubicBezTo>
                      <a:cubicBezTo>
                        <a:pt x="0" y="23988"/>
                        <a:pt x="23988" y="0"/>
                        <a:pt x="53578" y="0"/>
                      </a:cubicBezTo>
                      <a:cubicBezTo>
                        <a:pt x="83169" y="0"/>
                        <a:pt x="107156" y="23988"/>
                        <a:pt x="107156" y="53578"/>
                      </a:cubicBezTo>
                      <a:close/>
                    </a:path>
                  </a:pathLst>
                </a:custGeom>
                <a:solidFill>
                  <a:srgbClr val="00A884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7882062" y="3873616"/>
                  <a:ext cx="258907" cy="2571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907" h="257115">
                      <a:moveTo>
                        <a:pt x="233242" y="76833"/>
                      </a:moveTo>
                      <a:cubicBezTo>
                        <a:pt x="258907" y="130511"/>
                        <a:pt x="239879" y="194903"/>
                        <a:pt x="189160" y="226009"/>
                      </a:cubicBezTo>
                      <a:cubicBezTo>
                        <a:pt x="138441" y="257115"/>
                        <a:pt x="72419" y="244883"/>
                        <a:pt x="36210" y="197673"/>
                      </a:cubicBezTo>
                      <a:cubicBezTo>
                        <a:pt x="0" y="150462"/>
                        <a:pt x="5302" y="83527"/>
                        <a:pt x="48493" y="42606"/>
                      </a:cubicBezTo>
                      <a:cubicBezTo>
                        <a:pt x="91684" y="1684"/>
                        <a:pt x="158808" y="0"/>
                        <a:pt x="203997" y="38703"/>
                      </a:cubicBezTo>
                      <a:lnTo>
                        <a:pt x="229302" y="13388"/>
                      </a:lnTo>
                      <a:cubicBezTo>
                        <a:pt x="232791" y="9898"/>
                        <a:pt x="238448" y="9898"/>
                        <a:pt x="241937" y="13388"/>
                      </a:cubicBezTo>
                      <a:cubicBezTo>
                        <a:pt x="245426" y="16877"/>
                        <a:pt x="245426" y="22534"/>
                        <a:pt x="241937" y="26023"/>
                      </a:cubicBezTo>
                      <a:lnTo>
                        <a:pt x="134781" y="133179"/>
                      </a:lnTo>
                      <a:cubicBezTo>
                        <a:pt x="131292" y="136669"/>
                        <a:pt x="125635" y="136669"/>
                        <a:pt x="122145" y="133179"/>
                      </a:cubicBezTo>
                      <a:cubicBezTo>
                        <a:pt x="118656" y="129690"/>
                        <a:pt x="118656" y="124033"/>
                        <a:pt x="122145" y="120544"/>
                      </a:cubicBezTo>
                      <a:lnTo>
                        <a:pt x="153087" y="89602"/>
                      </a:lnTo>
                      <a:cubicBezTo>
                        <a:pt x="135823" y="78185"/>
                        <a:pt x="112977" y="80129"/>
                        <a:pt x="97890" y="94299"/>
                      </a:cubicBezTo>
                      <a:cubicBezTo>
                        <a:pt x="82804" y="108468"/>
                        <a:pt x="79433" y="131148"/>
                        <a:pt x="89748" y="149093"/>
                      </a:cubicBezTo>
                      <a:cubicBezTo>
                        <a:pt x="100062" y="167037"/>
                        <a:pt x="121356" y="175540"/>
                        <a:pt x="141193" y="169637"/>
                      </a:cubicBezTo>
                      <a:cubicBezTo>
                        <a:pt x="161031" y="163733"/>
                        <a:pt x="174210" y="144969"/>
                        <a:pt x="173033" y="124305"/>
                      </a:cubicBezTo>
                      <a:cubicBezTo>
                        <a:pt x="172756" y="119374"/>
                        <a:pt x="176529" y="115151"/>
                        <a:pt x="181461" y="114873"/>
                      </a:cubicBezTo>
                      <a:cubicBezTo>
                        <a:pt x="186393" y="114596"/>
                        <a:pt x="190615" y="118369"/>
                        <a:pt x="190893" y="123301"/>
                      </a:cubicBezTo>
                      <a:cubicBezTo>
                        <a:pt x="192570" y="152568"/>
                        <a:pt x="173683" y="179069"/>
                        <a:pt x="145470" y="187033"/>
                      </a:cubicBezTo>
                      <a:cubicBezTo>
                        <a:pt x="117258" y="194998"/>
                        <a:pt x="87301" y="182287"/>
                        <a:pt x="73425" y="156464"/>
                      </a:cubicBezTo>
                      <a:cubicBezTo>
                        <a:pt x="59550" y="130641"/>
                        <a:pt x="65484" y="98644"/>
                        <a:pt x="87696" y="79513"/>
                      </a:cubicBezTo>
                      <a:cubicBezTo>
                        <a:pt x="109909" y="60383"/>
                        <a:pt x="142432" y="59259"/>
                        <a:pt x="165912" y="76811"/>
                      </a:cubicBezTo>
                      <a:lnTo>
                        <a:pt x="191306" y="51417"/>
                      </a:lnTo>
                      <a:cubicBezTo>
                        <a:pt x="152769" y="19421"/>
                        <a:pt x="96317" y="21599"/>
                        <a:pt x="60359" y="56467"/>
                      </a:cubicBezTo>
                      <a:cubicBezTo>
                        <a:pt x="24400" y="91336"/>
                        <a:pt x="20488" y="147695"/>
                        <a:pt x="51283" y="187197"/>
                      </a:cubicBezTo>
                      <a:cubicBezTo>
                        <a:pt x="82079" y="226700"/>
                        <a:pt x="137689" y="236657"/>
                        <a:pt x="180277" y="210293"/>
                      </a:cubicBezTo>
                      <a:cubicBezTo>
                        <a:pt x="222865" y="183929"/>
                        <a:pt x="238750" y="129714"/>
                        <a:pt x="217124" y="84535"/>
                      </a:cubicBezTo>
                      <a:cubicBezTo>
                        <a:pt x="214997" y="80084"/>
                        <a:pt x="216881" y="74752"/>
                        <a:pt x="221332" y="72625"/>
                      </a:cubicBezTo>
                      <a:cubicBezTo>
                        <a:pt x="225783" y="70498"/>
                        <a:pt x="231115" y="72382"/>
                        <a:pt x="233242" y="76833"/>
                      </a:cubicBezTo>
                      <a:close/>
                    </a:path>
                  </a:pathLst>
                </a:custGeom>
                <a:solidFill>
                  <a:srgbClr val="00A884"/>
                </a:solidFill>
                <a:ln>
                  <a:noFill/>
                </a:ln>
              </p:spPr>
            </p:sp>
          </p:grpSp>
          <p:sp>
            <p:nvSpPr>
              <p:cNvPr id="41" name="TextBox 41"/>
              <p:cNvSpPr txBox="1"/>
              <p:nvPr/>
            </p:nvSpPr>
            <p:spPr>
              <a:xfrm>
                <a:off x="8271510" y="3756660"/>
                <a:ext cx="279082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B1F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主动发现过拟合并降低模型复杂度</a:t>
                </a:r>
                <a:endParaRPr lang="zh-CN" sz="1200" b="1" dirty="0">
                  <a:solidFill>
                    <a:srgbClr val="0B1F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274368" y="4028599"/>
                <a:ext cx="287274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自动下调参数强度，让泛化表现优于人工方案</a:t>
                </a:r>
                <a:endPara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>
              <a:off x="7677150" y="4629150"/>
              <a:ext cx="3829050" cy="476250"/>
              <a:chOff x="7677150" y="4629150"/>
              <a:chExt cx="3829050" cy="476250"/>
            </a:xfrm>
          </p:grpSpPr>
          <p:sp>
            <p:nvSpPr>
              <p:cNvPr id="44" name="Rectangle 44"/>
              <p:cNvSpPr/>
              <p:nvPr/>
            </p:nvSpPr>
            <p:spPr>
              <a:xfrm>
                <a:off x="7677150" y="4629150"/>
                <a:ext cx="3829050" cy="476250"/>
              </a:xfrm>
              <a:prstGeom prst="roundRect">
                <a:avLst>
                  <a:gd name="adj" fmla="val 16000"/>
                </a:avLst>
              </a:prstGeom>
              <a:solidFill>
                <a:srgbClr val="0B1F33"/>
              </a:solidFill>
              <a:ln>
                <a:noFill/>
              </a:ln>
            </p:spPr>
          </p:sp>
          <p:grpSp>
            <p:nvGrpSpPr>
              <p:cNvPr id="47" name="Group 47"/>
              <p:cNvGrpSpPr/>
              <p:nvPr/>
            </p:nvGrpSpPr>
            <p:grpSpPr>
              <a:xfrm>
                <a:off x="7889081" y="4788694"/>
                <a:ext cx="185738" cy="157162"/>
                <a:chOff x="7889081" y="4788694"/>
                <a:chExt cx="185738" cy="157162"/>
              </a:xfrm>
            </p:grpSpPr>
            <p:sp>
              <p:nvSpPr>
                <p:cNvPr id="45" name="Freeform 45"/>
                <p:cNvSpPr/>
                <p:nvPr/>
              </p:nvSpPr>
              <p:spPr>
                <a:xfrm>
                  <a:off x="7896225" y="4795838"/>
                  <a:ext cx="171450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42875">
                      <a:moveTo>
                        <a:pt x="171450" y="7144"/>
                      </a:moveTo>
                      <a:lnTo>
                        <a:pt x="171450" y="142875"/>
                      </a:lnTo>
                      <a:lnTo>
                        <a:pt x="0" y="142875"/>
                      </a:lnTo>
                      <a:lnTo>
                        <a:pt x="0" y="0"/>
                      </a:lnTo>
                      <a:lnTo>
                        <a:pt x="164306" y="0"/>
                      </a:lnTo>
                      <a:cubicBezTo>
                        <a:pt x="168252" y="0"/>
                        <a:pt x="171450" y="3198"/>
                        <a:pt x="171450" y="7144"/>
                      </a:cubicBezTo>
                      <a:close/>
                    </a:path>
                  </a:pathLst>
                </a:custGeom>
                <a:solidFill>
                  <a:srgbClr val="00A884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46" name="Freeform 46"/>
                <p:cNvSpPr/>
                <p:nvPr/>
              </p:nvSpPr>
              <p:spPr>
                <a:xfrm>
                  <a:off x="7889081" y="4788694"/>
                  <a:ext cx="185738" cy="1571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38" h="157162">
                      <a:moveTo>
                        <a:pt x="185738" y="150019"/>
                      </a:moveTo>
                      <a:cubicBezTo>
                        <a:pt x="185738" y="153964"/>
                        <a:pt x="182539" y="157162"/>
                        <a:pt x="178594" y="157162"/>
                      </a:cubicBezTo>
                      <a:lnTo>
                        <a:pt x="7144" y="157162"/>
                      </a:lnTo>
                      <a:cubicBezTo>
                        <a:pt x="3198" y="157162"/>
                        <a:pt x="0" y="153964"/>
                        <a:pt x="0" y="150019"/>
                      </a:cubicBezTo>
                      <a:lnTo>
                        <a:pt x="0" y="7144"/>
                      </a:lnTo>
                      <a:cubicBezTo>
                        <a:pt x="0" y="3198"/>
                        <a:pt x="3198" y="0"/>
                        <a:pt x="7144" y="0"/>
                      </a:cubicBezTo>
                      <a:cubicBezTo>
                        <a:pt x="11089" y="0"/>
                        <a:pt x="14288" y="3198"/>
                        <a:pt x="14288" y="7144"/>
                      </a:cubicBezTo>
                      <a:lnTo>
                        <a:pt x="14288" y="104201"/>
                      </a:lnTo>
                      <a:lnTo>
                        <a:pt x="59240" y="59240"/>
                      </a:lnTo>
                      <a:cubicBezTo>
                        <a:pt x="60579" y="57898"/>
                        <a:pt x="62398" y="57144"/>
                        <a:pt x="64294" y="57144"/>
                      </a:cubicBezTo>
                      <a:cubicBezTo>
                        <a:pt x="66190" y="57144"/>
                        <a:pt x="68008" y="57898"/>
                        <a:pt x="69348" y="59240"/>
                      </a:cubicBezTo>
                      <a:lnTo>
                        <a:pt x="92869" y="82769"/>
                      </a:lnTo>
                      <a:lnTo>
                        <a:pt x="139919" y="35719"/>
                      </a:lnTo>
                      <a:lnTo>
                        <a:pt x="121444" y="35719"/>
                      </a:lnTo>
                      <a:cubicBezTo>
                        <a:pt x="117498" y="35719"/>
                        <a:pt x="114300" y="32520"/>
                        <a:pt x="114300" y="28575"/>
                      </a:cubicBezTo>
                      <a:cubicBezTo>
                        <a:pt x="114300" y="24630"/>
                        <a:pt x="117498" y="21431"/>
                        <a:pt x="121444" y="21431"/>
                      </a:cubicBezTo>
                      <a:lnTo>
                        <a:pt x="157162" y="21431"/>
                      </a:lnTo>
                      <a:cubicBezTo>
                        <a:pt x="161108" y="21431"/>
                        <a:pt x="164306" y="24630"/>
                        <a:pt x="164306" y="28575"/>
                      </a:cubicBezTo>
                      <a:lnTo>
                        <a:pt x="164306" y="64294"/>
                      </a:lnTo>
                      <a:cubicBezTo>
                        <a:pt x="164306" y="68239"/>
                        <a:pt x="161108" y="71438"/>
                        <a:pt x="157162" y="71438"/>
                      </a:cubicBezTo>
                      <a:cubicBezTo>
                        <a:pt x="153217" y="71438"/>
                        <a:pt x="150019" y="68239"/>
                        <a:pt x="150019" y="64294"/>
                      </a:cubicBezTo>
                      <a:lnTo>
                        <a:pt x="150019" y="45818"/>
                      </a:lnTo>
                      <a:lnTo>
                        <a:pt x="97923" y="97923"/>
                      </a:lnTo>
                      <a:cubicBezTo>
                        <a:pt x="96583" y="99264"/>
                        <a:pt x="94765" y="100018"/>
                        <a:pt x="92869" y="100018"/>
                      </a:cubicBezTo>
                      <a:cubicBezTo>
                        <a:pt x="90973" y="100018"/>
                        <a:pt x="89154" y="99264"/>
                        <a:pt x="87815" y="97923"/>
                      </a:cubicBezTo>
                      <a:lnTo>
                        <a:pt x="64294" y="74393"/>
                      </a:lnTo>
                      <a:lnTo>
                        <a:pt x="14288" y="124399"/>
                      </a:lnTo>
                      <a:lnTo>
                        <a:pt x="14288" y="142875"/>
                      </a:lnTo>
                      <a:lnTo>
                        <a:pt x="178594" y="142875"/>
                      </a:lnTo>
                      <a:cubicBezTo>
                        <a:pt x="182539" y="142875"/>
                        <a:pt x="185738" y="146073"/>
                        <a:pt x="185738" y="150019"/>
                      </a:cubicBezTo>
                      <a:close/>
                    </a:path>
                  </a:pathLst>
                </a:custGeom>
                <a:solidFill>
                  <a:srgbClr val="00A884"/>
                </a:solidFill>
                <a:ln>
                  <a:noFill/>
                </a:ln>
              </p:spPr>
            </p:sp>
          </p:grpSp>
          <p:sp>
            <p:nvSpPr>
              <p:cNvPr id="48" name="TextBox 48"/>
              <p:cNvSpPr txBox="1"/>
              <p:nvPr/>
            </p:nvSpPr>
            <p:spPr>
              <a:xfrm>
                <a:off x="8215312" y="4707731"/>
                <a:ext cx="296144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自动化完成，且经模型工程师验证有效</a:t>
                </a:r>
                <a:endParaRPr lang="zh-CN" sz="112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8218170" y="4922520"/>
                <a:ext cx="319068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D8E1E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不是“碰巧提升”，而是可解释、可复核的建模策略增益</a:t>
                </a:r>
                <a:endParaRPr lang="zh-CN" sz="900" dirty="0">
                  <a:solidFill>
                    <a:srgbClr val="D8E1E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54" name="Group 54"/>
          <p:cNvGrpSpPr/>
          <p:nvPr/>
        </p:nvGrpSpPr>
        <p:grpSpPr>
          <a:xfrm>
            <a:off x="457200" y="5943600"/>
            <a:ext cx="11277600" cy="514350"/>
            <a:chOff x="457200" y="5943600"/>
            <a:chExt cx="11277600" cy="514350"/>
          </a:xfrm>
        </p:grpSpPr>
        <p:sp>
          <p:nvSpPr>
            <p:cNvPr id="52" name="Rectangle 52"/>
            <p:cNvSpPr/>
            <p:nvPr/>
          </p:nvSpPr>
          <p:spPr>
            <a:xfrm>
              <a:off x="457200" y="5943600"/>
              <a:ext cx="11277600" cy="514350"/>
            </a:xfrm>
            <a:prstGeom prst="roundRect">
              <a:avLst>
                <a:gd name="adj" fmla="val 14815"/>
              </a:avLst>
            </a:prstGeom>
            <a:solidFill>
              <a:srgbClr val="0B1F33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24852" y="6104096"/>
              <a:ext cx="10449021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Auto-Research 不只给出更高 AUC， </a:t>
              </a:r>
              <a:r>
                <a:rPr lang="zh-CN" sz="1425" b="1" dirty="0">
                  <a:solidFill>
                    <a:srgbClr val="00A88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还自动沉淀了 GOSS loss、样本比例处理、过拟合抑制等有效工程策略</a:t>
              </a:r>
              <a:endParaRPr lang="zh-CN" sz="1425" b="1" dirty="0">
                <a:solidFill>
                  <a:srgbClr val="00A88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445770" y="6608445"/>
            <a:ext cx="11300460" cy="182880"/>
            <a:chOff x="445770" y="6608445"/>
            <a:chExt cx="11300460" cy="182880"/>
          </a:xfrm>
        </p:grpSpPr>
        <p:sp>
          <p:nvSpPr>
            <p:cNvPr id="55" name="TextBox 55"/>
            <p:cNvSpPr txBox="1"/>
            <p:nvPr/>
          </p:nvSpPr>
          <p:spPr>
            <a:xfrm>
              <a:off x="445770" y="6608445"/>
              <a:ext cx="35587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Source: 伏羲 Auto-Research 产品截图；内部业务场景说明</a:t>
              </a:r>
              <a:endParaRPr lang="zh-CN" sz="9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315890" y="6608445"/>
              <a:ext cx="4303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01 / 03</a:t>
              </a:r>
              <a:endParaRPr lang="zh-CN" sz="9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51" grpId="0"/>
      <p:bldP spid="5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1104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457200" y="990600"/>
              <a:ext cx="11277600" cy="9525"/>
            </a:xfrm>
            <a:prstGeom prst="rect">
              <a:avLst/>
            </a:prstGeom>
            <a:solidFill>
              <a:srgbClr val="D8E1EA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457200" y="308610"/>
            <a:ext cx="9870543" cy="696278"/>
            <a:chOff x="457200" y="308610"/>
            <a:chExt cx="9870543" cy="696278"/>
          </a:xfrm>
        </p:grpSpPr>
        <p:sp>
          <p:nvSpPr>
            <p:cNvPr id="6" name="Rectangle 6"/>
            <p:cNvSpPr/>
            <p:nvPr/>
          </p:nvSpPr>
          <p:spPr>
            <a:xfrm>
              <a:off x="457200" y="361950"/>
              <a:ext cx="76200" cy="419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565C0"/>
                </a:gs>
                <a:gs pos="100000">
                  <a:srgbClr val="00A884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32460" y="308610"/>
              <a:ext cx="9695283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0B1F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外诉 T30 场景：更准识别风险，更快支撑精细化处置</a:t>
              </a:r>
              <a:endParaRPr lang="zh-CN" sz="2700" b="1" dirty="0">
                <a:solidFill>
                  <a:srgbClr val="0B1F3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49605" y="730568"/>
              <a:ext cx="63337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AUC 提升带来更可靠的人群分层，高风险补钱降外诉，低风险降本控成本</a:t>
              </a:r>
              <a:endParaRPr lang="zh-CN" sz="13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457200" y="1295400"/>
            <a:ext cx="11277600" cy="1752600"/>
            <a:chOff x="457200" y="1295400"/>
            <a:chExt cx="11277600" cy="1752600"/>
          </a:xfrm>
        </p:grpSpPr>
        <p:sp>
          <p:nvSpPr>
            <p:cNvPr id="10" name="Rectangle 10"/>
            <p:cNvSpPr/>
            <p:nvPr/>
          </p:nvSpPr>
          <p:spPr>
            <a:xfrm>
              <a:off x="457200" y="1295400"/>
              <a:ext cx="11277600" cy="1752600"/>
            </a:xfrm>
            <a:prstGeom prst="roundRect">
              <a:avLst>
                <a:gd name="adj" fmla="val 4348"/>
              </a:avLst>
            </a:prstGeom>
            <a:solidFill>
              <a:srgbClr val="FFFFFF"/>
            </a:solidFill>
            <a:ln w="11430">
              <a:solidFill>
                <a:srgbClr val="D8E1E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91515" y="1467802"/>
              <a:ext cx="14758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通话后实时预测闭环</a:t>
              </a:r>
              <a:endParaRPr lang="zh-CN" sz="105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704850" y="1847850"/>
              <a:ext cx="1600200" cy="742950"/>
              <a:chOff x="704850" y="1847850"/>
              <a:chExt cx="1600200" cy="74295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704850" y="1847850"/>
                <a:ext cx="1600200" cy="742950"/>
              </a:xfrm>
              <a:prstGeom prst="roundRect">
                <a:avLst>
                  <a:gd name="adj" fmla="val 10256"/>
                </a:avLst>
              </a:prstGeom>
              <a:solidFill>
                <a:srgbClr val="E8F2FF"/>
              </a:solidFill>
              <a:ln w="13335">
                <a:solidFill>
                  <a:srgbClr val="1565C0"/>
                </a:solidFill>
              </a:ln>
            </p:spPr>
          </p:sp>
          <p:grpSp>
            <p:nvGrpSpPr>
              <p:cNvPr id="15" name="Group 15"/>
              <p:cNvGrpSpPr/>
              <p:nvPr/>
            </p:nvGrpSpPr>
            <p:grpSpPr>
              <a:xfrm>
                <a:off x="933390" y="2085095"/>
                <a:ext cx="239060" cy="239066"/>
                <a:chOff x="933390" y="2085095"/>
                <a:chExt cx="239060" cy="239066"/>
              </a:xfrm>
            </p:grpSpPr>
            <p:sp>
              <p:nvSpPr>
                <p:cNvPr id="13" name="Freeform 13"/>
                <p:cNvSpPr/>
                <p:nvPr/>
              </p:nvSpPr>
              <p:spPr>
                <a:xfrm>
                  <a:off x="942953" y="2095073"/>
                  <a:ext cx="219524" cy="2195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9524" h="219524">
                      <a:moveTo>
                        <a:pt x="219026" y="169591"/>
                      </a:moveTo>
                      <a:cubicBezTo>
                        <a:pt x="215200" y="198183"/>
                        <a:pt x="190794" y="219524"/>
                        <a:pt x="161947" y="219502"/>
                      </a:cubicBezTo>
                      <a:cubicBezTo>
                        <a:pt x="72518" y="219502"/>
                        <a:pt x="22" y="147006"/>
                        <a:pt x="22" y="57577"/>
                      </a:cubicBezTo>
                      <a:cubicBezTo>
                        <a:pt x="0" y="28730"/>
                        <a:pt x="21341" y="4325"/>
                        <a:pt x="49933" y="499"/>
                      </a:cubicBezTo>
                      <a:cubicBezTo>
                        <a:pt x="54130" y="0"/>
                        <a:pt x="58154" y="2327"/>
                        <a:pt x="59815" y="6214"/>
                      </a:cubicBezTo>
                      <a:lnTo>
                        <a:pt x="84973" y="62411"/>
                      </a:lnTo>
                      <a:cubicBezTo>
                        <a:pt x="86229" y="65343"/>
                        <a:pt x="85934" y="68708"/>
                        <a:pt x="84187" y="71377"/>
                      </a:cubicBezTo>
                      <a:lnTo>
                        <a:pt x="58744" y="101630"/>
                      </a:lnTo>
                      <a:cubicBezTo>
                        <a:pt x="56908" y="104401"/>
                        <a:pt x="56663" y="107932"/>
                        <a:pt x="58101" y="110929"/>
                      </a:cubicBezTo>
                      <a:cubicBezTo>
                        <a:pt x="67947" y="131086"/>
                        <a:pt x="88783" y="151672"/>
                        <a:pt x="109000" y="161423"/>
                      </a:cubicBezTo>
                      <a:cubicBezTo>
                        <a:pt x="112013" y="162855"/>
                        <a:pt x="115558" y="162588"/>
                        <a:pt x="118323" y="160721"/>
                      </a:cubicBezTo>
                      <a:lnTo>
                        <a:pt x="148088" y="135361"/>
                      </a:lnTo>
                      <a:cubicBezTo>
                        <a:pt x="150768" y="133577"/>
                        <a:pt x="154167" y="133268"/>
                        <a:pt x="157125" y="134539"/>
                      </a:cubicBezTo>
                      <a:lnTo>
                        <a:pt x="213275" y="159697"/>
                      </a:lnTo>
                      <a:cubicBezTo>
                        <a:pt x="217180" y="161348"/>
                        <a:pt x="219524" y="165381"/>
                        <a:pt x="219026" y="169591"/>
                      </a:cubicBezTo>
                      <a:close/>
                    </a:path>
                  </a:pathLst>
                </a:custGeom>
                <a:solidFill>
                  <a:srgbClr val="1565C0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933390" y="2085095"/>
                  <a:ext cx="239060" cy="2390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9060" h="239066">
                      <a:moveTo>
                        <a:pt x="143257" y="17466"/>
                      </a:moveTo>
                      <a:cubicBezTo>
                        <a:pt x="143910" y="15024"/>
                        <a:pt x="145506" y="12942"/>
                        <a:pt x="147695" y="11679"/>
                      </a:cubicBezTo>
                      <a:cubicBezTo>
                        <a:pt x="149883" y="10415"/>
                        <a:pt x="152484" y="10072"/>
                        <a:pt x="154925" y="10727"/>
                      </a:cubicBezTo>
                      <a:cubicBezTo>
                        <a:pt x="190880" y="20108"/>
                        <a:pt x="218958" y="48186"/>
                        <a:pt x="228339" y="84141"/>
                      </a:cubicBezTo>
                      <a:cubicBezTo>
                        <a:pt x="228993" y="86582"/>
                        <a:pt x="228651" y="89183"/>
                        <a:pt x="227387" y="91371"/>
                      </a:cubicBezTo>
                      <a:cubicBezTo>
                        <a:pt x="226123" y="93559"/>
                        <a:pt x="224041" y="95156"/>
                        <a:pt x="221600" y="95809"/>
                      </a:cubicBezTo>
                      <a:cubicBezTo>
                        <a:pt x="220795" y="96020"/>
                        <a:pt x="219967" y="96128"/>
                        <a:pt x="219135" y="96130"/>
                      </a:cubicBezTo>
                      <a:cubicBezTo>
                        <a:pt x="214820" y="96130"/>
                        <a:pt x="211043" y="93228"/>
                        <a:pt x="209932" y="89058"/>
                      </a:cubicBezTo>
                      <a:cubicBezTo>
                        <a:pt x="202281" y="59706"/>
                        <a:pt x="179359" y="36785"/>
                        <a:pt x="150008" y="29134"/>
                      </a:cubicBezTo>
                      <a:cubicBezTo>
                        <a:pt x="147564" y="28483"/>
                        <a:pt x="145479" y="26888"/>
                        <a:pt x="144213" y="24699"/>
                      </a:cubicBezTo>
                      <a:cubicBezTo>
                        <a:pt x="142947" y="22511"/>
                        <a:pt x="142603" y="19908"/>
                        <a:pt x="143257" y="17466"/>
                      </a:cubicBezTo>
                      <a:close/>
                      <a:moveTo>
                        <a:pt x="140483" y="67234"/>
                      </a:moveTo>
                      <a:cubicBezTo>
                        <a:pt x="156901" y="71615"/>
                        <a:pt x="167450" y="82164"/>
                        <a:pt x="171832" y="98583"/>
                      </a:cubicBezTo>
                      <a:cubicBezTo>
                        <a:pt x="172943" y="102753"/>
                        <a:pt x="176720" y="105655"/>
                        <a:pt x="181035" y="105655"/>
                      </a:cubicBezTo>
                      <a:cubicBezTo>
                        <a:pt x="181867" y="105653"/>
                        <a:pt x="182695" y="105545"/>
                        <a:pt x="183500" y="105334"/>
                      </a:cubicBezTo>
                      <a:cubicBezTo>
                        <a:pt x="185941" y="104681"/>
                        <a:pt x="188023" y="103084"/>
                        <a:pt x="189287" y="100896"/>
                      </a:cubicBezTo>
                      <a:cubicBezTo>
                        <a:pt x="190551" y="98708"/>
                        <a:pt x="190893" y="96107"/>
                        <a:pt x="190239" y="93666"/>
                      </a:cubicBezTo>
                      <a:cubicBezTo>
                        <a:pt x="184143" y="70853"/>
                        <a:pt x="168212" y="54923"/>
                        <a:pt x="145400" y="48827"/>
                      </a:cubicBezTo>
                      <a:cubicBezTo>
                        <a:pt x="140317" y="47469"/>
                        <a:pt x="135096" y="50489"/>
                        <a:pt x="133738" y="55572"/>
                      </a:cubicBezTo>
                      <a:cubicBezTo>
                        <a:pt x="132380" y="60655"/>
                        <a:pt x="135400" y="65876"/>
                        <a:pt x="140483" y="67234"/>
                      </a:cubicBezTo>
                      <a:close/>
                      <a:moveTo>
                        <a:pt x="238042" y="180760"/>
                      </a:moveTo>
                      <a:cubicBezTo>
                        <a:pt x="233651" y="214134"/>
                        <a:pt x="205173" y="239066"/>
                        <a:pt x="171510" y="239005"/>
                      </a:cubicBezTo>
                      <a:cubicBezTo>
                        <a:pt x="76975" y="239005"/>
                        <a:pt x="60" y="162091"/>
                        <a:pt x="60" y="67555"/>
                      </a:cubicBezTo>
                      <a:cubicBezTo>
                        <a:pt x="0" y="33893"/>
                        <a:pt x="24931" y="5415"/>
                        <a:pt x="58306" y="1023"/>
                      </a:cubicBezTo>
                      <a:cubicBezTo>
                        <a:pt x="66685" y="0"/>
                        <a:pt x="74738" y="4613"/>
                        <a:pt x="78094" y="12358"/>
                      </a:cubicBezTo>
                      <a:lnTo>
                        <a:pt x="103240" y="68496"/>
                      </a:lnTo>
                      <a:lnTo>
                        <a:pt x="103240" y="68639"/>
                      </a:lnTo>
                      <a:cubicBezTo>
                        <a:pt x="105781" y="74502"/>
                        <a:pt x="105213" y="81249"/>
                        <a:pt x="101728" y="86605"/>
                      </a:cubicBezTo>
                      <a:cubicBezTo>
                        <a:pt x="101513" y="86927"/>
                        <a:pt x="101287" y="87224"/>
                        <a:pt x="101049" y="87522"/>
                      </a:cubicBezTo>
                      <a:lnTo>
                        <a:pt x="76260" y="116907"/>
                      </a:lnTo>
                      <a:cubicBezTo>
                        <a:pt x="85178" y="135028"/>
                        <a:pt x="104133" y="153816"/>
                        <a:pt x="122492" y="162758"/>
                      </a:cubicBezTo>
                      <a:lnTo>
                        <a:pt x="151472" y="138100"/>
                      </a:lnTo>
                      <a:cubicBezTo>
                        <a:pt x="151757" y="137861"/>
                        <a:pt x="152055" y="137638"/>
                        <a:pt x="152365" y="137433"/>
                      </a:cubicBezTo>
                      <a:cubicBezTo>
                        <a:pt x="157718" y="133863"/>
                        <a:pt x="164511" y="133236"/>
                        <a:pt x="170427" y="135766"/>
                      </a:cubicBezTo>
                      <a:lnTo>
                        <a:pt x="170582" y="135838"/>
                      </a:lnTo>
                      <a:lnTo>
                        <a:pt x="226672" y="160972"/>
                      </a:lnTo>
                      <a:cubicBezTo>
                        <a:pt x="234431" y="164316"/>
                        <a:pt x="239060" y="172372"/>
                        <a:pt x="238042" y="180760"/>
                      </a:cubicBezTo>
                      <a:close/>
                      <a:moveTo>
                        <a:pt x="219135" y="178379"/>
                      </a:moveTo>
                      <a:cubicBezTo>
                        <a:pt x="219135" y="178379"/>
                        <a:pt x="219052" y="178379"/>
                        <a:pt x="219004" y="178379"/>
                      </a:cubicBezTo>
                      <a:lnTo>
                        <a:pt x="219004" y="178379"/>
                      </a:lnTo>
                      <a:lnTo>
                        <a:pt x="163045" y="153316"/>
                      </a:lnTo>
                      <a:lnTo>
                        <a:pt x="134053" y="177974"/>
                      </a:lnTo>
                      <a:cubicBezTo>
                        <a:pt x="133772" y="178212"/>
                        <a:pt x="133478" y="178435"/>
                        <a:pt x="133172" y="178641"/>
                      </a:cubicBezTo>
                      <a:cubicBezTo>
                        <a:pt x="127596" y="182361"/>
                        <a:pt x="120474" y="182876"/>
                        <a:pt x="114420" y="179998"/>
                      </a:cubicBezTo>
                      <a:cubicBezTo>
                        <a:pt x="92119" y="169223"/>
                        <a:pt x="69890" y="147160"/>
                        <a:pt x="59103" y="125098"/>
                      </a:cubicBezTo>
                      <a:cubicBezTo>
                        <a:pt x="56198" y="119089"/>
                        <a:pt x="56650" y="111997"/>
                        <a:pt x="60294" y="106405"/>
                      </a:cubicBezTo>
                      <a:cubicBezTo>
                        <a:pt x="60496" y="106082"/>
                        <a:pt x="60723" y="105776"/>
                        <a:pt x="60973" y="105489"/>
                      </a:cubicBezTo>
                      <a:lnTo>
                        <a:pt x="85785" y="76068"/>
                      </a:lnTo>
                      <a:lnTo>
                        <a:pt x="60782" y="20109"/>
                      </a:lnTo>
                      <a:cubicBezTo>
                        <a:pt x="60778" y="20061"/>
                        <a:pt x="60778" y="20013"/>
                        <a:pt x="60782" y="19966"/>
                      </a:cubicBezTo>
                      <a:cubicBezTo>
                        <a:pt x="36895" y="23082"/>
                        <a:pt x="19046" y="43466"/>
                        <a:pt x="19110" y="67555"/>
                      </a:cubicBezTo>
                      <a:cubicBezTo>
                        <a:pt x="19202" y="151685"/>
                        <a:pt x="87380" y="219863"/>
                        <a:pt x="171510" y="219955"/>
                      </a:cubicBezTo>
                      <a:cubicBezTo>
                        <a:pt x="195584" y="220038"/>
                        <a:pt x="215974" y="202232"/>
                        <a:pt x="219135" y="178367"/>
                      </a:cubicBezTo>
                      <a:close/>
                    </a:path>
                  </a:pathLst>
                </a:custGeom>
                <a:solidFill>
                  <a:srgbClr val="1565C0"/>
                </a:solidFill>
                <a:ln>
                  <a:noFill/>
                </a:ln>
              </p:spPr>
            </p:sp>
          </p:grpSp>
          <p:sp>
            <p:nvSpPr>
              <p:cNvPr id="16" name="TextBox 16"/>
              <p:cNvSpPr txBox="1"/>
              <p:nvPr/>
            </p:nvSpPr>
            <p:spPr>
              <a:xfrm>
                <a:off x="1318260" y="2013585"/>
                <a:ext cx="76657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B1F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通话结束</a:t>
                </a:r>
                <a:endParaRPr lang="zh-CN" sz="1200" b="1" dirty="0">
                  <a:solidFill>
                    <a:srgbClr val="0B1F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322070" y="2274570"/>
                <a:ext cx="81153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实时触发预测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2857500" y="1847850"/>
              <a:ext cx="1748028" cy="742950"/>
              <a:chOff x="2857500" y="1847850"/>
              <a:chExt cx="1748028" cy="74295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2857500" y="1847850"/>
                <a:ext cx="1600200" cy="742950"/>
              </a:xfrm>
              <a:prstGeom prst="roundRect">
                <a:avLst>
                  <a:gd name="adj" fmla="val 10256"/>
                </a:avLst>
              </a:prstGeom>
              <a:solidFill>
                <a:srgbClr val="FDECEC"/>
              </a:solidFill>
              <a:ln w="13335">
                <a:solidFill>
                  <a:srgbClr val="E55353"/>
                </a:solidFill>
              </a:ln>
            </p:spPr>
          </p:sp>
          <p:grpSp>
            <p:nvGrpSpPr>
              <p:cNvPr id="22" name="Group 22"/>
              <p:cNvGrpSpPr/>
              <p:nvPr/>
            </p:nvGrpSpPr>
            <p:grpSpPr>
              <a:xfrm>
                <a:off x="3086100" y="2105025"/>
                <a:ext cx="228600" cy="238434"/>
                <a:chOff x="3086100" y="2105025"/>
                <a:chExt cx="228600" cy="238434"/>
              </a:xfrm>
            </p:grpSpPr>
            <p:sp>
              <p:nvSpPr>
                <p:cNvPr id="20" name="Freeform 20"/>
                <p:cNvSpPr/>
                <p:nvPr/>
              </p:nvSpPr>
              <p:spPr>
                <a:xfrm>
                  <a:off x="3095625" y="2114550"/>
                  <a:ext cx="209550" cy="2192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550" h="219218">
                      <a:moveTo>
                        <a:pt x="209550" y="9525"/>
                      </a:moveTo>
                      <a:lnTo>
                        <a:pt x="209550" y="79498"/>
                      </a:lnTo>
                      <a:cubicBezTo>
                        <a:pt x="209550" y="179725"/>
                        <a:pt x="124647" y="212931"/>
                        <a:pt x="107704" y="218563"/>
                      </a:cubicBezTo>
                      <a:cubicBezTo>
                        <a:pt x="105806" y="219218"/>
                        <a:pt x="103744" y="219218"/>
                        <a:pt x="101846" y="218563"/>
                      </a:cubicBezTo>
                      <a:cubicBezTo>
                        <a:pt x="84903" y="212955"/>
                        <a:pt x="0" y="179784"/>
                        <a:pt x="0" y="79522"/>
                      </a:cubicBezTo>
                      <a:lnTo>
                        <a:pt x="0" y="9525"/>
                      </a:lnTo>
                      <a:cubicBezTo>
                        <a:pt x="0" y="4264"/>
                        <a:pt x="4264" y="0"/>
                        <a:pt x="9525" y="0"/>
                      </a:cubicBezTo>
                      <a:lnTo>
                        <a:pt x="200025" y="0"/>
                      </a:lnTo>
                      <a:cubicBezTo>
                        <a:pt x="205286" y="0"/>
                        <a:pt x="209550" y="4264"/>
                        <a:pt x="209550" y="9525"/>
                      </a:cubicBezTo>
                      <a:close/>
                    </a:path>
                  </a:pathLst>
                </a:custGeom>
                <a:solidFill>
                  <a:srgbClr val="E55353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3086100" y="2105025"/>
                  <a:ext cx="228600" cy="2384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238434">
                      <a:moveTo>
                        <a:pt x="209550" y="0"/>
                      </a:moveTo>
                      <a:lnTo>
                        <a:pt x="19050" y="0"/>
                      </a:lnTo>
                      <a:cubicBezTo>
                        <a:pt x="8529" y="0"/>
                        <a:pt x="0" y="8529"/>
                        <a:pt x="0" y="19050"/>
                      </a:cubicBezTo>
                      <a:lnTo>
                        <a:pt x="0" y="89023"/>
                      </a:lnTo>
                      <a:cubicBezTo>
                        <a:pt x="0" y="195727"/>
                        <a:pt x="90273" y="231112"/>
                        <a:pt x="108347" y="237113"/>
                      </a:cubicBezTo>
                      <a:cubicBezTo>
                        <a:pt x="112206" y="238434"/>
                        <a:pt x="116394" y="238434"/>
                        <a:pt x="120253" y="237113"/>
                      </a:cubicBezTo>
                      <a:cubicBezTo>
                        <a:pt x="138351" y="231100"/>
                        <a:pt x="228600" y="195715"/>
                        <a:pt x="228600" y="89011"/>
                      </a:cubicBezTo>
                      <a:lnTo>
                        <a:pt x="228600" y="19050"/>
                      </a:lnTo>
                      <a:cubicBezTo>
                        <a:pt x="228600" y="8529"/>
                        <a:pt x="220071" y="0"/>
                        <a:pt x="209550" y="0"/>
                      </a:cubicBezTo>
                      <a:close/>
                      <a:moveTo>
                        <a:pt x="209550" y="89047"/>
                      </a:moveTo>
                      <a:cubicBezTo>
                        <a:pt x="209550" y="182416"/>
                        <a:pt x="130564" y="213610"/>
                        <a:pt x="114300" y="219039"/>
                      </a:cubicBezTo>
                      <a:cubicBezTo>
                        <a:pt x="98191" y="213681"/>
                        <a:pt x="19050" y="182511"/>
                        <a:pt x="19050" y="89047"/>
                      </a:cubicBezTo>
                      <a:lnTo>
                        <a:pt x="19050" y="19050"/>
                      </a:lnTo>
                      <a:lnTo>
                        <a:pt x="209550" y="19050"/>
                      </a:lnTo>
                      <a:close/>
                      <a:moveTo>
                        <a:pt x="104775" y="114300"/>
                      </a:moveTo>
                      <a:lnTo>
                        <a:pt x="104775" y="66675"/>
                      </a:lnTo>
                      <a:cubicBezTo>
                        <a:pt x="104775" y="61414"/>
                        <a:pt x="109039" y="57150"/>
                        <a:pt x="114300" y="57150"/>
                      </a:cubicBezTo>
                      <a:cubicBezTo>
                        <a:pt x="119561" y="57150"/>
                        <a:pt x="123825" y="61414"/>
                        <a:pt x="123825" y="66675"/>
                      </a:cubicBezTo>
                      <a:lnTo>
                        <a:pt x="123825" y="114300"/>
                      </a:lnTo>
                      <a:cubicBezTo>
                        <a:pt x="123825" y="119561"/>
                        <a:pt x="119561" y="123825"/>
                        <a:pt x="114300" y="123825"/>
                      </a:cubicBezTo>
                      <a:cubicBezTo>
                        <a:pt x="109039" y="123825"/>
                        <a:pt x="104775" y="119561"/>
                        <a:pt x="104775" y="114300"/>
                      </a:cubicBezTo>
                      <a:close/>
                      <a:moveTo>
                        <a:pt x="100012" y="157162"/>
                      </a:moveTo>
                      <a:cubicBezTo>
                        <a:pt x="100012" y="149272"/>
                        <a:pt x="106409" y="142875"/>
                        <a:pt x="114300" y="142875"/>
                      </a:cubicBezTo>
                      <a:cubicBezTo>
                        <a:pt x="122191" y="142875"/>
                        <a:pt x="128588" y="149272"/>
                        <a:pt x="128588" y="157162"/>
                      </a:cubicBezTo>
                      <a:cubicBezTo>
                        <a:pt x="128588" y="165053"/>
                        <a:pt x="122191" y="171450"/>
                        <a:pt x="114300" y="171450"/>
                      </a:cubicBezTo>
                      <a:cubicBezTo>
                        <a:pt x="106409" y="171450"/>
                        <a:pt x="100012" y="165053"/>
                        <a:pt x="100012" y="157162"/>
                      </a:cubicBezTo>
                      <a:close/>
                    </a:path>
                  </a:pathLst>
                </a:custGeom>
                <a:solidFill>
                  <a:srgbClr val="E55353"/>
                </a:solidFill>
                <a:ln>
                  <a:noFill/>
                </a:ln>
              </p:spPr>
            </p:sp>
          </p:grpSp>
          <p:sp>
            <p:nvSpPr>
              <p:cNvPr id="23" name="TextBox 23"/>
              <p:cNvSpPr txBox="1"/>
              <p:nvPr/>
            </p:nvSpPr>
            <p:spPr>
              <a:xfrm>
                <a:off x="3470910" y="2013585"/>
                <a:ext cx="113461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B1F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识别外诉风险</a:t>
                </a:r>
                <a:endParaRPr lang="zh-CN" sz="1200" b="1" dirty="0">
                  <a:solidFill>
                    <a:srgbClr val="0B1F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3474720" y="2274570"/>
                <a:ext cx="80495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T30 是否外诉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5010150" y="1695450"/>
              <a:ext cx="1809750" cy="590550"/>
              <a:chOff x="5010150" y="1695450"/>
              <a:chExt cx="1809750" cy="59055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5010150" y="1695450"/>
                <a:ext cx="1809750" cy="590550"/>
              </a:xfrm>
              <a:prstGeom prst="roundRect">
                <a:avLst>
                  <a:gd name="adj" fmla="val 12903"/>
                </a:avLst>
              </a:prstGeom>
              <a:solidFill>
                <a:srgbClr val="FDECEC"/>
              </a:solidFill>
              <a:ln w="11430">
                <a:solidFill>
                  <a:srgbClr val="E55353"/>
                </a:solidFill>
              </a:ln>
            </p:spPr>
          </p:sp>
          <p:grpSp>
            <p:nvGrpSpPr>
              <p:cNvPr id="29" name="Group 29"/>
              <p:cNvGrpSpPr/>
              <p:nvPr/>
            </p:nvGrpSpPr>
            <p:grpSpPr>
              <a:xfrm>
                <a:off x="5253038" y="1906191"/>
                <a:ext cx="200025" cy="158353"/>
                <a:chOff x="5253038" y="1906191"/>
                <a:chExt cx="200025" cy="158353"/>
              </a:xfrm>
            </p:grpSpPr>
            <p:sp>
              <p:nvSpPr>
                <p:cNvPr id="27" name="Freeform 27"/>
                <p:cNvSpPr/>
                <p:nvPr/>
              </p:nvSpPr>
              <p:spPr>
                <a:xfrm>
                  <a:off x="5286375" y="1914525"/>
                  <a:ext cx="133350" cy="583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58341">
                      <a:moveTo>
                        <a:pt x="133350" y="0"/>
                      </a:moveTo>
                      <a:lnTo>
                        <a:pt x="133350" y="58341"/>
                      </a:lnTo>
                      <a:lnTo>
                        <a:pt x="0" y="5834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E55353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5253038" y="1906191"/>
                  <a:ext cx="200025" cy="1583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158353">
                      <a:moveTo>
                        <a:pt x="25003" y="8334"/>
                      </a:moveTo>
                      <a:cubicBezTo>
                        <a:pt x="25003" y="3731"/>
                        <a:pt x="28735" y="0"/>
                        <a:pt x="33338" y="0"/>
                      </a:cubicBezTo>
                      <a:lnTo>
                        <a:pt x="166688" y="0"/>
                      </a:lnTo>
                      <a:cubicBezTo>
                        <a:pt x="171290" y="0"/>
                        <a:pt x="175022" y="3731"/>
                        <a:pt x="175022" y="8334"/>
                      </a:cubicBezTo>
                      <a:cubicBezTo>
                        <a:pt x="175022" y="12937"/>
                        <a:pt x="171290" y="16669"/>
                        <a:pt x="166688" y="16669"/>
                      </a:cubicBezTo>
                      <a:lnTo>
                        <a:pt x="33338" y="16669"/>
                      </a:lnTo>
                      <a:cubicBezTo>
                        <a:pt x="28735" y="16669"/>
                        <a:pt x="25003" y="12937"/>
                        <a:pt x="25003" y="8334"/>
                      </a:cubicBezTo>
                      <a:close/>
                      <a:moveTo>
                        <a:pt x="191691" y="116681"/>
                      </a:moveTo>
                      <a:cubicBezTo>
                        <a:pt x="187088" y="116681"/>
                        <a:pt x="183356" y="120413"/>
                        <a:pt x="183356" y="125016"/>
                      </a:cubicBezTo>
                      <a:lnTo>
                        <a:pt x="183356" y="141684"/>
                      </a:lnTo>
                      <a:lnTo>
                        <a:pt x="150019" y="141684"/>
                      </a:lnTo>
                      <a:cubicBezTo>
                        <a:pt x="140813" y="141684"/>
                        <a:pt x="133350" y="134222"/>
                        <a:pt x="133350" y="125016"/>
                      </a:cubicBezTo>
                      <a:lnTo>
                        <a:pt x="133350" y="75009"/>
                      </a:lnTo>
                      <a:lnTo>
                        <a:pt x="183356" y="75009"/>
                      </a:lnTo>
                      <a:cubicBezTo>
                        <a:pt x="187959" y="75009"/>
                        <a:pt x="191691" y="71278"/>
                        <a:pt x="191691" y="66675"/>
                      </a:cubicBezTo>
                      <a:cubicBezTo>
                        <a:pt x="191691" y="62072"/>
                        <a:pt x="187959" y="58341"/>
                        <a:pt x="183356" y="58341"/>
                      </a:cubicBezTo>
                      <a:lnTo>
                        <a:pt x="16669" y="58341"/>
                      </a:lnTo>
                      <a:cubicBezTo>
                        <a:pt x="12066" y="58341"/>
                        <a:pt x="8334" y="62072"/>
                        <a:pt x="8334" y="66675"/>
                      </a:cubicBezTo>
                      <a:cubicBezTo>
                        <a:pt x="8334" y="71278"/>
                        <a:pt x="12066" y="75009"/>
                        <a:pt x="16669" y="75009"/>
                      </a:cubicBezTo>
                      <a:lnTo>
                        <a:pt x="66675" y="75009"/>
                      </a:lnTo>
                      <a:lnTo>
                        <a:pt x="66675" y="83344"/>
                      </a:lnTo>
                      <a:cubicBezTo>
                        <a:pt x="66641" y="115550"/>
                        <a:pt x="40541" y="141650"/>
                        <a:pt x="8334" y="141684"/>
                      </a:cubicBezTo>
                      <a:cubicBezTo>
                        <a:pt x="3731" y="141684"/>
                        <a:pt x="0" y="145416"/>
                        <a:pt x="0" y="150019"/>
                      </a:cubicBezTo>
                      <a:cubicBezTo>
                        <a:pt x="0" y="154622"/>
                        <a:pt x="3731" y="158353"/>
                        <a:pt x="8334" y="158353"/>
                      </a:cubicBezTo>
                      <a:cubicBezTo>
                        <a:pt x="49742" y="158307"/>
                        <a:pt x="83298" y="124751"/>
                        <a:pt x="83344" y="83344"/>
                      </a:cubicBezTo>
                      <a:lnTo>
                        <a:pt x="83344" y="75009"/>
                      </a:lnTo>
                      <a:lnTo>
                        <a:pt x="116681" y="75009"/>
                      </a:lnTo>
                      <a:lnTo>
                        <a:pt x="116681" y="125016"/>
                      </a:lnTo>
                      <a:cubicBezTo>
                        <a:pt x="116681" y="143427"/>
                        <a:pt x="131607" y="158353"/>
                        <a:pt x="150019" y="158353"/>
                      </a:cubicBezTo>
                      <a:lnTo>
                        <a:pt x="191691" y="158353"/>
                      </a:lnTo>
                      <a:cubicBezTo>
                        <a:pt x="196294" y="158353"/>
                        <a:pt x="200025" y="154622"/>
                        <a:pt x="200025" y="150019"/>
                      </a:cubicBezTo>
                      <a:lnTo>
                        <a:pt x="200025" y="125016"/>
                      </a:lnTo>
                      <a:cubicBezTo>
                        <a:pt x="200025" y="120413"/>
                        <a:pt x="196294" y="116681"/>
                        <a:pt x="191691" y="116681"/>
                      </a:cubicBezTo>
                      <a:close/>
                    </a:path>
                  </a:pathLst>
                </a:custGeom>
                <a:solidFill>
                  <a:srgbClr val="E55353"/>
                </a:solidFill>
                <a:ln>
                  <a:noFill/>
                </a:ln>
              </p:spPr>
            </p:sp>
          </p:grpSp>
          <p:sp>
            <p:nvSpPr>
              <p:cNvPr id="30" name="TextBox 30"/>
              <p:cNvSpPr txBox="1"/>
              <p:nvPr/>
            </p:nvSpPr>
            <p:spPr>
              <a:xfrm>
                <a:off x="5605462" y="1821656"/>
                <a:ext cx="89118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B1F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高风险人群</a:t>
                </a:r>
                <a:endParaRPr lang="zh-CN" sz="1125" b="1" dirty="0">
                  <a:solidFill>
                    <a:srgbClr val="0B1F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5608320" y="2055495"/>
                <a:ext cx="96269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补钱 / 强化安抚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5010150" y="2419350"/>
              <a:ext cx="2170462" cy="400050"/>
              <a:chOff x="5010150" y="2419350"/>
              <a:chExt cx="2170462" cy="400050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5010150" y="2419350"/>
                <a:ext cx="1809750" cy="400050"/>
              </a:xfrm>
              <a:prstGeom prst="roundRect">
                <a:avLst>
                  <a:gd name="adj" fmla="val 19048"/>
                </a:avLst>
              </a:prstGeom>
              <a:solidFill>
                <a:srgbClr val="E8F8F2"/>
              </a:solidFill>
              <a:ln w="11430">
                <a:solidFill>
                  <a:srgbClr val="00A884"/>
                </a:solidFill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5205412" y="2545556"/>
                <a:ext cx="89118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B1F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低风险人群</a:t>
                </a:r>
                <a:endParaRPr lang="zh-CN" sz="1125" b="1" dirty="0">
                  <a:solidFill>
                    <a:srgbClr val="0B1F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217920" y="2569845"/>
                <a:ext cx="96269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标准处置 / 降本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7715250" y="1847850"/>
              <a:ext cx="1842135" cy="742950"/>
              <a:chOff x="7715250" y="1847850"/>
              <a:chExt cx="1842135" cy="742950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7715250" y="1847850"/>
                <a:ext cx="1809750" cy="742950"/>
              </a:xfrm>
              <a:prstGeom prst="roundRect">
                <a:avLst>
                  <a:gd name="adj" fmla="val 10256"/>
                </a:avLst>
              </a:prstGeom>
              <a:solidFill>
                <a:srgbClr val="E8F8F2"/>
              </a:solidFill>
              <a:ln w="13335">
                <a:solidFill>
                  <a:srgbClr val="00A884"/>
                </a:solidFill>
              </a:ln>
            </p:spPr>
          </p:sp>
          <p:grpSp>
            <p:nvGrpSpPr>
              <p:cNvPr id="40" name="Group 40"/>
              <p:cNvGrpSpPr/>
              <p:nvPr/>
            </p:nvGrpSpPr>
            <p:grpSpPr>
              <a:xfrm>
                <a:off x="7942914" y="2114547"/>
                <a:ext cx="267639" cy="172389"/>
                <a:chOff x="7942914" y="2114547"/>
                <a:chExt cx="267639" cy="172389"/>
              </a:xfrm>
            </p:grpSpPr>
            <p:sp>
              <p:nvSpPr>
                <p:cNvPr id="38" name="Freeform 38"/>
                <p:cNvSpPr/>
                <p:nvPr/>
              </p:nvSpPr>
              <p:spPr>
                <a:xfrm>
                  <a:off x="8124825" y="2124075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76200" y="0"/>
                      </a:moveTo>
                      <a:lnTo>
                        <a:pt x="76200" y="762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A884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7942914" y="2114547"/>
                  <a:ext cx="267639" cy="1723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639" h="172389">
                      <a:moveTo>
                        <a:pt x="258111" y="3"/>
                      </a:moveTo>
                      <a:lnTo>
                        <a:pt x="181911" y="3"/>
                      </a:lnTo>
                      <a:cubicBezTo>
                        <a:pt x="178056" y="0"/>
                        <a:pt x="174579" y="2321"/>
                        <a:pt x="173104" y="5882"/>
                      </a:cubicBezTo>
                      <a:cubicBezTo>
                        <a:pt x="171628" y="9443"/>
                        <a:pt x="172445" y="13543"/>
                        <a:pt x="175172" y="16267"/>
                      </a:cubicBezTo>
                      <a:lnTo>
                        <a:pt x="206545" y="47628"/>
                      </a:lnTo>
                      <a:lnTo>
                        <a:pt x="143811" y="110362"/>
                      </a:lnTo>
                      <a:lnTo>
                        <a:pt x="102925" y="69464"/>
                      </a:lnTo>
                      <a:cubicBezTo>
                        <a:pt x="101138" y="67676"/>
                        <a:pt x="98714" y="66671"/>
                        <a:pt x="96186" y="66671"/>
                      </a:cubicBezTo>
                      <a:cubicBezTo>
                        <a:pt x="93658" y="66671"/>
                        <a:pt x="91233" y="67676"/>
                        <a:pt x="89447" y="69464"/>
                      </a:cubicBezTo>
                      <a:lnTo>
                        <a:pt x="3722" y="155189"/>
                      </a:lnTo>
                      <a:cubicBezTo>
                        <a:pt x="0" y="158911"/>
                        <a:pt x="0" y="164945"/>
                        <a:pt x="3722" y="168667"/>
                      </a:cubicBezTo>
                      <a:cubicBezTo>
                        <a:pt x="7444" y="172389"/>
                        <a:pt x="13478" y="172389"/>
                        <a:pt x="17200" y="168667"/>
                      </a:cubicBezTo>
                      <a:lnTo>
                        <a:pt x="96186" y="89669"/>
                      </a:lnTo>
                      <a:lnTo>
                        <a:pt x="137072" y="130567"/>
                      </a:lnTo>
                      <a:cubicBezTo>
                        <a:pt x="138858" y="132356"/>
                        <a:pt x="141283" y="133361"/>
                        <a:pt x="143811" y="133361"/>
                      </a:cubicBezTo>
                      <a:cubicBezTo>
                        <a:pt x="146339" y="133361"/>
                        <a:pt x="148763" y="132356"/>
                        <a:pt x="150550" y="130567"/>
                      </a:cubicBezTo>
                      <a:lnTo>
                        <a:pt x="220011" y="61094"/>
                      </a:lnTo>
                      <a:lnTo>
                        <a:pt x="251372" y="92467"/>
                      </a:lnTo>
                      <a:cubicBezTo>
                        <a:pt x="254096" y="95194"/>
                        <a:pt x="258196" y="96011"/>
                        <a:pt x="261757" y="94535"/>
                      </a:cubicBezTo>
                      <a:cubicBezTo>
                        <a:pt x="265318" y="93059"/>
                        <a:pt x="267639" y="89583"/>
                        <a:pt x="267636" y="85728"/>
                      </a:cubicBezTo>
                      <a:lnTo>
                        <a:pt x="267636" y="9528"/>
                      </a:lnTo>
                      <a:cubicBezTo>
                        <a:pt x="267636" y="4268"/>
                        <a:pt x="263371" y="3"/>
                        <a:pt x="258111" y="3"/>
                      </a:cubicBezTo>
                      <a:close/>
                      <a:moveTo>
                        <a:pt x="248586" y="62737"/>
                      </a:moveTo>
                      <a:lnTo>
                        <a:pt x="204902" y="19053"/>
                      </a:lnTo>
                      <a:lnTo>
                        <a:pt x="248586" y="19053"/>
                      </a:lnTo>
                      <a:close/>
                    </a:path>
                  </a:pathLst>
                </a:custGeom>
                <a:solidFill>
                  <a:srgbClr val="00A884"/>
                </a:solidFill>
                <a:ln>
                  <a:noFill/>
                </a:ln>
              </p:spPr>
            </p:sp>
          </p:grpSp>
          <p:sp>
            <p:nvSpPr>
              <p:cNvPr id="41" name="TextBox 41"/>
              <p:cNvSpPr txBox="1"/>
              <p:nvPr/>
            </p:nvSpPr>
            <p:spPr>
              <a:xfrm>
                <a:off x="8347710" y="2013585"/>
                <a:ext cx="113461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B1F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更准风险分层</a:t>
                </a:r>
                <a:endParaRPr lang="zh-CN" sz="1200" b="1" dirty="0">
                  <a:solidFill>
                    <a:srgbClr val="0B1F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351520" y="2274570"/>
                <a:ext cx="120586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AUC 0.756 支撑策略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10096500" y="1847850"/>
              <a:ext cx="1390650" cy="742950"/>
              <a:chOff x="10096500" y="1847850"/>
              <a:chExt cx="1390650" cy="742950"/>
            </a:xfrm>
          </p:grpSpPr>
          <p:sp>
            <p:nvSpPr>
              <p:cNvPr id="44" name="Rectangle 44"/>
              <p:cNvSpPr/>
              <p:nvPr/>
            </p:nvSpPr>
            <p:spPr>
              <a:xfrm>
                <a:off x="10096500" y="1847850"/>
                <a:ext cx="1390650" cy="742950"/>
              </a:xfrm>
              <a:prstGeom prst="roundRect">
                <a:avLst>
                  <a:gd name="adj" fmla="val 10256"/>
                </a:avLst>
              </a:prstGeom>
              <a:solidFill>
                <a:srgbClr val="0B1F33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10257115" y="2006918"/>
                <a:ext cx="1069419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降低外诉率</a:t>
                </a:r>
                <a:endPara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10254615" y="2284095"/>
                <a:ext cx="107442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D8E1E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同时控制补贴成本</a:t>
                </a:r>
                <a:endParaRPr lang="zh-CN" sz="900" dirty="0">
                  <a:solidFill>
                    <a:srgbClr val="D8E1E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sp>
          <p:nvSpPr>
            <p:cNvPr id="48" name="Line 48"/>
            <p:cNvSpPr/>
            <p:nvPr/>
          </p:nvSpPr>
          <p:spPr>
            <a:xfrm>
              <a:off x="2305050" y="2219325"/>
              <a:ext cx="495300" cy="1"/>
            </a:xfrm>
            <a:prstGeom prst="line">
              <a:avLst/>
            </a:prstGeom>
            <a:noFill/>
            <a:ln w="28575">
              <a:solidFill>
                <a:srgbClr val="1565C0"/>
              </a:solidFill>
              <a:tailEnd type="triangle" w="lg" len="lg"/>
            </a:ln>
          </p:spPr>
        </p:sp>
        <p:sp>
          <p:nvSpPr>
            <p:cNvPr id="49" name="Line 49"/>
            <p:cNvSpPr/>
            <p:nvPr/>
          </p:nvSpPr>
          <p:spPr>
            <a:xfrm flipV="1">
              <a:off x="4457700" y="1990725"/>
              <a:ext cx="495300" cy="228600"/>
            </a:xfrm>
            <a:prstGeom prst="line">
              <a:avLst/>
            </a:prstGeom>
            <a:noFill/>
            <a:ln w="28575">
              <a:solidFill>
                <a:srgbClr val="E55353"/>
              </a:solidFill>
              <a:tailEnd type="triangle" w="lg" len="lg"/>
            </a:ln>
          </p:spPr>
        </p:sp>
        <p:sp>
          <p:nvSpPr>
            <p:cNvPr id="50" name="Line 50"/>
            <p:cNvSpPr/>
            <p:nvPr/>
          </p:nvSpPr>
          <p:spPr>
            <a:xfrm>
              <a:off x="4457700" y="2219325"/>
              <a:ext cx="495300" cy="390525"/>
            </a:xfrm>
            <a:prstGeom prst="line">
              <a:avLst/>
            </a:prstGeom>
            <a:noFill/>
            <a:ln w="28575">
              <a:solidFill>
                <a:srgbClr val="00A884"/>
              </a:solidFill>
              <a:tailEnd type="triangle" w="lg" len="lg"/>
            </a:ln>
          </p:spPr>
        </p:sp>
        <p:sp>
          <p:nvSpPr>
            <p:cNvPr id="51" name="Line 51"/>
            <p:cNvSpPr/>
            <p:nvPr/>
          </p:nvSpPr>
          <p:spPr>
            <a:xfrm>
              <a:off x="6819900" y="1990725"/>
              <a:ext cx="838200" cy="123825"/>
            </a:xfrm>
            <a:prstGeom prst="line">
              <a:avLst/>
            </a:prstGeom>
            <a:noFill/>
            <a:ln w="28575">
              <a:solidFill>
                <a:srgbClr val="E55353"/>
              </a:solidFill>
              <a:tailEnd type="triangle" w="lg" len="lg"/>
            </a:ln>
          </p:spPr>
        </p:sp>
        <p:sp>
          <p:nvSpPr>
            <p:cNvPr id="52" name="Line 52"/>
            <p:cNvSpPr/>
            <p:nvPr/>
          </p:nvSpPr>
          <p:spPr>
            <a:xfrm flipV="1">
              <a:off x="6819900" y="2324100"/>
              <a:ext cx="838200" cy="304800"/>
            </a:xfrm>
            <a:prstGeom prst="line">
              <a:avLst/>
            </a:prstGeom>
            <a:noFill/>
            <a:ln w="28575">
              <a:solidFill>
                <a:srgbClr val="00A884"/>
              </a:solidFill>
              <a:tailEnd type="triangle" w="lg" len="lg"/>
            </a:ln>
          </p:spPr>
        </p:sp>
        <p:sp>
          <p:nvSpPr>
            <p:cNvPr id="53" name="Line 53"/>
            <p:cNvSpPr/>
            <p:nvPr/>
          </p:nvSpPr>
          <p:spPr>
            <a:xfrm>
              <a:off x="9525000" y="2219325"/>
              <a:ext cx="514350" cy="1"/>
            </a:xfrm>
            <a:prstGeom prst="line">
              <a:avLst/>
            </a:prstGeom>
            <a:noFill/>
            <a:ln w="28575">
              <a:solidFill>
                <a:srgbClr val="00A884"/>
              </a:solidFill>
              <a:tailEnd type="triangle" w="lg" len="lg"/>
            </a:ln>
          </p:spPr>
        </p:sp>
      </p:grpSp>
      <p:grpSp>
        <p:nvGrpSpPr>
          <p:cNvPr id="90" name="Group 90"/>
          <p:cNvGrpSpPr/>
          <p:nvPr/>
        </p:nvGrpSpPr>
        <p:grpSpPr>
          <a:xfrm>
            <a:off x="457200" y="3314700"/>
            <a:ext cx="7353300" cy="2819400"/>
            <a:chOff x="457200" y="3314700"/>
            <a:chExt cx="7353300" cy="2819400"/>
          </a:xfrm>
        </p:grpSpPr>
        <p:sp>
          <p:nvSpPr>
            <p:cNvPr id="55" name="Rectangle 55"/>
            <p:cNvSpPr/>
            <p:nvPr/>
          </p:nvSpPr>
          <p:spPr>
            <a:xfrm>
              <a:off x="457200" y="3314700"/>
              <a:ext cx="7353300" cy="2819400"/>
            </a:xfrm>
            <a:prstGeom prst="roundRect">
              <a:avLst>
                <a:gd name="adj" fmla="val 2703"/>
              </a:avLst>
            </a:prstGeom>
            <a:solidFill>
              <a:srgbClr val="FFFFFF"/>
            </a:solidFill>
            <a:ln w="11430">
              <a:solidFill>
                <a:srgbClr val="D8E1EA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91515" y="3487102"/>
              <a:ext cx="359326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建模周期对比：传统流程 vs 伏羲 Auto-Research</a:t>
              </a:r>
              <a:endParaRPr lang="zh-CN" sz="105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64" name="Group 64"/>
            <p:cNvGrpSpPr/>
            <p:nvPr/>
          </p:nvGrpSpPr>
          <p:grpSpPr>
            <a:xfrm>
              <a:off x="2191083" y="3981450"/>
              <a:ext cx="4857751" cy="1876425"/>
              <a:chOff x="2191083" y="3981450"/>
              <a:chExt cx="4857751" cy="1876425"/>
            </a:xfrm>
          </p:grpSpPr>
          <p:sp>
            <p:nvSpPr>
              <p:cNvPr id="57" name="Line 57"/>
              <p:cNvSpPr/>
              <p:nvPr/>
            </p:nvSpPr>
            <p:spPr>
              <a:xfrm>
                <a:off x="2324100" y="5505450"/>
                <a:ext cx="4572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572000" h="9525">
                    <a:moveTo>
                      <a:pt x="0" y="0"/>
                    </a:moveTo>
                    <a:lnTo>
                      <a:pt x="4572000" y="0"/>
                    </a:lnTo>
                  </a:path>
                </a:pathLst>
              </a:custGeom>
              <a:noFill/>
              <a:ln w="9525">
                <a:solidFill>
                  <a:srgbClr val="D8E1EA"/>
                </a:solidFill>
              </a:ln>
            </p:spPr>
          </p:sp>
          <p:sp>
            <p:nvSpPr>
              <p:cNvPr id="58" name="Line 58"/>
              <p:cNvSpPr/>
              <p:nvPr/>
            </p:nvSpPr>
            <p:spPr>
              <a:xfrm>
                <a:off x="2324100" y="3981450"/>
                <a:ext cx="9525" cy="1524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24000">
                    <a:moveTo>
                      <a:pt x="0" y="0"/>
                    </a:moveTo>
                    <a:lnTo>
                      <a:pt x="0" y="1524000"/>
                    </a:lnTo>
                  </a:path>
                </a:pathLst>
              </a:custGeom>
              <a:noFill/>
              <a:ln w="9525">
                <a:solidFill>
                  <a:srgbClr val="D8E1EA"/>
                </a:solidFill>
              </a:ln>
            </p:spPr>
          </p:sp>
          <p:sp>
            <p:nvSpPr>
              <p:cNvPr id="59" name="Line 59"/>
              <p:cNvSpPr/>
              <p:nvPr/>
            </p:nvSpPr>
            <p:spPr>
              <a:xfrm>
                <a:off x="4610100" y="3981450"/>
                <a:ext cx="9525" cy="1524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24000">
                    <a:moveTo>
                      <a:pt x="0" y="0"/>
                    </a:moveTo>
                    <a:lnTo>
                      <a:pt x="0" y="1524000"/>
                    </a:lnTo>
                  </a:path>
                </a:pathLst>
              </a:custGeom>
              <a:noFill/>
              <a:ln w="9525">
                <a:solidFill>
                  <a:srgbClr val="D8E1EA"/>
                </a:solidFill>
                <a:prstDash val="dash"/>
              </a:ln>
            </p:spPr>
          </p:sp>
          <p:sp>
            <p:nvSpPr>
              <p:cNvPr id="60" name="Line 60"/>
              <p:cNvSpPr/>
              <p:nvPr/>
            </p:nvSpPr>
            <p:spPr>
              <a:xfrm>
                <a:off x="6896100" y="3981450"/>
                <a:ext cx="9525" cy="1524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24000">
                    <a:moveTo>
                      <a:pt x="0" y="0"/>
                    </a:moveTo>
                    <a:lnTo>
                      <a:pt x="0" y="1524000"/>
                    </a:lnTo>
                  </a:path>
                </a:pathLst>
              </a:custGeom>
              <a:noFill/>
              <a:ln w="9525">
                <a:solidFill>
                  <a:srgbClr val="D8E1EA"/>
                </a:solidFill>
              </a:ln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2191083" y="5674995"/>
                <a:ext cx="26603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0 天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4477083" y="5674995"/>
                <a:ext cx="26603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5 天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6743367" y="5674995"/>
                <a:ext cx="30546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10 天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70" name="Group 70"/>
            <p:cNvGrpSpPr/>
            <p:nvPr/>
          </p:nvGrpSpPr>
          <p:grpSpPr>
            <a:xfrm>
              <a:off x="1353026" y="3943350"/>
              <a:ext cx="6355962" cy="230981"/>
              <a:chOff x="1353026" y="3943350"/>
              <a:chExt cx="6355962" cy="230981"/>
            </a:xfrm>
          </p:grpSpPr>
          <p:sp>
            <p:nvSpPr>
              <p:cNvPr id="65" name="TextBox 65"/>
              <p:cNvSpPr txBox="1"/>
              <p:nvPr/>
            </p:nvSpPr>
            <p:spPr>
              <a:xfrm>
                <a:off x="1353026" y="3945731"/>
                <a:ext cx="71866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125" b="1" dirty="0">
                    <a:solidFill>
                      <a:srgbClr val="0B1F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数据准备</a:t>
                </a:r>
                <a:endParaRPr lang="zh-CN" sz="1125" b="1" dirty="0">
                  <a:solidFill>
                    <a:srgbClr val="0B1F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6" name="Line 66"/>
              <p:cNvSpPr/>
              <p:nvPr/>
            </p:nvSpPr>
            <p:spPr>
              <a:xfrm>
                <a:off x="6896100" y="40195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rgbClr val="D8E1EA"/>
                </a:solidFill>
              </a:ln>
            </p:spPr>
          </p:sp>
          <p:sp>
            <p:nvSpPr>
              <p:cNvPr id="67" name="Ellipse 67"/>
              <p:cNvSpPr/>
              <p:nvPr/>
            </p:nvSpPr>
            <p:spPr>
              <a:xfrm>
                <a:off x="6819900" y="3943350"/>
                <a:ext cx="152400" cy="152400"/>
              </a:xfrm>
              <a:prstGeom prst="ellipse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68" name="Ellipse 68"/>
              <p:cNvSpPr/>
              <p:nvPr/>
            </p:nvSpPr>
            <p:spPr>
              <a:xfrm>
                <a:off x="6819900" y="3943350"/>
                <a:ext cx="152400" cy="152400"/>
              </a:xfrm>
              <a:prstGeom prst="ellipse">
                <a:avLst/>
              </a:prstGeom>
              <a:solidFill>
                <a:srgbClr val="00A884"/>
              </a:solidFill>
              <a:ln>
                <a:noFill/>
              </a:ln>
            </p:spPr>
          </p:sp>
          <p:sp>
            <p:nvSpPr>
              <p:cNvPr id="69" name="TextBox 69"/>
              <p:cNvSpPr txBox="1"/>
              <p:nvPr/>
            </p:nvSpPr>
            <p:spPr>
              <a:xfrm>
                <a:off x="7093268" y="3961924"/>
                <a:ext cx="61572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10 天持平</a:t>
                </a:r>
                <a:endPara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77" name="Group 77"/>
            <p:cNvGrpSpPr/>
            <p:nvPr/>
          </p:nvGrpSpPr>
          <p:grpSpPr>
            <a:xfrm>
              <a:off x="1353026" y="4667250"/>
              <a:ext cx="3345706" cy="230981"/>
              <a:chOff x="1353026" y="4667250"/>
              <a:chExt cx="3345706" cy="230981"/>
            </a:xfrm>
          </p:grpSpPr>
          <p:sp>
            <p:nvSpPr>
              <p:cNvPr id="71" name="TextBox 71"/>
              <p:cNvSpPr txBox="1"/>
              <p:nvPr/>
            </p:nvSpPr>
            <p:spPr>
              <a:xfrm>
                <a:off x="1353026" y="4669631"/>
                <a:ext cx="71866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125" b="1" dirty="0">
                    <a:solidFill>
                      <a:srgbClr val="0B1F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特征工程</a:t>
                </a:r>
                <a:endParaRPr lang="zh-CN" sz="1125" b="1" dirty="0">
                  <a:solidFill>
                    <a:srgbClr val="0B1F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72" name="Line 72"/>
              <p:cNvSpPr/>
              <p:nvPr/>
            </p:nvSpPr>
            <p:spPr>
              <a:xfrm>
                <a:off x="2781300" y="4743450"/>
                <a:ext cx="457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9525">
                    <a:moveTo>
                      <a:pt x="0" y="0"/>
                    </a:moveTo>
                    <a:lnTo>
                      <a:pt x="457200" y="0"/>
                    </a:lnTo>
                  </a:path>
                </a:pathLst>
              </a:custGeom>
              <a:noFill/>
              <a:ln w="28575">
                <a:solidFill>
                  <a:srgbClr val="D8E1EA"/>
                </a:solidFill>
              </a:ln>
            </p:spPr>
          </p:sp>
          <p:sp>
            <p:nvSpPr>
              <p:cNvPr id="73" name="Ellipse 73"/>
              <p:cNvSpPr/>
              <p:nvPr/>
            </p:nvSpPr>
            <p:spPr>
              <a:xfrm>
                <a:off x="3162300" y="4667250"/>
                <a:ext cx="152400" cy="152400"/>
              </a:xfrm>
              <a:prstGeom prst="ellipse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74" name="Ellipse 74"/>
              <p:cNvSpPr/>
              <p:nvPr/>
            </p:nvSpPr>
            <p:spPr>
              <a:xfrm>
                <a:off x="2705100" y="4667250"/>
                <a:ext cx="152400" cy="152400"/>
              </a:xfrm>
              <a:prstGeom prst="ellipse">
                <a:avLst/>
              </a:prstGeom>
              <a:solidFill>
                <a:srgbClr val="00A884"/>
              </a:solidFill>
              <a:ln>
                <a:noFill/>
              </a:ln>
            </p:spPr>
          </p:sp>
          <p:sp>
            <p:nvSpPr>
              <p:cNvPr id="75" name="TextBox 75"/>
              <p:cNvSpPr txBox="1"/>
              <p:nvPr/>
            </p:nvSpPr>
            <p:spPr>
              <a:xfrm>
                <a:off x="3435668" y="4685824"/>
                <a:ext cx="49468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2 → 1 天</a:t>
                </a:r>
                <a:endPara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4083368" y="4685824"/>
                <a:ext cx="61536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00A884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压缩 50%</a:t>
                </a:r>
                <a:endParaRPr lang="zh-CN" sz="975" b="1" dirty="0">
                  <a:solidFill>
                    <a:srgbClr val="00A88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84" name="Group 84"/>
            <p:cNvGrpSpPr/>
            <p:nvPr/>
          </p:nvGrpSpPr>
          <p:grpSpPr>
            <a:xfrm>
              <a:off x="1353026" y="5295900"/>
              <a:ext cx="3345706" cy="230981"/>
              <a:chOff x="1353026" y="5295900"/>
              <a:chExt cx="3345706" cy="230981"/>
            </a:xfrm>
          </p:grpSpPr>
          <p:sp>
            <p:nvSpPr>
              <p:cNvPr id="78" name="TextBox 78"/>
              <p:cNvSpPr txBox="1"/>
              <p:nvPr/>
            </p:nvSpPr>
            <p:spPr>
              <a:xfrm>
                <a:off x="1353026" y="5298281"/>
                <a:ext cx="71866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125" b="1" dirty="0">
                    <a:solidFill>
                      <a:srgbClr val="0B1F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模型工程</a:t>
                </a:r>
                <a:endParaRPr lang="zh-CN" sz="1125" b="1" dirty="0">
                  <a:solidFill>
                    <a:srgbClr val="0B1F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79" name="Line 79"/>
              <p:cNvSpPr/>
              <p:nvPr/>
            </p:nvSpPr>
            <p:spPr>
              <a:xfrm>
                <a:off x="2781300" y="5372100"/>
                <a:ext cx="457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9525">
                    <a:moveTo>
                      <a:pt x="0" y="0"/>
                    </a:moveTo>
                    <a:lnTo>
                      <a:pt x="457200" y="0"/>
                    </a:lnTo>
                  </a:path>
                </a:pathLst>
              </a:custGeom>
              <a:noFill/>
              <a:ln w="28575">
                <a:solidFill>
                  <a:srgbClr val="D8E1EA"/>
                </a:solidFill>
              </a:ln>
            </p:spPr>
          </p:sp>
          <p:sp>
            <p:nvSpPr>
              <p:cNvPr id="80" name="Ellipse 80"/>
              <p:cNvSpPr/>
              <p:nvPr/>
            </p:nvSpPr>
            <p:spPr>
              <a:xfrm>
                <a:off x="3162300" y="5295900"/>
                <a:ext cx="152400" cy="152400"/>
              </a:xfrm>
              <a:prstGeom prst="ellipse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81" name="Ellipse 81"/>
              <p:cNvSpPr/>
              <p:nvPr/>
            </p:nvSpPr>
            <p:spPr>
              <a:xfrm>
                <a:off x="2705100" y="5295900"/>
                <a:ext cx="152400" cy="152400"/>
              </a:xfrm>
              <a:prstGeom prst="ellipse">
                <a:avLst/>
              </a:prstGeom>
              <a:solidFill>
                <a:srgbClr val="00A884"/>
              </a:solidFill>
              <a:ln>
                <a:noFill/>
              </a:ln>
            </p:spPr>
          </p:sp>
          <p:sp>
            <p:nvSpPr>
              <p:cNvPr id="82" name="TextBox 82"/>
              <p:cNvSpPr txBox="1"/>
              <p:nvPr/>
            </p:nvSpPr>
            <p:spPr>
              <a:xfrm>
                <a:off x="3435668" y="5314474"/>
                <a:ext cx="49468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2 → 1 天</a:t>
                </a:r>
                <a:endPara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83" name="TextBox 83"/>
              <p:cNvSpPr txBox="1"/>
              <p:nvPr/>
            </p:nvSpPr>
            <p:spPr>
              <a:xfrm>
                <a:off x="4083368" y="5314474"/>
                <a:ext cx="61536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00A884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压缩 50%</a:t>
                </a:r>
                <a:endParaRPr lang="zh-CN" sz="975" b="1" dirty="0">
                  <a:solidFill>
                    <a:srgbClr val="00A88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89" name="Group 89"/>
            <p:cNvGrpSpPr/>
            <p:nvPr/>
          </p:nvGrpSpPr>
          <p:grpSpPr>
            <a:xfrm>
              <a:off x="5753100" y="3543300"/>
              <a:ext cx="1093470" cy="190500"/>
              <a:chOff x="5753100" y="3543300"/>
              <a:chExt cx="1093470" cy="190500"/>
            </a:xfrm>
          </p:grpSpPr>
          <p:sp>
            <p:nvSpPr>
              <p:cNvPr id="85" name="Ellipse 85"/>
              <p:cNvSpPr/>
              <p:nvPr/>
            </p:nvSpPr>
            <p:spPr>
              <a:xfrm>
                <a:off x="5753100" y="3543300"/>
                <a:ext cx="114300" cy="114300"/>
              </a:xfrm>
              <a:prstGeom prst="ellipse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86" name="TextBox 86"/>
              <p:cNvSpPr txBox="1"/>
              <p:nvPr/>
            </p:nvSpPr>
            <p:spPr>
              <a:xfrm>
                <a:off x="5932170" y="3550920"/>
                <a:ext cx="28575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传统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87" name="Ellipse 87"/>
              <p:cNvSpPr/>
              <p:nvPr/>
            </p:nvSpPr>
            <p:spPr>
              <a:xfrm>
                <a:off x="6381750" y="3543300"/>
                <a:ext cx="114300" cy="114300"/>
              </a:xfrm>
              <a:prstGeom prst="ellipse">
                <a:avLst/>
              </a:prstGeom>
              <a:solidFill>
                <a:srgbClr val="00A884"/>
              </a:solidFill>
              <a:ln>
                <a:noFill/>
              </a:ln>
            </p:spPr>
          </p:sp>
          <p:sp>
            <p:nvSpPr>
              <p:cNvPr id="88" name="TextBox 88"/>
              <p:cNvSpPr txBox="1"/>
              <p:nvPr/>
            </p:nvSpPr>
            <p:spPr>
              <a:xfrm>
                <a:off x="6560820" y="3550920"/>
                <a:ext cx="28575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伏羲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106" name="Group 106"/>
          <p:cNvGrpSpPr/>
          <p:nvPr/>
        </p:nvGrpSpPr>
        <p:grpSpPr>
          <a:xfrm>
            <a:off x="8058150" y="3314700"/>
            <a:ext cx="3676650" cy="2819400"/>
            <a:chOff x="8058150" y="3314700"/>
            <a:chExt cx="3676650" cy="2819400"/>
          </a:xfrm>
        </p:grpSpPr>
        <p:sp>
          <p:nvSpPr>
            <p:cNvPr id="91" name="Rectangle 91"/>
            <p:cNvSpPr/>
            <p:nvPr/>
          </p:nvSpPr>
          <p:spPr>
            <a:xfrm>
              <a:off x="8058150" y="3314700"/>
              <a:ext cx="3676650" cy="2819400"/>
            </a:xfrm>
            <a:prstGeom prst="roundRect">
              <a:avLst>
                <a:gd name="adj" fmla="val 2703"/>
              </a:avLst>
            </a:prstGeom>
            <a:solidFill>
              <a:srgbClr val="FFFFFF"/>
            </a:solidFill>
            <a:ln w="11430">
              <a:solidFill>
                <a:srgbClr val="D8E1EA"/>
              </a:solidFill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8292465" y="3487102"/>
              <a:ext cx="11538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业务收益与验证</a:t>
              </a:r>
              <a:endParaRPr lang="zh-CN" sz="1050" b="1" dirty="0">
                <a:solidFill>
                  <a:srgbClr val="1565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96" name="Group 96"/>
            <p:cNvGrpSpPr/>
            <p:nvPr/>
          </p:nvGrpSpPr>
          <p:grpSpPr>
            <a:xfrm>
              <a:off x="8305800" y="3846195"/>
              <a:ext cx="1466850" cy="992505"/>
              <a:chOff x="8305800" y="3846195"/>
              <a:chExt cx="1466850" cy="992505"/>
            </a:xfrm>
          </p:grpSpPr>
          <p:sp>
            <p:nvSpPr>
              <p:cNvPr id="93" name="Rectangle 93"/>
              <p:cNvSpPr/>
              <p:nvPr/>
            </p:nvSpPr>
            <p:spPr>
              <a:xfrm>
                <a:off x="8305800" y="3848100"/>
                <a:ext cx="1466850" cy="990600"/>
              </a:xfrm>
              <a:prstGeom prst="roundRect">
                <a:avLst>
                  <a:gd name="adj" fmla="val 7692"/>
                </a:avLst>
              </a:prstGeom>
              <a:solidFill>
                <a:srgbClr val="E8F8F2"/>
              </a:solidFill>
              <a:ln>
                <a:noFill/>
              </a:ln>
            </p:spPr>
          </p:sp>
          <p:sp>
            <p:nvSpPr>
              <p:cNvPr id="94" name="TextBox 94"/>
              <p:cNvSpPr txBox="1"/>
              <p:nvPr/>
            </p:nvSpPr>
            <p:spPr>
              <a:xfrm>
                <a:off x="8825224" y="3846195"/>
                <a:ext cx="428001" cy="792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3900" b="1" dirty="0">
                    <a:solidFill>
                      <a:srgbClr val="00A884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2</a:t>
                </a:r>
                <a:endParaRPr lang="zh-CN" sz="3900" b="1" dirty="0">
                  <a:solidFill>
                    <a:srgbClr val="00A88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95" name="TextBox 95"/>
              <p:cNvSpPr txBox="1"/>
              <p:nvPr/>
            </p:nvSpPr>
            <p:spPr>
              <a:xfrm>
                <a:off x="8471916" y="4423410"/>
                <a:ext cx="113461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0B1F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整体节省天数</a:t>
                </a:r>
                <a:endParaRPr lang="zh-CN" sz="1200" b="1" dirty="0">
                  <a:solidFill>
                    <a:srgbClr val="0B1F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100" name="Group 100"/>
            <p:cNvGrpSpPr/>
            <p:nvPr/>
          </p:nvGrpSpPr>
          <p:grpSpPr>
            <a:xfrm>
              <a:off x="10001250" y="3846195"/>
              <a:ext cx="1466850" cy="992505"/>
              <a:chOff x="10001250" y="3846195"/>
              <a:chExt cx="1466850" cy="992505"/>
            </a:xfrm>
          </p:grpSpPr>
          <p:sp>
            <p:nvSpPr>
              <p:cNvPr id="97" name="Rectangle 97"/>
              <p:cNvSpPr/>
              <p:nvPr/>
            </p:nvSpPr>
            <p:spPr>
              <a:xfrm>
                <a:off x="10001250" y="3848100"/>
                <a:ext cx="1466850" cy="990600"/>
              </a:xfrm>
              <a:prstGeom prst="roundRect">
                <a:avLst>
                  <a:gd name="adj" fmla="val 7692"/>
                </a:avLst>
              </a:prstGeom>
              <a:solidFill>
                <a:srgbClr val="E8F2FF"/>
              </a:solidFill>
              <a:ln>
                <a:noFill/>
              </a:ln>
            </p:spPr>
          </p:sp>
          <p:sp>
            <p:nvSpPr>
              <p:cNvPr id="98" name="TextBox 98"/>
              <p:cNvSpPr txBox="1"/>
              <p:nvPr/>
            </p:nvSpPr>
            <p:spPr>
              <a:xfrm>
                <a:off x="10191733" y="3846195"/>
                <a:ext cx="1085883" cy="792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3900" b="1" dirty="0">
                    <a:solidFill>
                      <a:srgbClr val="1565C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50%</a:t>
                </a:r>
                <a:endParaRPr lang="zh-CN" sz="3900" b="1" dirty="0">
                  <a:solidFill>
                    <a:srgbClr val="1565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99" name="TextBox 99"/>
              <p:cNvSpPr txBox="1"/>
              <p:nvPr/>
            </p:nvSpPr>
            <p:spPr>
              <a:xfrm>
                <a:off x="10061553" y="4423410"/>
                <a:ext cx="134624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0B1F3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特征 / 模型压缩</a:t>
                </a:r>
                <a:endParaRPr lang="zh-CN" sz="1200" b="1" dirty="0">
                  <a:solidFill>
                    <a:srgbClr val="0B1F3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105" name="Group 105"/>
            <p:cNvGrpSpPr/>
            <p:nvPr/>
          </p:nvGrpSpPr>
          <p:grpSpPr>
            <a:xfrm>
              <a:off x="8305800" y="5067300"/>
              <a:ext cx="3162300" cy="823912"/>
              <a:chOff x="8305800" y="5067300"/>
              <a:chExt cx="3162300" cy="823912"/>
            </a:xfrm>
          </p:grpSpPr>
          <p:sp>
            <p:nvSpPr>
              <p:cNvPr id="101" name="Rectangle 101"/>
              <p:cNvSpPr/>
              <p:nvPr/>
            </p:nvSpPr>
            <p:spPr>
              <a:xfrm>
                <a:off x="8305800" y="5067300"/>
                <a:ext cx="3162300" cy="704850"/>
              </a:xfrm>
              <a:prstGeom prst="roundRect">
                <a:avLst>
                  <a:gd name="adj" fmla="val 10811"/>
                </a:avLst>
              </a:prstGeom>
              <a:solidFill>
                <a:srgbClr val="0B1F33"/>
              </a:solidFill>
              <a:ln>
                <a:noFill/>
              </a:ln>
            </p:spPr>
          </p:sp>
          <p:sp>
            <p:nvSpPr>
              <p:cNvPr id="102" name="TextBox 102"/>
              <p:cNvSpPr txBox="1"/>
              <p:nvPr/>
            </p:nvSpPr>
            <p:spPr>
              <a:xfrm>
                <a:off x="8518208" y="5196364"/>
                <a:ext cx="1792105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模型工程师验证有效</a:t>
                </a:r>
                <a:endParaRPr lang="zh-CN" sz="127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03" name="TextBox 103"/>
              <p:cNvSpPr txBox="1"/>
              <p:nvPr/>
            </p:nvSpPr>
            <p:spPr>
              <a:xfrm>
                <a:off x="8521065" y="5468302"/>
                <a:ext cx="294036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D8E1E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自动发现的参数、样本比例和防过拟合策略</a:t>
                </a:r>
                <a:endParaRPr lang="zh-CN" sz="1050" dirty="0">
                  <a:solidFill>
                    <a:srgbClr val="D8E1E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04" name="TextBox 104"/>
              <p:cNvSpPr txBox="1"/>
              <p:nvPr/>
            </p:nvSpPr>
            <p:spPr>
              <a:xfrm>
                <a:off x="8521065" y="5677852"/>
                <a:ext cx="294036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D8E1E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已被人工复核，可落入外诉风险分层流程。</a:t>
                </a:r>
                <a:endParaRPr lang="zh-CN" sz="1050" dirty="0">
                  <a:solidFill>
                    <a:srgbClr val="D8E1E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109" name="Group 109"/>
          <p:cNvGrpSpPr/>
          <p:nvPr/>
        </p:nvGrpSpPr>
        <p:grpSpPr>
          <a:xfrm>
            <a:off x="445770" y="6608445"/>
            <a:ext cx="11300460" cy="182880"/>
            <a:chOff x="445770" y="6608445"/>
            <a:chExt cx="11300460" cy="182880"/>
          </a:xfrm>
        </p:grpSpPr>
        <p:sp>
          <p:nvSpPr>
            <p:cNvPr id="107" name="TextBox 107"/>
            <p:cNvSpPr txBox="1"/>
            <p:nvPr/>
          </p:nvSpPr>
          <p:spPr>
            <a:xfrm>
              <a:off x="445770" y="6608445"/>
              <a:ext cx="489947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Source: 内部业务场景说明；AUC 与建模策略已经模型工程师验证；周期口径为估算</a:t>
              </a:r>
              <a:endParaRPr lang="zh-CN" sz="9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11283029" y="6608445"/>
              <a:ext cx="46320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02 / 03</a:t>
              </a:r>
              <a:endParaRPr lang="zh-CN" sz="9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4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90" grpId="0"/>
      <p:bldP spid="106" grpId="0"/>
    </p:bldLst>
  </p:timing>
</p:sld>
</file>

<file path=ppt/tags/tag1.xml><?xml version="1.0" encoding="utf-8"?>
<p:tagLst xmlns:p="http://schemas.openxmlformats.org/presentationml/2006/main">
  <p:tag name="COMMONDATA" val="eyJoZGlkIjoiM2ZjN2JjMTE5MDYzZTVlYjE4MDMzYzllYzhkNmQ4ZDQ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1360</Words>
  <Application>WPS 演示</Application>
  <PresentationFormat>On-screen Show (4:3)</PresentationFormat>
  <Paragraphs>208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乐观的摸摸头</cp:lastModifiedBy>
  <cp:revision>2</cp:revision>
  <dcterms:created xsi:type="dcterms:W3CDTF">2013-01-27T09:14:00Z</dcterms:created>
  <dcterms:modified xsi:type="dcterms:W3CDTF">2026-06-18T07:25:22Z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84EDB3D77DFA479DB19F665C9C2A9B5E_12</vt:lpwstr>
  </property>
  <property fmtid="{D5CDD505-2E9C-101B-9397-08002B2CF9AE}" pid="3" name="KSOProductBuildVer">
    <vt:lpwstr>2052-11.1.0.14309</vt:lpwstr>
  </property>
</Properties>
</file>