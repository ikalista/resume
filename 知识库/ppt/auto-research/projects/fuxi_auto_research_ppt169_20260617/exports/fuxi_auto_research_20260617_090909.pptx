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2192000" cy="6858000" type="screen4x3"/>
  <p:notesSz cx="6858000" cy="91440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这一页的核心结论是，伏羲 Auto-Research 不只是把模型 AUC 从人工建模的零点七四五提升到零点七五六，更重要的是自动发现了有效的建模策略。它在搜索过程中识别到当前任务更适合使用 GOSS loss，同时针对正负样本比例对 y 的影响做了缓解，并发现过拟合问题后主动降低模型复杂度。这些动作都是自动化完成的，并且已经由模型工程师验证有效。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落到外诉 T30 场景，更高的 AUC 意味着更可靠的外诉风险分层。通话结束后，模型可以更准地区分高风险和低风险人群，高风险人群通过补钱或强化安抚降低外诉概率，低风险人群则减少不必要成本。同时，伏羲 Auto-Research 仍然保留了效率收益，把特征工程和模型工程都从两天压缩到一天，整体建模周期从约十四天缩短到约十二天。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104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457200" y="990600"/>
              <a:ext cx="11277600" cy="9525"/>
            </a:xfrm>
            <a:prstGeom prst="rect">
              <a:avLst/>
            </a:prstGeom>
            <a:solidFill>
              <a:srgbClr val="D8E1EA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57200" y="324802"/>
            <a:ext cx="11758324" cy="680086"/>
            <a:chOff x="457200" y="324802"/>
            <a:chExt cx="11758324" cy="680086"/>
          </a:xfrm>
        </p:grpSpPr>
        <p:sp>
          <p:nvSpPr>
            <p:cNvPr id="6" name="Rectangle 6"/>
            <p:cNvSpPr/>
            <p:nvPr/>
          </p:nvSpPr>
          <p:spPr>
            <a:xfrm>
              <a:off x="457200" y="361950"/>
              <a:ext cx="76200" cy="419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565C0"/>
                </a:gs>
                <a:gs pos="100000">
                  <a:srgbClr val="00A88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34365" y="324802"/>
              <a:ext cx="1158115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伏羲 Auto-Research：自动发现有效建模策略，AUC 提升至 0.756</a:t>
              </a:r>
              <a:endParaRPr lang="zh-CN" sz="2550" b="1" dirty="0">
                <a:solidFill>
                  <a:srgbClr val="0B1F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49605" y="730568"/>
              <a:ext cx="81970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从人工建模 0.745 提升到 0.756，关键增益来自对 LGBM 参数、样本比例和过拟合的自动洞察</a:t>
              </a:r>
              <a:endParaRPr lang="zh-CN" sz="13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57200" y="1314450"/>
            <a:ext cx="6667500" cy="4476750"/>
            <a:chOff x="457200" y="1314450"/>
            <a:chExt cx="6667500" cy="4476750"/>
          </a:xfrm>
        </p:grpSpPr>
        <p:sp>
          <p:nvSpPr>
            <p:cNvPr id="10" name="Rectangle 10"/>
            <p:cNvSpPr/>
            <p:nvPr/>
          </p:nvSpPr>
          <p:spPr>
            <a:xfrm>
              <a:off x="457200" y="1314450"/>
              <a:ext cx="6667500" cy="4057650"/>
            </a:xfrm>
            <a:prstGeom prst="roundRect">
              <a:avLst>
                <a:gd name="adj" fmla="val 1878"/>
              </a:avLst>
            </a:prstGeom>
            <a:solidFill>
              <a:srgbClr val="FFFFFF"/>
            </a:solidFill>
            <a:ln w="11430">
              <a:solidFill>
                <a:srgbClr val="D8E1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1515" y="1486852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真实搜索过程截图</a:t>
              </a:r>
              <a:endParaRPr lang="zh-CN" sz="10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04850" y="1771650"/>
              <a:ext cx="6172200" cy="3390900"/>
            </a:xfrm>
            <a:prstGeom prst="roundRect">
              <a:avLst>
                <a:gd name="adj" fmla="val 2247"/>
              </a:avLst>
            </a:prstGeom>
            <a:solidFill>
              <a:srgbClr val="FFFFFF"/>
            </a:solidFill>
            <a:ln w="9525">
              <a:solidFill>
                <a:srgbClr val="D8E1EA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42950" y="1809750"/>
              <a:ext cx="6096000" cy="3343275"/>
            </a:xfrm>
            <a:prstGeom prst="rect">
              <a:avLst/>
            </a:prstGeom>
          </p:spPr>
        </p:pic>
        <p:grpSp>
          <p:nvGrpSpPr>
            <p:cNvPr id="19" name="Group 19"/>
            <p:cNvGrpSpPr/>
            <p:nvPr/>
          </p:nvGrpSpPr>
          <p:grpSpPr>
            <a:xfrm>
              <a:off x="704850" y="5467350"/>
              <a:ext cx="6172200" cy="323850"/>
              <a:chOff x="704850" y="5467350"/>
              <a:chExt cx="6172200" cy="3238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704850" y="5467350"/>
                <a:ext cx="617220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E8F8F2"/>
              </a:solidFill>
              <a:ln w="9525">
                <a:solidFill>
                  <a:srgbClr val="00A884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81062" y="5555456"/>
                <a:ext cx="158126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人工建模 AUC 0.745</a:t>
                </a:r>
                <a:endParaRPr lang="zh-CN" sz="1125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Line 16"/>
              <p:cNvSpPr/>
              <p:nvPr/>
            </p:nvSpPr>
            <p:spPr>
              <a:xfrm>
                <a:off x="2362200" y="5619750"/>
                <a:ext cx="666750" cy="1"/>
              </a:xfrm>
              <a:prstGeom prst="line">
                <a:avLst/>
              </a:prstGeom>
              <a:noFill/>
              <a:ln w="28575">
                <a:solidFill>
                  <a:srgbClr val="00A884"/>
                </a:solidFill>
                <a:tailEnd type="triangle" w="lg" len="lg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243262" y="5555456"/>
                <a:ext cx="21247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A884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Auto-Research AUC 0.756</a:t>
                </a:r>
                <a:endParaRPr lang="zh-CN" sz="1125" b="1" dirty="0">
                  <a:solidFill>
                    <a:srgbClr val="00A88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399151" y="5571649"/>
                <a:ext cx="42348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+0.011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7429500" y="1314450"/>
            <a:ext cx="4305300" cy="4057650"/>
            <a:chOff x="7429500" y="1314450"/>
            <a:chExt cx="4305300" cy="4057650"/>
          </a:xfrm>
        </p:grpSpPr>
        <p:sp>
          <p:nvSpPr>
            <p:cNvPr id="21" name="Rectangle 21"/>
            <p:cNvSpPr/>
            <p:nvPr/>
          </p:nvSpPr>
          <p:spPr>
            <a:xfrm>
              <a:off x="7429500" y="1314450"/>
              <a:ext cx="4305300" cy="4057650"/>
            </a:xfrm>
            <a:prstGeom prst="roundRect">
              <a:avLst>
                <a:gd name="adj" fmla="val 1878"/>
              </a:avLst>
            </a:prstGeom>
            <a:solidFill>
              <a:srgbClr val="FFFFFF"/>
            </a:solidFill>
            <a:ln w="11430">
              <a:solidFill>
                <a:srgbClr val="D8E1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63815" y="1486852"/>
              <a:ext cx="1797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自动发现的有效建模策略</a:t>
              </a:r>
              <a:endParaRPr lang="zh-CN" sz="10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7677150" y="1847850"/>
              <a:ext cx="3829050" cy="742950"/>
              <a:chOff x="7677150" y="1847850"/>
              <a:chExt cx="3829050" cy="7429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7677150" y="1847850"/>
                <a:ext cx="382905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E8F2FF"/>
              </a:solidFill>
              <a:ln w="13335">
                <a:solidFill>
                  <a:srgbClr val="1565C0"/>
                </a:solidFill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7885509" y="2102644"/>
                <a:ext cx="241102" cy="214312"/>
                <a:chOff x="7885509" y="2102644"/>
                <a:chExt cx="241102" cy="214312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7894439" y="2111573"/>
                  <a:ext cx="223242" cy="196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242" h="196453">
                      <a:moveTo>
                        <a:pt x="53578" y="80367"/>
                      </a:moveTo>
                      <a:lnTo>
                        <a:pt x="53578" y="116086"/>
                      </a:lnTo>
                      <a:cubicBezTo>
                        <a:pt x="53578" y="121018"/>
                        <a:pt x="49580" y="125016"/>
                        <a:pt x="44648" y="125016"/>
                      </a:cubicBezTo>
                      <a:lnTo>
                        <a:pt x="8930" y="125016"/>
                      </a:lnTo>
                      <a:cubicBezTo>
                        <a:pt x="3998" y="125016"/>
                        <a:pt x="0" y="121018"/>
                        <a:pt x="0" y="116086"/>
                      </a:cubicBezTo>
                      <a:lnTo>
                        <a:pt x="0" y="80367"/>
                      </a:lnTo>
                      <a:cubicBezTo>
                        <a:pt x="0" y="75435"/>
                        <a:pt x="3998" y="71438"/>
                        <a:pt x="8930" y="71438"/>
                      </a:cubicBezTo>
                      <a:lnTo>
                        <a:pt x="44648" y="71438"/>
                      </a:lnTo>
                      <a:cubicBezTo>
                        <a:pt x="49580" y="71438"/>
                        <a:pt x="53578" y="75435"/>
                        <a:pt x="53578" y="80367"/>
                      </a:cubicBezTo>
                      <a:close/>
                      <a:moveTo>
                        <a:pt x="214312" y="0"/>
                      </a:moveTo>
                      <a:lnTo>
                        <a:pt x="160734" y="0"/>
                      </a:lnTo>
                      <a:cubicBezTo>
                        <a:pt x="155803" y="0"/>
                        <a:pt x="151805" y="3998"/>
                        <a:pt x="151805" y="8930"/>
                      </a:cubicBezTo>
                      <a:lnTo>
                        <a:pt x="151805" y="62508"/>
                      </a:lnTo>
                      <a:cubicBezTo>
                        <a:pt x="151805" y="67440"/>
                        <a:pt x="155803" y="71438"/>
                        <a:pt x="160734" y="71438"/>
                      </a:cubicBezTo>
                      <a:lnTo>
                        <a:pt x="214312" y="71438"/>
                      </a:lnTo>
                      <a:cubicBezTo>
                        <a:pt x="219244" y="71438"/>
                        <a:pt x="223242" y="67440"/>
                        <a:pt x="223242" y="62508"/>
                      </a:cubicBezTo>
                      <a:lnTo>
                        <a:pt x="223242" y="8930"/>
                      </a:lnTo>
                      <a:cubicBezTo>
                        <a:pt x="223242" y="3998"/>
                        <a:pt x="219244" y="0"/>
                        <a:pt x="214312" y="0"/>
                      </a:cubicBezTo>
                      <a:close/>
                      <a:moveTo>
                        <a:pt x="214312" y="125016"/>
                      </a:moveTo>
                      <a:lnTo>
                        <a:pt x="160734" y="125016"/>
                      </a:lnTo>
                      <a:cubicBezTo>
                        <a:pt x="155803" y="125016"/>
                        <a:pt x="151805" y="129014"/>
                        <a:pt x="151805" y="133945"/>
                      </a:cubicBezTo>
                      <a:lnTo>
                        <a:pt x="151805" y="187523"/>
                      </a:lnTo>
                      <a:cubicBezTo>
                        <a:pt x="151805" y="192455"/>
                        <a:pt x="155803" y="196453"/>
                        <a:pt x="160734" y="196453"/>
                      </a:cubicBezTo>
                      <a:lnTo>
                        <a:pt x="214312" y="196453"/>
                      </a:lnTo>
                      <a:cubicBezTo>
                        <a:pt x="219244" y="196453"/>
                        <a:pt x="223242" y="192455"/>
                        <a:pt x="223242" y="187523"/>
                      </a:cubicBezTo>
                      <a:lnTo>
                        <a:pt x="223242" y="133945"/>
                      </a:lnTo>
                      <a:cubicBezTo>
                        <a:pt x="223242" y="129014"/>
                        <a:pt x="219244" y="125016"/>
                        <a:pt x="214312" y="125016"/>
                      </a:cubicBezTo>
                      <a:close/>
                    </a:path>
                  </a:pathLst>
                </a:custGeom>
                <a:solidFill>
                  <a:srgbClr val="1565C0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7885509" y="2102644"/>
                  <a:ext cx="24110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102" h="214312">
                      <a:moveTo>
                        <a:pt x="169664" y="89297"/>
                      </a:moveTo>
                      <a:lnTo>
                        <a:pt x="223242" y="89297"/>
                      </a:lnTo>
                      <a:cubicBezTo>
                        <a:pt x="233106" y="89297"/>
                        <a:pt x="241102" y="81301"/>
                        <a:pt x="241102" y="71438"/>
                      </a:cubicBezTo>
                      <a:lnTo>
                        <a:pt x="241102" y="17859"/>
                      </a:lnTo>
                      <a:cubicBezTo>
                        <a:pt x="241102" y="7996"/>
                        <a:pt x="233106" y="0"/>
                        <a:pt x="223242" y="0"/>
                      </a:cubicBezTo>
                      <a:lnTo>
                        <a:pt x="169664" y="0"/>
                      </a:lnTo>
                      <a:cubicBezTo>
                        <a:pt x="159801" y="0"/>
                        <a:pt x="151805" y="7996"/>
                        <a:pt x="151805" y="17859"/>
                      </a:cubicBezTo>
                      <a:lnTo>
                        <a:pt x="151805" y="35719"/>
                      </a:lnTo>
                      <a:lnTo>
                        <a:pt x="142875" y="35719"/>
                      </a:lnTo>
                      <a:cubicBezTo>
                        <a:pt x="123148" y="35719"/>
                        <a:pt x="107156" y="51711"/>
                        <a:pt x="107156" y="71438"/>
                      </a:cubicBezTo>
                      <a:lnTo>
                        <a:pt x="107156" y="98227"/>
                      </a:lnTo>
                      <a:lnTo>
                        <a:pt x="71438" y="98227"/>
                      </a:lnTo>
                      <a:lnTo>
                        <a:pt x="71438" y="89297"/>
                      </a:lnTo>
                      <a:cubicBezTo>
                        <a:pt x="71438" y="79433"/>
                        <a:pt x="63442" y="71438"/>
                        <a:pt x="53578" y="71438"/>
                      </a:cubicBezTo>
                      <a:lnTo>
                        <a:pt x="17859" y="71438"/>
                      </a:lnTo>
                      <a:cubicBezTo>
                        <a:pt x="7996" y="71438"/>
                        <a:pt x="0" y="79433"/>
                        <a:pt x="0" y="89297"/>
                      </a:cubicBezTo>
                      <a:lnTo>
                        <a:pt x="0" y="125016"/>
                      </a:lnTo>
                      <a:cubicBezTo>
                        <a:pt x="0" y="134879"/>
                        <a:pt x="7996" y="142875"/>
                        <a:pt x="17859" y="142875"/>
                      </a:cubicBezTo>
                      <a:lnTo>
                        <a:pt x="53578" y="142875"/>
                      </a:lnTo>
                      <a:cubicBezTo>
                        <a:pt x="63442" y="142875"/>
                        <a:pt x="71438" y="134879"/>
                        <a:pt x="71438" y="125016"/>
                      </a:cubicBezTo>
                      <a:lnTo>
                        <a:pt x="71438" y="116086"/>
                      </a:lnTo>
                      <a:lnTo>
                        <a:pt x="107156" y="116086"/>
                      </a:lnTo>
                      <a:lnTo>
                        <a:pt x="107156" y="142875"/>
                      </a:lnTo>
                      <a:cubicBezTo>
                        <a:pt x="107156" y="162602"/>
                        <a:pt x="123148" y="178594"/>
                        <a:pt x="142875" y="178594"/>
                      </a:cubicBezTo>
                      <a:lnTo>
                        <a:pt x="151805" y="178594"/>
                      </a:lnTo>
                      <a:lnTo>
                        <a:pt x="151805" y="196453"/>
                      </a:lnTo>
                      <a:cubicBezTo>
                        <a:pt x="151805" y="206317"/>
                        <a:pt x="159801" y="214312"/>
                        <a:pt x="169664" y="214312"/>
                      </a:cubicBezTo>
                      <a:lnTo>
                        <a:pt x="223242" y="214312"/>
                      </a:lnTo>
                      <a:cubicBezTo>
                        <a:pt x="233106" y="214312"/>
                        <a:pt x="241102" y="206317"/>
                        <a:pt x="241102" y="196453"/>
                      </a:cubicBezTo>
                      <a:lnTo>
                        <a:pt x="241102" y="142875"/>
                      </a:lnTo>
                      <a:cubicBezTo>
                        <a:pt x="241102" y="133012"/>
                        <a:pt x="233106" y="125016"/>
                        <a:pt x="223242" y="125016"/>
                      </a:cubicBezTo>
                      <a:lnTo>
                        <a:pt x="169664" y="125016"/>
                      </a:lnTo>
                      <a:cubicBezTo>
                        <a:pt x="159801" y="125016"/>
                        <a:pt x="151805" y="133012"/>
                        <a:pt x="151805" y="142875"/>
                      </a:cubicBezTo>
                      <a:lnTo>
                        <a:pt x="151805" y="160734"/>
                      </a:lnTo>
                      <a:lnTo>
                        <a:pt x="142875" y="160734"/>
                      </a:lnTo>
                      <a:cubicBezTo>
                        <a:pt x="133012" y="160734"/>
                        <a:pt x="125016" y="152738"/>
                        <a:pt x="125016" y="142875"/>
                      </a:cubicBezTo>
                      <a:lnTo>
                        <a:pt x="125016" y="71438"/>
                      </a:lnTo>
                      <a:cubicBezTo>
                        <a:pt x="125016" y="61574"/>
                        <a:pt x="133012" y="53578"/>
                        <a:pt x="142875" y="53578"/>
                      </a:cubicBezTo>
                      <a:lnTo>
                        <a:pt x="151805" y="53578"/>
                      </a:lnTo>
                      <a:lnTo>
                        <a:pt x="151805" y="71438"/>
                      </a:lnTo>
                      <a:cubicBezTo>
                        <a:pt x="151805" y="81301"/>
                        <a:pt x="159801" y="89297"/>
                        <a:pt x="169664" y="89297"/>
                      </a:cubicBezTo>
                      <a:close/>
                      <a:moveTo>
                        <a:pt x="53578" y="125016"/>
                      </a:moveTo>
                      <a:lnTo>
                        <a:pt x="17859" y="125016"/>
                      </a:lnTo>
                      <a:lnTo>
                        <a:pt x="17859" y="89297"/>
                      </a:lnTo>
                      <a:lnTo>
                        <a:pt x="53578" y="89297"/>
                      </a:lnTo>
                      <a:lnTo>
                        <a:pt x="53578" y="125016"/>
                      </a:lnTo>
                      <a:close/>
                      <a:moveTo>
                        <a:pt x="169664" y="142875"/>
                      </a:moveTo>
                      <a:lnTo>
                        <a:pt x="223242" y="142875"/>
                      </a:lnTo>
                      <a:lnTo>
                        <a:pt x="223242" y="196453"/>
                      </a:lnTo>
                      <a:lnTo>
                        <a:pt x="169664" y="196453"/>
                      </a:lnTo>
                      <a:close/>
                      <a:moveTo>
                        <a:pt x="169664" y="17859"/>
                      </a:moveTo>
                      <a:lnTo>
                        <a:pt x="223242" y="17859"/>
                      </a:lnTo>
                      <a:lnTo>
                        <a:pt x="223242" y="71438"/>
                      </a:lnTo>
                      <a:lnTo>
                        <a:pt x="169664" y="71438"/>
                      </a:ln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8271510" y="1965960"/>
                <a:ext cx="187071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更深的 LGBM 参数洞察</a:t>
                </a:r>
                <a:endParaRPr lang="zh-CN" sz="12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274368" y="2237899"/>
                <a:ext cx="25808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自动发现当前任务更适合使用 GOSS loss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677150" y="2743200"/>
              <a:ext cx="3829050" cy="742950"/>
              <a:chOff x="7677150" y="2743200"/>
              <a:chExt cx="3829050" cy="7429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7677150" y="2743200"/>
                <a:ext cx="382905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FFFFFF"/>
              </a:solidFill>
              <a:ln w="13335">
                <a:solidFill>
                  <a:srgbClr val="D8E1EA"/>
                </a:solidFill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7903369" y="2989064"/>
                <a:ext cx="214312" cy="232172"/>
                <a:chOff x="7903369" y="2989064"/>
                <a:chExt cx="214312" cy="232172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7912298" y="2997994"/>
                  <a:ext cx="196453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453" h="107156">
                      <a:moveTo>
                        <a:pt x="196453" y="53578"/>
                      </a:moveTo>
                      <a:cubicBezTo>
                        <a:pt x="196453" y="83169"/>
                        <a:pt x="152474" y="107156"/>
                        <a:pt x="98227" y="107156"/>
                      </a:cubicBezTo>
                      <a:cubicBezTo>
                        <a:pt x="43979" y="107156"/>
                        <a:pt x="0" y="83169"/>
                        <a:pt x="0" y="53578"/>
                      </a:cubicBezTo>
                      <a:cubicBezTo>
                        <a:pt x="0" y="23987"/>
                        <a:pt x="43979" y="0"/>
                        <a:pt x="98227" y="0"/>
                      </a:cubicBezTo>
                      <a:cubicBezTo>
                        <a:pt x="152474" y="0"/>
                        <a:pt x="196453" y="23987"/>
                        <a:pt x="196453" y="53578"/>
                      </a:cubicBezTo>
                      <a:close/>
                    </a:path>
                  </a:pathLst>
                </a:custGeom>
                <a:solidFill>
                  <a:srgbClr val="1565C0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7903369" y="2989064"/>
                  <a:ext cx="214312" cy="232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32172">
                      <a:moveTo>
                        <a:pt x="107156" y="0"/>
                      </a:moveTo>
                      <a:cubicBezTo>
                        <a:pt x="47071" y="0"/>
                        <a:pt x="0" y="27459"/>
                        <a:pt x="0" y="62508"/>
                      </a:cubicBezTo>
                      <a:lnTo>
                        <a:pt x="0" y="169664"/>
                      </a:lnTo>
                      <a:cubicBezTo>
                        <a:pt x="0" y="204713"/>
                        <a:pt x="47071" y="232172"/>
                        <a:pt x="107156" y="232172"/>
                      </a:cubicBezTo>
                      <a:cubicBezTo>
                        <a:pt x="167242" y="232172"/>
                        <a:pt x="214312" y="204713"/>
                        <a:pt x="214312" y="169664"/>
                      </a:cubicBezTo>
                      <a:lnTo>
                        <a:pt x="214312" y="62508"/>
                      </a:lnTo>
                      <a:cubicBezTo>
                        <a:pt x="214312" y="27459"/>
                        <a:pt x="167242" y="0"/>
                        <a:pt x="107156" y="0"/>
                      </a:cubicBezTo>
                      <a:close/>
                      <a:moveTo>
                        <a:pt x="196453" y="116086"/>
                      </a:moveTo>
                      <a:cubicBezTo>
                        <a:pt x="196453" y="126824"/>
                        <a:pt x="187657" y="137774"/>
                        <a:pt x="172332" y="146134"/>
                      </a:cubicBezTo>
                      <a:cubicBezTo>
                        <a:pt x="155075" y="155544"/>
                        <a:pt x="131925" y="160734"/>
                        <a:pt x="107156" y="160734"/>
                      </a:cubicBezTo>
                      <a:cubicBezTo>
                        <a:pt x="82388" y="160734"/>
                        <a:pt x="59237" y="155544"/>
                        <a:pt x="41981" y="146134"/>
                      </a:cubicBezTo>
                      <a:cubicBezTo>
                        <a:pt x="26655" y="137774"/>
                        <a:pt x="17859" y="126824"/>
                        <a:pt x="17859" y="116086"/>
                      </a:cubicBezTo>
                      <a:lnTo>
                        <a:pt x="17859" y="97512"/>
                      </a:lnTo>
                      <a:cubicBezTo>
                        <a:pt x="36902" y="114255"/>
                        <a:pt x="69462" y="125016"/>
                        <a:pt x="107156" y="125016"/>
                      </a:cubicBezTo>
                      <a:cubicBezTo>
                        <a:pt x="144851" y="125016"/>
                        <a:pt x="177411" y="114211"/>
                        <a:pt x="196453" y="97512"/>
                      </a:cubicBezTo>
                      <a:close/>
                      <a:moveTo>
                        <a:pt x="41981" y="32459"/>
                      </a:moveTo>
                      <a:cubicBezTo>
                        <a:pt x="59237" y="23050"/>
                        <a:pt x="82388" y="17859"/>
                        <a:pt x="107156" y="17859"/>
                      </a:cubicBezTo>
                      <a:cubicBezTo>
                        <a:pt x="131925" y="17859"/>
                        <a:pt x="155075" y="23050"/>
                        <a:pt x="172332" y="32459"/>
                      </a:cubicBezTo>
                      <a:cubicBezTo>
                        <a:pt x="187657" y="40820"/>
                        <a:pt x="196453" y="51770"/>
                        <a:pt x="196453" y="62508"/>
                      </a:cubicBezTo>
                      <a:cubicBezTo>
                        <a:pt x="196453" y="73246"/>
                        <a:pt x="187657" y="84196"/>
                        <a:pt x="172332" y="92556"/>
                      </a:cubicBezTo>
                      <a:cubicBezTo>
                        <a:pt x="155075" y="101966"/>
                        <a:pt x="131925" y="107156"/>
                        <a:pt x="107156" y="107156"/>
                      </a:cubicBezTo>
                      <a:cubicBezTo>
                        <a:pt x="82388" y="107156"/>
                        <a:pt x="59237" y="101966"/>
                        <a:pt x="41981" y="92556"/>
                      </a:cubicBezTo>
                      <a:cubicBezTo>
                        <a:pt x="26655" y="84196"/>
                        <a:pt x="17859" y="73246"/>
                        <a:pt x="17859" y="62508"/>
                      </a:cubicBezTo>
                      <a:cubicBezTo>
                        <a:pt x="17859" y="51770"/>
                        <a:pt x="26655" y="40820"/>
                        <a:pt x="41981" y="32459"/>
                      </a:cubicBezTo>
                      <a:close/>
                      <a:moveTo>
                        <a:pt x="172332" y="199712"/>
                      </a:moveTo>
                      <a:cubicBezTo>
                        <a:pt x="155075" y="209122"/>
                        <a:pt x="131925" y="214312"/>
                        <a:pt x="107156" y="214312"/>
                      </a:cubicBezTo>
                      <a:cubicBezTo>
                        <a:pt x="82388" y="214312"/>
                        <a:pt x="59237" y="209122"/>
                        <a:pt x="41981" y="199712"/>
                      </a:cubicBezTo>
                      <a:cubicBezTo>
                        <a:pt x="26655" y="191352"/>
                        <a:pt x="17859" y="180402"/>
                        <a:pt x="17859" y="169664"/>
                      </a:cubicBezTo>
                      <a:lnTo>
                        <a:pt x="17859" y="151090"/>
                      </a:lnTo>
                      <a:cubicBezTo>
                        <a:pt x="36902" y="167833"/>
                        <a:pt x="69462" y="178594"/>
                        <a:pt x="107156" y="178594"/>
                      </a:cubicBezTo>
                      <a:cubicBezTo>
                        <a:pt x="144851" y="178594"/>
                        <a:pt x="177411" y="167789"/>
                        <a:pt x="196453" y="151090"/>
                      </a:cubicBezTo>
                      <a:lnTo>
                        <a:pt x="196453" y="169664"/>
                      </a:lnTo>
                      <a:cubicBezTo>
                        <a:pt x="196453" y="180402"/>
                        <a:pt x="187657" y="191352"/>
                        <a:pt x="172332" y="199712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8271510" y="2861310"/>
                <a:ext cx="242277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敲定并缓解正负样本比例影响</a:t>
                </a:r>
                <a:endParaRPr lang="zh-CN" sz="12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274368" y="3133249"/>
                <a:ext cx="30364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识别样本结构对 y 的影响，并自动调整建模策略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7677150" y="3638550"/>
              <a:ext cx="3829050" cy="742950"/>
              <a:chOff x="7677150" y="3638550"/>
              <a:chExt cx="3829050" cy="7429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7677150" y="3638550"/>
                <a:ext cx="382905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E8F8F2"/>
              </a:solidFill>
              <a:ln w="13335">
                <a:solidFill>
                  <a:srgbClr val="00A884"/>
                </a:solidFill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7882062" y="3873616"/>
                <a:ext cx="258907" cy="257115"/>
                <a:chOff x="7882062" y="3873616"/>
                <a:chExt cx="258907" cy="257115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7956947" y="3946922"/>
                  <a:ext cx="107156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56" h="107156">
                      <a:moveTo>
                        <a:pt x="107156" y="53578"/>
                      </a:moveTo>
                      <a:cubicBezTo>
                        <a:pt x="107156" y="83169"/>
                        <a:pt x="83169" y="107156"/>
                        <a:pt x="53578" y="107156"/>
                      </a:cubicBezTo>
                      <a:cubicBezTo>
                        <a:pt x="23988" y="107156"/>
                        <a:pt x="0" y="83169"/>
                        <a:pt x="0" y="53578"/>
                      </a:cubicBezTo>
                      <a:cubicBezTo>
                        <a:pt x="0" y="23988"/>
                        <a:pt x="23988" y="0"/>
                        <a:pt x="53578" y="0"/>
                      </a:cubicBezTo>
                      <a:cubicBezTo>
                        <a:pt x="83169" y="0"/>
                        <a:pt x="107156" y="23988"/>
                        <a:pt x="107156" y="53578"/>
                      </a:cubicBezTo>
                      <a:close/>
                    </a:path>
                  </a:pathLst>
                </a:custGeom>
                <a:solidFill>
                  <a:srgbClr val="00A88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7882062" y="3873616"/>
                  <a:ext cx="258907" cy="257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907" h="257115">
                      <a:moveTo>
                        <a:pt x="233242" y="76833"/>
                      </a:moveTo>
                      <a:cubicBezTo>
                        <a:pt x="258907" y="130511"/>
                        <a:pt x="239879" y="194903"/>
                        <a:pt x="189160" y="226009"/>
                      </a:cubicBezTo>
                      <a:cubicBezTo>
                        <a:pt x="138441" y="257115"/>
                        <a:pt x="72419" y="244883"/>
                        <a:pt x="36210" y="197673"/>
                      </a:cubicBezTo>
                      <a:cubicBezTo>
                        <a:pt x="0" y="150462"/>
                        <a:pt x="5302" y="83527"/>
                        <a:pt x="48493" y="42606"/>
                      </a:cubicBezTo>
                      <a:cubicBezTo>
                        <a:pt x="91684" y="1684"/>
                        <a:pt x="158808" y="0"/>
                        <a:pt x="203997" y="38703"/>
                      </a:cubicBezTo>
                      <a:lnTo>
                        <a:pt x="229302" y="13388"/>
                      </a:lnTo>
                      <a:cubicBezTo>
                        <a:pt x="232791" y="9898"/>
                        <a:pt x="238448" y="9898"/>
                        <a:pt x="241937" y="13388"/>
                      </a:cubicBezTo>
                      <a:cubicBezTo>
                        <a:pt x="245426" y="16877"/>
                        <a:pt x="245426" y="22534"/>
                        <a:pt x="241937" y="26023"/>
                      </a:cubicBezTo>
                      <a:lnTo>
                        <a:pt x="134781" y="133179"/>
                      </a:lnTo>
                      <a:cubicBezTo>
                        <a:pt x="131292" y="136669"/>
                        <a:pt x="125635" y="136669"/>
                        <a:pt x="122145" y="133179"/>
                      </a:cubicBezTo>
                      <a:cubicBezTo>
                        <a:pt x="118656" y="129690"/>
                        <a:pt x="118656" y="124033"/>
                        <a:pt x="122145" y="120544"/>
                      </a:cubicBezTo>
                      <a:lnTo>
                        <a:pt x="153087" y="89602"/>
                      </a:lnTo>
                      <a:cubicBezTo>
                        <a:pt x="135823" y="78185"/>
                        <a:pt x="112977" y="80129"/>
                        <a:pt x="97890" y="94299"/>
                      </a:cubicBezTo>
                      <a:cubicBezTo>
                        <a:pt x="82804" y="108468"/>
                        <a:pt x="79433" y="131148"/>
                        <a:pt x="89748" y="149093"/>
                      </a:cubicBezTo>
                      <a:cubicBezTo>
                        <a:pt x="100062" y="167037"/>
                        <a:pt x="121356" y="175540"/>
                        <a:pt x="141193" y="169637"/>
                      </a:cubicBezTo>
                      <a:cubicBezTo>
                        <a:pt x="161031" y="163733"/>
                        <a:pt x="174210" y="144969"/>
                        <a:pt x="173033" y="124305"/>
                      </a:cubicBezTo>
                      <a:cubicBezTo>
                        <a:pt x="172756" y="119374"/>
                        <a:pt x="176529" y="115151"/>
                        <a:pt x="181461" y="114873"/>
                      </a:cubicBezTo>
                      <a:cubicBezTo>
                        <a:pt x="186393" y="114596"/>
                        <a:pt x="190615" y="118369"/>
                        <a:pt x="190893" y="123301"/>
                      </a:cubicBezTo>
                      <a:cubicBezTo>
                        <a:pt x="192570" y="152568"/>
                        <a:pt x="173683" y="179069"/>
                        <a:pt x="145470" y="187033"/>
                      </a:cubicBezTo>
                      <a:cubicBezTo>
                        <a:pt x="117258" y="194998"/>
                        <a:pt x="87301" y="182287"/>
                        <a:pt x="73425" y="156464"/>
                      </a:cubicBezTo>
                      <a:cubicBezTo>
                        <a:pt x="59550" y="130641"/>
                        <a:pt x="65484" y="98644"/>
                        <a:pt x="87696" y="79513"/>
                      </a:cubicBezTo>
                      <a:cubicBezTo>
                        <a:pt x="109909" y="60383"/>
                        <a:pt x="142432" y="59259"/>
                        <a:pt x="165912" y="76811"/>
                      </a:cubicBezTo>
                      <a:lnTo>
                        <a:pt x="191306" y="51417"/>
                      </a:lnTo>
                      <a:cubicBezTo>
                        <a:pt x="152769" y="19421"/>
                        <a:pt x="96317" y="21599"/>
                        <a:pt x="60359" y="56467"/>
                      </a:cubicBezTo>
                      <a:cubicBezTo>
                        <a:pt x="24400" y="91336"/>
                        <a:pt x="20488" y="147695"/>
                        <a:pt x="51283" y="187197"/>
                      </a:cubicBezTo>
                      <a:cubicBezTo>
                        <a:pt x="82079" y="226700"/>
                        <a:pt x="137689" y="236657"/>
                        <a:pt x="180277" y="210293"/>
                      </a:cubicBezTo>
                      <a:cubicBezTo>
                        <a:pt x="222865" y="183929"/>
                        <a:pt x="238750" y="129714"/>
                        <a:pt x="217124" y="84535"/>
                      </a:cubicBezTo>
                      <a:cubicBezTo>
                        <a:pt x="214997" y="80084"/>
                        <a:pt x="216881" y="74752"/>
                        <a:pt x="221332" y="72625"/>
                      </a:cubicBezTo>
                      <a:cubicBezTo>
                        <a:pt x="225783" y="70498"/>
                        <a:pt x="231115" y="72382"/>
                        <a:pt x="233242" y="76833"/>
                      </a:cubicBezTo>
                      <a:close/>
                    </a:path>
                  </a:pathLst>
                </a:custGeom>
                <a:solidFill>
                  <a:srgbClr val="00A884"/>
                </a:solidFill>
                <a:ln>
                  <a:noFill/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8271510" y="3756660"/>
                <a:ext cx="279082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主动发现过拟合并降低模型复杂度</a:t>
                </a:r>
                <a:endParaRPr lang="zh-CN" sz="12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74368" y="4028599"/>
                <a:ext cx="28727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自动下调参数强度，让泛化表现优于人工方案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7677150" y="4629150"/>
              <a:ext cx="3829050" cy="476250"/>
              <a:chOff x="7677150" y="4629150"/>
              <a:chExt cx="3829050" cy="47625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7677150" y="4629150"/>
                <a:ext cx="382905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0B1F33"/>
              </a:solidFill>
              <a:ln>
                <a:noFill/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7889081" y="4788694"/>
                <a:ext cx="185738" cy="157162"/>
                <a:chOff x="7889081" y="4788694"/>
                <a:chExt cx="185738" cy="157162"/>
              </a:xfrm>
            </p:grpSpPr>
            <p:sp>
              <p:nvSpPr>
                <p:cNvPr id="45" name="Freeform 45"/>
                <p:cNvSpPr/>
                <p:nvPr/>
              </p:nvSpPr>
              <p:spPr>
                <a:xfrm>
                  <a:off x="7896225" y="4795838"/>
                  <a:ext cx="171450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42875">
                      <a:moveTo>
                        <a:pt x="171450" y="7144"/>
                      </a:moveTo>
                      <a:lnTo>
                        <a:pt x="171450" y="142875"/>
                      </a:lnTo>
                      <a:lnTo>
                        <a:pt x="0" y="142875"/>
                      </a:lnTo>
                      <a:lnTo>
                        <a:pt x="0" y="0"/>
                      </a:lnTo>
                      <a:lnTo>
                        <a:pt x="164306" y="0"/>
                      </a:lnTo>
                      <a:cubicBezTo>
                        <a:pt x="168252" y="0"/>
                        <a:pt x="171450" y="3198"/>
                        <a:pt x="171450" y="7144"/>
                      </a:cubicBezTo>
                      <a:close/>
                    </a:path>
                  </a:pathLst>
                </a:custGeom>
                <a:solidFill>
                  <a:srgbClr val="00A88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7889081" y="4788694"/>
                  <a:ext cx="185738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57162">
                      <a:moveTo>
                        <a:pt x="185738" y="150019"/>
                      </a:moveTo>
                      <a:cubicBezTo>
                        <a:pt x="185738" y="153964"/>
                        <a:pt x="182539" y="157162"/>
                        <a:pt x="178594" y="157162"/>
                      </a:cubicBezTo>
                      <a:lnTo>
                        <a:pt x="7144" y="157162"/>
                      </a:lnTo>
                      <a:cubicBezTo>
                        <a:pt x="3198" y="157162"/>
                        <a:pt x="0" y="153964"/>
                        <a:pt x="0" y="150019"/>
                      </a:cubicBezTo>
                      <a:lnTo>
                        <a:pt x="0" y="7144"/>
                      </a:lnTo>
                      <a:cubicBezTo>
                        <a:pt x="0" y="3198"/>
                        <a:pt x="3198" y="0"/>
                        <a:pt x="7144" y="0"/>
                      </a:cubicBezTo>
                      <a:cubicBezTo>
                        <a:pt x="11089" y="0"/>
                        <a:pt x="14288" y="3198"/>
                        <a:pt x="14288" y="7144"/>
                      </a:cubicBezTo>
                      <a:lnTo>
                        <a:pt x="14288" y="104201"/>
                      </a:lnTo>
                      <a:lnTo>
                        <a:pt x="59240" y="59240"/>
                      </a:lnTo>
                      <a:cubicBezTo>
                        <a:pt x="60579" y="57898"/>
                        <a:pt x="62398" y="57144"/>
                        <a:pt x="64294" y="57144"/>
                      </a:cubicBezTo>
                      <a:cubicBezTo>
                        <a:pt x="66190" y="57144"/>
                        <a:pt x="68008" y="57898"/>
                        <a:pt x="69348" y="59240"/>
                      </a:cubicBezTo>
                      <a:lnTo>
                        <a:pt x="92869" y="82769"/>
                      </a:lnTo>
                      <a:lnTo>
                        <a:pt x="139919" y="35719"/>
                      </a:lnTo>
                      <a:lnTo>
                        <a:pt x="121444" y="35719"/>
                      </a:lnTo>
                      <a:cubicBezTo>
                        <a:pt x="117498" y="35719"/>
                        <a:pt x="114300" y="32520"/>
                        <a:pt x="114300" y="28575"/>
                      </a:cubicBezTo>
                      <a:cubicBezTo>
                        <a:pt x="114300" y="24630"/>
                        <a:pt x="117498" y="21431"/>
                        <a:pt x="121444" y="21431"/>
                      </a:cubicBezTo>
                      <a:lnTo>
                        <a:pt x="157162" y="21431"/>
                      </a:lnTo>
                      <a:cubicBezTo>
                        <a:pt x="161108" y="21431"/>
                        <a:pt x="164306" y="24630"/>
                        <a:pt x="164306" y="28575"/>
                      </a:cubicBezTo>
                      <a:lnTo>
                        <a:pt x="164306" y="64294"/>
                      </a:lnTo>
                      <a:cubicBezTo>
                        <a:pt x="164306" y="68239"/>
                        <a:pt x="161108" y="71438"/>
                        <a:pt x="157162" y="71438"/>
                      </a:cubicBezTo>
                      <a:cubicBezTo>
                        <a:pt x="153217" y="71438"/>
                        <a:pt x="150019" y="68239"/>
                        <a:pt x="150019" y="64294"/>
                      </a:cubicBezTo>
                      <a:lnTo>
                        <a:pt x="150019" y="45818"/>
                      </a:lnTo>
                      <a:lnTo>
                        <a:pt x="97923" y="97923"/>
                      </a:lnTo>
                      <a:cubicBezTo>
                        <a:pt x="96583" y="99264"/>
                        <a:pt x="94765" y="100018"/>
                        <a:pt x="92869" y="100018"/>
                      </a:cubicBezTo>
                      <a:cubicBezTo>
                        <a:pt x="90973" y="100018"/>
                        <a:pt x="89154" y="99264"/>
                        <a:pt x="87815" y="97923"/>
                      </a:cubicBezTo>
                      <a:lnTo>
                        <a:pt x="64294" y="74393"/>
                      </a:lnTo>
                      <a:lnTo>
                        <a:pt x="14288" y="124399"/>
                      </a:lnTo>
                      <a:lnTo>
                        <a:pt x="14288" y="142875"/>
                      </a:lnTo>
                      <a:lnTo>
                        <a:pt x="178594" y="142875"/>
                      </a:lnTo>
                      <a:cubicBezTo>
                        <a:pt x="182539" y="142875"/>
                        <a:pt x="185738" y="146073"/>
                        <a:pt x="185738" y="150019"/>
                      </a:cubicBezTo>
                      <a:close/>
                    </a:path>
                  </a:pathLst>
                </a:custGeom>
                <a:solidFill>
                  <a:srgbClr val="00A884"/>
                </a:solidFill>
                <a:ln>
                  <a:noFill/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8215312" y="4707731"/>
                <a:ext cx="296144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自动化完成，且经模型工程师验证有效</a:t>
                </a:r>
                <a:endParaRPr lang="zh-CN" sz="11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218170" y="4922520"/>
                <a:ext cx="319068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D8E1E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不是“碰巧提升”，而是可解释、可复核的建模策略增益</a:t>
                </a:r>
                <a:endParaRPr lang="zh-CN" sz="900" dirty="0">
                  <a:solidFill>
                    <a:srgbClr val="D8E1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457200" y="5943600"/>
            <a:ext cx="11277600" cy="514350"/>
            <a:chOff x="457200" y="5943600"/>
            <a:chExt cx="11277600" cy="514350"/>
          </a:xfrm>
        </p:grpSpPr>
        <p:sp>
          <p:nvSpPr>
            <p:cNvPr id="52" name="Rectangle 52"/>
            <p:cNvSpPr/>
            <p:nvPr/>
          </p:nvSpPr>
          <p:spPr>
            <a:xfrm>
              <a:off x="457200" y="5943600"/>
              <a:ext cx="11277600" cy="514350"/>
            </a:xfrm>
            <a:prstGeom prst="roundRect">
              <a:avLst>
                <a:gd name="adj" fmla="val 14815"/>
              </a:avLst>
            </a:prstGeom>
            <a:solidFill>
              <a:srgbClr val="0B1F3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24852" y="6104096"/>
              <a:ext cx="1044902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Auto-Research 不只给出更高 AUC， </a:t>
              </a:r>
              <a:r>
                <a:rPr lang="zh-CN" sz="1425" b="1" dirty="0">
                  <a:solidFill>
                    <a:srgbClr val="00A88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还自动沉淀了 GOSS loss、样本比例处理、过拟合抑制等有效工程策略</a:t>
              </a:r>
              <a:endParaRPr lang="zh-CN" sz="1425" b="1" dirty="0">
                <a:solidFill>
                  <a:srgbClr val="00A88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45770" y="6608445"/>
            <a:ext cx="11300460" cy="182880"/>
            <a:chOff x="445770" y="6608445"/>
            <a:chExt cx="11300460" cy="182880"/>
          </a:xfrm>
        </p:grpSpPr>
        <p:sp>
          <p:nvSpPr>
            <p:cNvPr id="55" name="TextBox 55"/>
            <p:cNvSpPr txBox="1"/>
            <p:nvPr/>
          </p:nvSpPr>
          <p:spPr>
            <a:xfrm>
              <a:off x="445770" y="6608445"/>
              <a:ext cx="35587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Source: 伏羲 Auto-Research 产品截图；内部业务场景说明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315890" y="66084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 / 02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51" grpId="0"/>
      <p:bldP spid="5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104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457200" y="990600"/>
              <a:ext cx="11277600" cy="9525"/>
            </a:xfrm>
            <a:prstGeom prst="rect">
              <a:avLst/>
            </a:prstGeom>
            <a:solidFill>
              <a:srgbClr val="D8E1EA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57200" y="308610"/>
            <a:ext cx="9870543" cy="696278"/>
            <a:chOff x="457200" y="308610"/>
            <a:chExt cx="9870543" cy="696278"/>
          </a:xfrm>
        </p:grpSpPr>
        <p:sp>
          <p:nvSpPr>
            <p:cNvPr id="6" name="Rectangle 6"/>
            <p:cNvSpPr/>
            <p:nvPr/>
          </p:nvSpPr>
          <p:spPr>
            <a:xfrm>
              <a:off x="457200" y="361950"/>
              <a:ext cx="76200" cy="419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565C0"/>
                </a:gs>
                <a:gs pos="100000">
                  <a:srgbClr val="00A88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32460" y="308610"/>
              <a:ext cx="969528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外诉 T30 场景：更准识别风险，更快支撑精细化处置</a:t>
              </a:r>
              <a:endParaRPr lang="zh-CN" sz="2700" b="1" dirty="0">
                <a:solidFill>
                  <a:srgbClr val="0B1F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49605" y="730568"/>
              <a:ext cx="63337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AUC 提升带来更可靠的人群分层，高风险补钱降外诉，低风险降本控成本</a:t>
              </a:r>
              <a:endParaRPr lang="zh-CN" sz="13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57200" y="1295400"/>
            <a:ext cx="11277600" cy="1752600"/>
            <a:chOff x="457200" y="1295400"/>
            <a:chExt cx="11277600" cy="1752600"/>
          </a:xfrm>
        </p:grpSpPr>
        <p:sp>
          <p:nvSpPr>
            <p:cNvPr id="10" name="Rectangle 10"/>
            <p:cNvSpPr/>
            <p:nvPr/>
          </p:nvSpPr>
          <p:spPr>
            <a:xfrm>
              <a:off x="457200" y="1295400"/>
              <a:ext cx="11277600" cy="1752600"/>
            </a:xfrm>
            <a:prstGeom prst="roundRect">
              <a:avLst>
                <a:gd name="adj" fmla="val 4348"/>
              </a:avLst>
            </a:prstGeom>
            <a:solidFill>
              <a:srgbClr val="FFFFFF"/>
            </a:solidFill>
            <a:ln w="11430">
              <a:solidFill>
                <a:srgbClr val="D8E1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1515" y="1467802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通话后实时预测闭环</a:t>
              </a:r>
              <a:endParaRPr lang="zh-CN" sz="10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704850" y="1847850"/>
              <a:ext cx="1600200" cy="742950"/>
              <a:chOff x="704850" y="1847850"/>
              <a:chExt cx="1600200" cy="7429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704850" y="1847850"/>
                <a:ext cx="160020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E8F2FF"/>
              </a:solidFill>
              <a:ln w="13335">
                <a:solidFill>
                  <a:srgbClr val="1565C0"/>
                </a:solidFill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933390" y="2085095"/>
                <a:ext cx="239060" cy="239066"/>
                <a:chOff x="933390" y="2085095"/>
                <a:chExt cx="239060" cy="239066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942953" y="2095073"/>
                  <a:ext cx="219524" cy="2195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524" h="219524">
                      <a:moveTo>
                        <a:pt x="219026" y="169591"/>
                      </a:moveTo>
                      <a:cubicBezTo>
                        <a:pt x="215200" y="198183"/>
                        <a:pt x="190794" y="219524"/>
                        <a:pt x="161947" y="219502"/>
                      </a:cubicBezTo>
                      <a:cubicBezTo>
                        <a:pt x="72518" y="219502"/>
                        <a:pt x="22" y="147006"/>
                        <a:pt x="22" y="57577"/>
                      </a:cubicBezTo>
                      <a:cubicBezTo>
                        <a:pt x="0" y="28730"/>
                        <a:pt x="21341" y="4325"/>
                        <a:pt x="49933" y="499"/>
                      </a:cubicBezTo>
                      <a:cubicBezTo>
                        <a:pt x="54130" y="0"/>
                        <a:pt x="58154" y="2327"/>
                        <a:pt x="59815" y="6214"/>
                      </a:cubicBezTo>
                      <a:lnTo>
                        <a:pt x="84973" y="62411"/>
                      </a:lnTo>
                      <a:cubicBezTo>
                        <a:pt x="86229" y="65343"/>
                        <a:pt x="85934" y="68708"/>
                        <a:pt x="84187" y="71377"/>
                      </a:cubicBezTo>
                      <a:lnTo>
                        <a:pt x="58744" y="101630"/>
                      </a:lnTo>
                      <a:cubicBezTo>
                        <a:pt x="56908" y="104401"/>
                        <a:pt x="56663" y="107932"/>
                        <a:pt x="58101" y="110929"/>
                      </a:cubicBezTo>
                      <a:cubicBezTo>
                        <a:pt x="67947" y="131086"/>
                        <a:pt x="88783" y="151672"/>
                        <a:pt x="109000" y="161423"/>
                      </a:cubicBezTo>
                      <a:cubicBezTo>
                        <a:pt x="112013" y="162855"/>
                        <a:pt x="115558" y="162588"/>
                        <a:pt x="118323" y="160721"/>
                      </a:cubicBezTo>
                      <a:lnTo>
                        <a:pt x="148088" y="135361"/>
                      </a:lnTo>
                      <a:cubicBezTo>
                        <a:pt x="150768" y="133577"/>
                        <a:pt x="154167" y="133268"/>
                        <a:pt x="157125" y="134539"/>
                      </a:cubicBezTo>
                      <a:lnTo>
                        <a:pt x="213275" y="159697"/>
                      </a:lnTo>
                      <a:cubicBezTo>
                        <a:pt x="217180" y="161348"/>
                        <a:pt x="219524" y="165381"/>
                        <a:pt x="219026" y="169591"/>
                      </a:cubicBezTo>
                      <a:close/>
                    </a:path>
                  </a:pathLst>
                </a:custGeom>
                <a:solidFill>
                  <a:srgbClr val="1565C0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933390" y="2085095"/>
                  <a:ext cx="239060" cy="2390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060" h="239066">
                      <a:moveTo>
                        <a:pt x="143257" y="17466"/>
                      </a:moveTo>
                      <a:cubicBezTo>
                        <a:pt x="143910" y="15024"/>
                        <a:pt x="145506" y="12942"/>
                        <a:pt x="147695" y="11679"/>
                      </a:cubicBezTo>
                      <a:cubicBezTo>
                        <a:pt x="149883" y="10415"/>
                        <a:pt x="152484" y="10072"/>
                        <a:pt x="154925" y="10727"/>
                      </a:cubicBezTo>
                      <a:cubicBezTo>
                        <a:pt x="190880" y="20108"/>
                        <a:pt x="218958" y="48186"/>
                        <a:pt x="228339" y="84141"/>
                      </a:cubicBezTo>
                      <a:cubicBezTo>
                        <a:pt x="228993" y="86582"/>
                        <a:pt x="228651" y="89183"/>
                        <a:pt x="227387" y="91371"/>
                      </a:cubicBezTo>
                      <a:cubicBezTo>
                        <a:pt x="226123" y="93559"/>
                        <a:pt x="224041" y="95156"/>
                        <a:pt x="221600" y="95809"/>
                      </a:cubicBezTo>
                      <a:cubicBezTo>
                        <a:pt x="220795" y="96020"/>
                        <a:pt x="219967" y="96128"/>
                        <a:pt x="219135" y="96130"/>
                      </a:cubicBezTo>
                      <a:cubicBezTo>
                        <a:pt x="214820" y="96130"/>
                        <a:pt x="211043" y="93228"/>
                        <a:pt x="209932" y="89058"/>
                      </a:cubicBezTo>
                      <a:cubicBezTo>
                        <a:pt x="202281" y="59706"/>
                        <a:pt x="179359" y="36785"/>
                        <a:pt x="150008" y="29134"/>
                      </a:cubicBezTo>
                      <a:cubicBezTo>
                        <a:pt x="147564" y="28483"/>
                        <a:pt x="145479" y="26888"/>
                        <a:pt x="144213" y="24699"/>
                      </a:cubicBezTo>
                      <a:cubicBezTo>
                        <a:pt x="142947" y="22511"/>
                        <a:pt x="142603" y="19908"/>
                        <a:pt x="143257" y="17466"/>
                      </a:cubicBezTo>
                      <a:close/>
                      <a:moveTo>
                        <a:pt x="140483" y="67234"/>
                      </a:moveTo>
                      <a:cubicBezTo>
                        <a:pt x="156901" y="71615"/>
                        <a:pt x="167450" y="82164"/>
                        <a:pt x="171832" y="98583"/>
                      </a:cubicBezTo>
                      <a:cubicBezTo>
                        <a:pt x="172943" y="102753"/>
                        <a:pt x="176720" y="105655"/>
                        <a:pt x="181035" y="105655"/>
                      </a:cubicBezTo>
                      <a:cubicBezTo>
                        <a:pt x="181867" y="105653"/>
                        <a:pt x="182695" y="105545"/>
                        <a:pt x="183500" y="105334"/>
                      </a:cubicBezTo>
                      <a:cubicBezTo>
                        <a:pt x="185941" y="104681"/>
                        <a:pt x="188023" y="103084"/>
                        <a:pt x="189287" y="100896"/>
                      </a:cubicBezTo>
                      <a:cubicBezTo>
                        <a:pt x="190551" y="98708"/>
                        <a:pt x="190893" y="96107"/>
                        <a:pt x="190239" y="93666"/>
                      </a:cubicBezTo>
                      <a:cubicBezTo>
                        <a:pt x="184143" y="70853"/>
                        <a:pt x="168212" y="54923"/>
                        <a:pt x="145400" y="48827"/>
                      </a:cubicBezTo>
                      <a:cubicBezTo>
                        <a:pt x="140317" y="47469"/>
                        <a:pt x="135096" y="50489"/>
                        <a:pt x="133738" y="55572"/>
                      </a:cubicBezTo>
                      <a:cubicBezTo>
                        <a:pt x="132380" y="60655"/>
                        <a:pt x="135400" y="65876"/>
                        <a:pt x="140483" y="67234"/>
                      </a:cubicBezTo>
                      <a:close/>
                      <a:moveTo>
                        <a:pt x="238042" y="180760"/>
                      </a:moveTo>
                      <a:cubicBezTo>
                        <a:pt x="233651" y="214134"/>
                        <a:pt x="205173" y="239066"/>
                        <a:pt x="171510" y="239005"/>
                      </a:cubicBezTo>
                      <a:cubicBezTo>
                        <a:pt x="76975" y="239005"/>
                        <a:pt x="60" y="162091"/>
                        <a:pt x="60" y="67555"/>
                      </a:cubicBezTo>
                      <a:cubicBezTo>
                        <a:pt x="0" y="33893"/>
                        <a:pt x="24931" y="5415"/>
                        <a:pt x="58306" y="1023"/>
                      </a:cubicBezTo>
                      <a:cubicBezTo>
                        <a:pt x="66685" y="0"/>
                        <a:pt x="74738" y="4613"/>
                        <a:pt x="78094" y="12358"/>
                      </a:cubicBezTo>
                      <a:lnTo>
                        <a:pt x="103240" y="68496"/>
                      </a:lnTo>
                      <a:lnTo>
                        <a:pt x="103240" y="68639"/>
                      </a:lnTo>
                      <a:cubicBezTo>
                        <a:pt x="105781" y="74502"/>
                        <a:pt x="105213" y="81249"/>
                        <a:pt x="101728" y="86605"/>
                      </a:cubicBezTo>
                      <a:cubicBezTo>
                        <a:pt x="101513" y="86927"/>
                        <a:pt x="101287" y="87224"/>
                        <a:pt x="101049" y="87522"/>
                      </a:cubicBezTo>
                      <a:lnTo>
                        <a:pt x="76260" y="116907"/>
                      </a:lnTo>
                      <a:cubicBezTo>
                        <a:pt x="85178" y="135028"/>
                        <a:pt x="104133" y="153816"/>
                        <a:pt x="122492" y="162758"/>
                      </a:cubicBezTo>
                      <a:lnTo>
                        <a:pt x="151472" y="138100"/>
                      </a:lnTo>
                      <a:cubicBezTo>
                        <a:pt x="151757" y="137861"/>
                        <a:pt x="152055" y="137638"/>
                        <a:pt x="152365" y="137433"/>
                      </a:cubicBezTo>
                      <a:cubicBezTo>
                        <a:pt x="157718" y="133863"/>
                        <a:pt x="164511" y="133236"/>
                        <a:pt x="170427" y="135766"/>
                      </a:cubicBezTo>
                      <a:lnTo>
                        <a:pt x="170582" y="135838"/>
                      </a:lnTo>
                      <a:lnTo>
                        <a:pt x="226672" y="160972"/>
                      </a:lnTo>
                      <a:cubicBezTo>
                        <a:pt x="234431" y="164316"/>
                        <a:pt x="239060" y="172372"/>
                        <a:pt x="238042" y="180760"/>
                      </a:cubicBezTo>
                      <a:close/>
                      <a:moveTo>
                        <a:pt x="219135" y="178379"/>
                      </a:moveTo>
                      <a:cubicBezTo>
                        <a:pt x="219135" y="178379"/>
                        <a:pt x="219052" y="178379"/>
                        <a:pt x="219004" y="178379"/>
                      </a:cubicBezTo>
                      <a:lnTo>
                        <a:pt x="219004" y="178379"/>
                      </a:lnTo>
                      <a:lnTo>
                        <a:pt x="163045" y="153316"/>
                      </a:lnTo>
                      <a:lnTo>
                        <a:pt x="134053" y="177974"/>
                      </a:lnTo>
                      <a:cubicBezTo>
                        <a:pt x="133772" y="178212"/>
                        <a:pt x="133478" y="178435"/>
                        <a:pt x="133172" y="178641"/>
                      </a:cubicBezTo>
                      <a:cubicBezTo>
                        <a:pt x="127596" y="182361"/>
                        <a:pt x="120474" y="182876"/>
                        <a:pt x="114420" y="179998"/>
                      </a:cubicBezTo>
                      <a:cubicBezTo>
                        <a:pt x="92119" y="169223"/>
                        <a:pt x="69890" y="147160"/>
                        <a:pt x="59103" y="125098"/>
                      </a:cubicBezTo>
                      <a:cubicBezTo>
                        <a:pt x="56198" y="119089"/>
                        <a:pt x="56650" y="111997"/>
                        <a:pt x="60294" y="106405"/>
                      </a:cubicBezTo>
                      <a:cubicBezTo>
                        <a:pt x="60496" y="106082"/>
                        <a:pt x="60723" y="105776"/>
                        <a:pt x="60973" y="105489"/>
                      </a:cubicBezTo>
                      <a:lnTo>
                        <a:pt x="85785" y="76068"/>
                      </a:lnTo>
                      <a:lnTo>
                        <a:pt x="60782" y="20109"/>
                      </a:lnTo>
                      <a:cubicBezTo>
                        <a:pt x="60778" y="20061"/>
                        <a:pt x="60778" y="20013"/>
                        <a:pt x="60782" y="19966"/>
                      </a:cubicBezTo>
                      <a:cubicBezTo>
                        <a:pt x="36895" y="23082"/>
                        <a:pt x="19046" y="43466"/>
                        <a:pt x="19110" y="67555"/>
                      </a:cubicBezTo>
                      <a:cubicBezTo>
                        <a:pt x="19202" y="151685"/>
                        <a:pt x="87380" y="219863"/>
                        <a:pt x="171510" y="219955"/>
                      </a:cubicBezTo>
                      <a:cubicBezTo>
                        <a:pt x="195584" y="220038"/>
                        <a:pt x="215974" y="202232"/>
                        <a:pt x="219135" y="178367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318260" y="2013585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通话结束</a:t>
                </a:r>
                <a:endParaRPr lang="zh-CN" sz="12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322070" y="2274570"/>
                <a:ext cx="81153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实时触发预测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857500" y="1847850"/>
              <a:ext cx="1748028" cy="742950"/>
              <a:chOff x="2857500" y="1847850"/>
              <a:chExt cx="1748028" cy="7429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2857500" y="1847850"/>
                <a:ext cx="160020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FDECEC"/>
              </a:solidFill>
              <a:ln w="13335">
                <a:solidFill>
                  <a:srgbClr val="E55353"/>
                </a:solidFill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3086100" y="2105025"/>
                <a:ext cx="228600" cy="238434"/>
                <a:chOff x="3086100" y="2105025"/>
                <a:chExt cx="228600" cy="238434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3095625" y="2114550"/>
                  <a:ext cx="209550" cy="21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219218">
                      <a:moveTo>
                        <a:pt x="209550" y="9525"/>
                      </a:moveTo>
                      <a:lnTo>
                        <a:pt x="209550" y="79498"/>
                      </a:lnTo>
                      <a:cubicBezTo>
                        <a:pt x="209550" y="179725"/>
                        <a:pt x="124647" y="212931"/>
                        <a:pt x="107704" y="218563"/>
                      </a:cubicBezTo>
                      <a:cubicBezTo>
                        <a:pt x="105806" y="219218"/>
                        <a:pt x="103744" y="219218"/>
                        <a:pt x="101846" y="218563"/>
                      </a:cubicBezTo>
                      <a:cubicBezTo>
                        <a:pt x="84903" y="212955"/>
                        <a:pt x="0" y="179784"/>
                        <a:pt x="0" y="79522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  <a:lnTo>
                        <a:pt x="200025" y="0"/>
                      </a:lnTo>
                      <a:cubicBezTo>
                        <a:pt x="205286" y="0"/>
                        <a:pt x="209550" y="4264"/>
                        <a:pt x="209550" y="9525"/>
                      </a:cubicBezTo>
                      <a:close/>
                    </a:path>
                  </a:pathLst>
                </a:custGeom>
                <a:solidFill>
                  <a:srgbClr val="E55353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3086100" y="2105025"/>
                  <a:ext cx="228600" cy="238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38434">
                      <a:moveTo>
                        <a:pt x="209550" y="0"/>
                      </a:moveTo>
                      <a:lnTo>
                        <a:pt x="19050" y="0"/>
                      </a:lnTo>
                      <a:cubicBezTo>
                        <a:pt x="8529" y="0"/>
                        <a:pt x="0" y="8529"/>
                        <a:pt x="0" y="19050"/>
                      </a:cubicBezTo>
                      <a:lnTo>
                        <a:pt x="0" y="89023"/>
                      </a:lnTo>
                      <a:cubicBezTo>
                        <a:pt x="0" y="195727"/>
                        <a:pt x="90273" y="231112"/>
                        <a:pt x="108347" y="237113"/>
                      </a:cubicBezTo>
                      <a:cubicBezTo>
                        <a:pt x="112206" y="238434"/>
                        <a:pt x="116394" y="238434"/>
                        <a:pt x="120253" y="237113"/>
                      </a:cubicBezTo>
                      <a:cubicBezTo>
                        <a:pt x="138351" y="231100"/>
                        <a:pt x="228600" y="195715"/>
                        <a:pt x="228600" y="89011"/>
                      </a:cubicBezTo>
                      <a:lnTo>
                        <a:pt x="228600" y="19050"/>
                      </a:lnTo>
                      <a:cubicBezTo>
                        <a:pt x="228600" y="8529"/>
                        <a:pt x="220071" y="0"/>
                        <a:pt x="209550" y="0"/>
                      </a:cubicBezTo>
                      <a:close/>
                      <a:moveTo>
                        <a:pt x="209550" y="89047"/>
                      </a:moveTo>
                      <a:cubicBezTo>
                        <a:pt x="209550" y="182416"/>
                        <a:pt x="130564" y="213610"/>
                        <a:pt x="114300" y="219039"/>
                      </a:cubicBezTo>
                      <a:cubicBezTo>
                        <a:pt x="98191" y="213681"/>
                        <a:pt x="19050" y="182511"/>
                        <a:pt x="19050" y="89047"/>
                      </a:cubicBezTo>
                      <a:lnTo>
                        <a:pt x="19050" y="19050"/>
                      </a:lnTo>
                      <a:lnTo>
                        <a:pt x="209550" y="19050"/>
                      </a:lnTo>
                      <a:close/>
                      <a:moveTo>
                        <a:pt x="104775" y="114300"/>
                      </a:moveTo>
                      <a:lnTo>
                        <a:pt x="104775" y="66675"/>
                      </a:lnTo>
                      <a:cubicBezTo>
                        <a:pt x="104775" y="61414"/>
                        <a:pt x="109039" y="57150"/>
                        <a:pt x="114300" y="57150"/>
                      </a:cubicBezTo>
                      <a:cubicBezTo>
                        <a:pt x="119561" y="57150"/>
                        <a:pt x="123825" y="61414"/>
                        <a:pt x="123825" y="66675"/>
                      </a:cubicBezTo>
                      <a:lnTo>
                        <a:pt x="123825" y="114300"/>
                      </a:lnTo>
                      <a:cubicBezTo>
                        <a:pt x="123825" y="119561"/>
                        <a:pt x="119561" y="123825"/>
                        <a:pt x="114300" y="123825"/>
                      </a:cubicBezTo>
                      <a:cubicBezTo>
                        <a:pt x="109039" y="123825"/>
                        <a:pt x="104775" y="119561"/>
                        <a:pt x="104775" y="114300"/>
                      </a:cubicBezTo>
                      <a:close/>
                      <a:moveTo>
                        <a:pt x="100012" y="157162"/>
                      </a:moveTo>
                      <a:cubicBezTo>
                        <a:pt x="100012" y="149272"/>
                        <a:pt x="106409" y="142875"/>
                        <a:pt x="114300" y="142875"/>
                      </a:cubicBezTo>
                      <a:cubicBezTo>
                        <a:pt x="122191" y="142875"/>
                        <a:pt x="128588" y="149272"/>
                        <a:pt x="128588" y="157162"/>
                      </a:cubicBezTo>
                      <a:cubicBezTo>
                        <a:pt x="128588" y="165053"/>
                        <a:pt x="122191" y="171450"/>
                        <a:pt x="114300" y="171450"/>
                      </a:cubicBezTo>
                      <a:cubicBezTo>
                        <a:pt x="106409" y="171450"/>
                        <a:pt x="100012" y="165053"/>
                        <a:pt x="100012" y="157162"/>
                      </a:cubicBezTo>
                      <a:close/>
                    </a:path>
                  </a:pathLst>
                </a:custGeom>
                <a:solidFill>
                  <a:srgbClr val="E55353"/>
                </a:solidFill>
                <a:ln>
                  <a:noFill/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3470910" y="2013585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识别外诉风险</a:t>
                </a:r>
                <a:endParaRPr lang="zh-CN" sz="12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474720" y="2274570"/>
                <a:ext cx="80495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T30 是否外诉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5010150" y="1695450"/>
              <a:ext cx="1809750" cy="590550"/>
              <a:chOff x="5010150" y="1695450"/>
              <a:chExt cx="1809750" cy="5905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5010150" y="1695450"/>
                <a:ext cx="180975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DECEC"/>
              </a:solidFill>
              <a:ln w="11430">
                <a:solidFill>
                  <a:srgbClr val="E55353"/>
                </a:solidFill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5253038" y="1906191"/>
                <a:ext cx="200025" cy="158353"/>
                <a:chOff x="5253038" y="1906191"/>
                <a:chExt cx="200025" cy="158353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5286375" y="1914525"/>
                  <a:ext cx="133350" cy="58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58341">
                      <a:moveTo>
                        <a:pt x="133350" y="0"/>
                      </a:moveTo>
                      <a:lnTo>
                        <a:pt x="133350" y="58341"/>
                      </a:lnTo>
                      <a:lnTo>
                        <a:pt x="0" y="5834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55353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5253038" y="1906191"/>
                  <a:ext cx="200025" cy="1583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58353">
                      <a:moveTo>
                        <a:pt x="25003" y="8334"/>
                      </a:moveTo>
                      <a:cubicBezTo>
                        <a:pt x="25003" y="3731"/>
                        <a:pt x="28735" y="0"/>
                        <a:pt x="33338" y="0"/>
                      </a:cubicBezTo>
                      <a:lnTo>
                        <a:pt x="166688" y="0"/>
                      </a:lnTo>
                      <a:cubicBezTo>
                        <a:pt x="171290" y="0"/>
                        <a:pt x="175022" y="3731"/>
                        <a:pt x="175022" y="8334"/>
                      </a:cubicBezTo>
                      <a:cubicBezTo>
                        <a:pt x="175022" y="12937"/>
                        <a:pt x="171290" y="16669"/>
                        <a:pt x="166688" y="16669"/>
                      </a:cubicBezTo>
                      <a:lnTo>
                        <a:pt x="33338" y="16669"/>
                      </a:lnTo>
                      <a:cubicBezTo>
                        <a:pt x="28735" y="16669"/>
                        <a:pt x="25003" y="12937"/>
                        <a:pt x="25003" y="8334"/>
                      </a:cubicBezTo>
                      <a:close/>
                      <a:moveTo>
                        <a:pt x="191691" y="116681"/>
                      </a:moveTo>
                      <a:cubicBezTo>
                        <a:pt x="187088" y="116681"/>
                        <a:pt x="183356" y="120413"/>
                        <a:pt x="183356" y="125016"/>
                      </a:cubicBezTo>
                      <a:lnTo>
                        <a:pt x="183356" y="141684"/>
                      </a:lnTo>
                      <a:lnTo>
                        <a:pt x="150019" y="141684"/>
                      </a:lnTo>
                      <a:cubicBezTo>
                        <a:pt x="140813" y="141684"/>
                        <a:pt x="133350" y="134222"/>
                        <a:pt x="133350" y="125016"/>
                      </a:cubicBezTo>
                      <a:lnTo>
                        <a:pt x="133350" y="75009"/>
                      </a:lnTo>
                      <a:lnTo>
                        <a:pt x="183356" y="75009"/>
                      </a:lnTo>
                      <a:cubicBezTo>
                        <a:pt x="187959" y="75009"/>
                        <a:pt x="191691" y="71278"/>
                        <a:pt x="191691" y="66675"/>
                      </a:cubicBezTo>
                      <a:cubicBezTo>
                        <a:pt x="191691" y="62072"/>
                        <a:pt x="187959" y="58341"/>
                        <a:pt x="183356" y="58341"/>
                      </a:cubicBezTo>
                      <a:lnTo>
                        <a:pt x="16669" y="58341"/>
                      </a:lnTo>
                      <a:cubicBezTo>
                        <a:pt x="12066" y="58341"/>
                        <a:pt x="8334" y="62072"/>
                        <a:pt x="8334" y="66675"/>
                      </a:cubicBezTo>
                      <a:cubicBezTo>
                        <a:pt x="8334" y="71278"/>
                        <a:pt x="12066" y="75009"/>
                        <a:pt x="16669" y="75009"/>
                      </a:cubicBezTo>
                      <a:lnTo>
                        <a:pt x="66675" y="75009"/>
                      </a:lnTo>
                      <a:lnTo>
                        <a:pt x="66675" y="83344"/>
                      </a:lnTo>
                      <a:cubicBezTo>
                        <a:pt x="66641" y="115550"/>
                        <a:pt x="40541" y="141650"/>
                        <a:pt x="8334" y="141684"/>
                      </a:cubicBezTo>
                      <a:cubicBezTo>
                        <a:pt x="3731" y="141684"/>
                        <a:pt x="0" y="145416"/>
                        <a:pt x="0" y="150019"/>
                      </a:cubicBezTo>
                      <a:cubicBezTo>
                        <a:pt x="0" y="154622"/>
                        <a:pt x="3731" y="158353"/>
                        <a:pt x="8334" y="158353"/>
                      </a:cubicBezTo>
                      <a:cubicBezTo>
                        <a:pt x="49742" y="158307"/>
                        <a:pt x="83298" y="124751"/>
                        <a:pt x="83344" y="83344"/>
                      </a:cubicBezTo>
                      <a:lnTo>
                        <a:pt x="83344" y="75009"/>
                      </a:lnTo>
                      <a:lnTo>
                        <a:pt x="116681" y="75009"/>
                      </a:lnTo>
                      <a:lnTo>
                        <a:pt x="116681" y="125016"/>
                      </a:lnTo>
                      <a:cubicBezTo>
                        <a:pt x="116681" y="143427"/>
                        <a:pt x="131607" y="158353"/>
                        <a:pt x="150019" y="158353"/>
                      </a:cubicBezTo>
                      <a:lnTo>
                        <a:pt x="191691" y="158353"/>
                      </a:lnTo>
                      <a:cubicBezTo>
                        <a:pt x="196294" y="158353"/>
                        <a:pt x="200025" y="154622"/>
                        <a:pt x="200025" y="150019"/>
                      </a:cubicBezTo>
                      <a:lnTo>
                        <a:pt x="200025" y="125016"/>
                      </a:lnTo>
                      <a:cubicBezTo>
                        <a:pt x="200025" y="120413"/>
                        <a:pt x="196294" y="116681"/>
                        <a:pt x="191691" y="116681"/>
                      </a:cubicBezTo>
                      <a:close/>
                    </a:path>
                  </a:pathLst>
                </a:custGeom>
                <a:solidFill>
                  <a:srgbClr val="E55353"/>
                </a:solidFill>
                <a:ln>
                  <a:noFill/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5605462" y="1821656"/>
                <a:ext cx="89118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高风险人群</a:t>
                </a:r>
                <a:endParaRPr lang="zh-CN" sz="1125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608320" y="2055495"/>
                <a:ext cx="9626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补钱 / 强化安抚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5010150" y="2419350"/>
              <a:ext cx="2170462" cy="400050"/>
              <a:chOff x="5010150" y="2419350"/>
              <a:chExt cx="2170462" cy="4000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5010150" y="2419350"/>
                <a:ext cx="1809750" cy="400050"/>
              </a:xfrm>
              <a:prstGeom prst="roundRect">
                <a:avLst>
                  <a:gd name="adj" fmla="val 19048"/>
                </a:avLst>
              </a:prstGeom>
              <a:solidFill>
                <a:srgbClr val="E8F8F2"/>
              </a:solidFill>
              <a:ln w="11430">
                <a:solidFill>
                  <a:srgbClr val="00A884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5205412" y="2545556"/>
                <a:ext cx="89118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低风险人群</a:t>
                </a:r>
                <a:endParaRPr lang="zh-CN" sz="1125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217920" y="2569845"/>
                <a:ext cx="9626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标准处置 / 降本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7715250" y="1847850"/>
              <a:ext cx="1842135" cy="742950"/>
              <a:chOff x="7715250" y="1847850"/>
              <a:chExt cx="1842135" cy="7429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7715250" y="1847850"/>
                <a:ext cx="180975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E8F8F2"/>
              </a:solidFill>
              <a:ln w="13335">
                <a:solidFill>
                  <a:srgbClr val="00A884"/>
                </a:solidFill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7942914" y="2114547"/>
                <a:ext cx="267639" cy="172389"/>
                <a:chOff x="7942914" y="2114547"/>
                <a:chExt cx="267639" cy="172389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8124825" y="212407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76200" y="0"/>
                      </a:moveTo>
                      <a:lnTo>
                        <a:pt x="76200" y="762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A88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7942914" y="2114547"/>
                  <a:ext cx="267639" cy="172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639" h="172389">
                      <a:moveTo>
                        <a:pt x="258111" y="3"/>
                      </a:moveTo>
                      <a:lnTo>
                        <a:pt x="181911" y="3"/>
                      </a:lnTo>
                      <a:cubicBezTo>
                        <a:pt x="178056" y="0"/>
                        <a:pt x="174579" y="2321"/>
                        <a:pt x="173104" y="5882"/>
                      </a:cubicBezTo>
                      <a:cubicBezTo>
                        <a:pt x="171628" y="9443"/>
                        <a:pt x="172445" y="13543"/>
                        <a:pt x="175172" y="16267"/>
                      </a:cubicBezTo>
                      <a:lnTo>
                        <a:pt x="206545" y="47628"/>
                      </a:lnTo>
                      <a:lnTo>
                        <a:pt x="143811" y="110362"/>
                      </a:lnTo>
                      <a:lnTo>
                        <a:pt x="102925" y="69464"/>
                      </a:lnTo>
                      <a:cubicBezTo>
                        <a:pt x="101138" y="67676"/>
                        <a:pt x="98714" y="66671"/>
                        <a:pt x="96186" y="66671"/>
                      </a:cubicBezTo>
                      <a:cubicBezTo>
                        <a:pt x="93658" y="66671"/>
                        <a:pt x="91233" y="67676"/>
                        <a:pt x="89447" y="69464"/>
                      </a:cubicBezTo>
                      <a:lnTo>
                        <a:pt x="3722" y="155189"/>
                      </a:lnTo>
                      <a:cubicBezTo>
                        <a:pt x="0" y="158911"/>
                        <a:pt x="0" y="164945"/>
                        <a:pt x="3722" y="168667"/>
                      </a:cubicBezTo>
                      <a:cubicBezTo>
                        <a:pt x="7444" y="172389"/>
                        <a:pt x="13478" y="172389"/>
                        <a:pt x="17200" y="168667"/>
                      </a:cubicBezTo>
                      <a:lnTo>
                        <a:pt x="96186" y="89669"/>
                      </a:lnTo>
                      <a:lnTo>
                        <a:pt x="137072" y="130567"/>
                      </a:lnTo>
                      <a:cubicBezTo>
                        <a:pt x="138858" y="132356"/>
                        <a:pt x="141283" y="133361"/>
                        <a:pt x="143811" y="133361"/>
                      </a:cubicBezTo>
                      <a:cubicBezTo>
                        <a:pt x="146339" y="133361"/>
                        <a:pt x="148763" y="132356"/>
                        <a:pt x="150550" y="130567"/>
                      </a:cubicBezTo>
                      <a:lnTo>
                        <a:pt x="220011" y="61094"/>
                      </a:lnTo>
                      <a:lnTo>
                        <a:pt x="251372" y="92467"/>
                      </a:lnTo>
                      <a:cubicBezTo>
                        <a:pt x="254096" y="95194"/>
                        <a:pt x="258196" y="96011"/>
                        <a:pt x="261757" y="94535"/>
                      </a:cubicBezTo>
                      <a:cubicBezTo>
                        <a:pt x="265318" y="93059"/>
                        <a:pt x="267639" y="89583"/>
                        <a:pt x="267636" y="85728"/>
                      </a:cubicBezTo>
                      <a:lnTo>
                        <a:pt x="267636" y="9528"/>
                      </a:lnTo>
                      <a:cubicBezTo>
                        <a:pt x="267636" y="4268"/>
                        <a:pt x="263371" y="3"/>
                        <a:pt x="258111" y="3"/>
                      </a:cubicBezTo>
                      <a:close/>
                      <a:moveTo>
                        <a:pt x="248586" y="62737"/>
                      </a:moveTo>
                      <a:lnTo>
                        <a:pt x="204902" y="19053"/>
                      </a:lnTo>
                      <a:lnTo>
                        <a:pt x="248586" y="19053"/>
                      </a:lnTo>
                      <a:close/>
                    </a:path>
                  </a:pathLst>
                </a:custGeom>
                <a:solidFill>
                  <a:srgbClr val="00A884"/>
                </a:solidFill>
                <a:ln>
                  <a:noFill/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8347710" y="2013585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更准风险分层</a:t>
                </a:r>
                <a:endParaRPr lang="zh-CN" sz="12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351520" y="2274570"/>
                <a:ext cx="12058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AUC 0.756 支撑策略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10096500" y="1847850"/>
              <a:ext cx="1390650" cy="742950"/>
              <a:chOff x="10096500" y="1847850"/>
              <a:chExt cx="1390650" cy="74295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10096500" y="1847850"/>
                <a:ext cx="139065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0B1F33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10257115" y="2006918"/>
                <a:ext cx="106941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降低外诉率</a:t>
                </a:r>
                <a:endPara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0254615" y="2284095"/>
                <a:ext cx="10744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D8E1E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同时控制补贴成本</a:t>
                </a:r>
                <a:endParaRPr lang="zh-CN" sz="900" dirty="0">
                  <a:solidFill>
                    <a:srgbClr val="D8E1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48" name="Line 48"/>
            <p:cNvSpPr/>
            <p:nvPr/>
          </p:nvSpPr>
          <p:spPr>
            <a:xfrm>
              <a:off x="2305050" y="2219325"/>
              <a:ext cx="495300" cy="1"/>
            </a:xfrm>
            <a:prstGeom prst="line">
              <a:avLst/>
            </a:prstGeom>
            <a:noFill/>
            <a:ln w="28575">
              <a:solidFill>
                <a:srgbClr val="1565C0"/>
              </a:solidFill>
              <a:tailEnd type="triangle" w="lg" len="lg"/>
            </a:ln>
          </p:spPr>
        </p:sp>
        <p:sp>
          <p:nvSpPr>
            <p:cNvPr id="49" name="Line 49"/>
            <p:cNvSpPr/>
            <p:nvPr/>
          </p:nvSpPr>
          <p:spPr>
            <a:xfrm flipV="1">
              <a:off x="4457700" y="1990725"/>
              <a:ext cx="495300" cy="228600"/>
            </a:xfrm>
            <a:prstGeom prst="line">
              <a:avLst/>
            </a:prstGeom>
            <a:noFill/>
            <a:ln w="28575">
              <a:solidFill>
                <a:srgbClr val="E55353"/>
              </a:solidFill>
              <a:tailEnd type="triangle" w="lg" len="lg"/>
            </a:ln>
          </p:spPr>
        </p:sp>
        <p:sp>
          <p:nvSpPr>
            <p:cNvPr id="50" name="Line 50"/>
            <p:cNvSpPr/>
            <p:nvPr/>
          </p:nvSpPr>
          <p:spPr>
            <a:xfrm>
              <a:off x="4457700" y="2219325"/>
              <a:ext cx="495300" cy="390525"/>
            </a:xfrm>
            <a:prstGeom prst="line">
              <a:avLst/>
            </a:prstGeom>
            <a:noFill/>
            <a:ln w="28575">
              <a:solidFill>
                <a:srgbClr val="00A884"/>
              </a:solidFill>
              <a:tailEnd type="triangle" w="lg" len="lg"/>
            </a:ln>
          </p:spPr>
        </p:sp>
        <p:sp>
          <p:nvSpPr>
            <p:cNvPr id="51" name="Line 51"/>
            <p:cNvSpPr/>
            <p:nvPr/>
          </p:nvSpPr>
          <p:spPr>
            <a:xfrm>
              <a:off x="6819900" y="1990725"/>
              <a:ext cx="838200" cy="123825"/>
            </a:xfrm>
            <a:prstGeom prst="line">
              <a:avLst/>
            </a:prstGeom>
            <a:noFill/>
            <a:ln w="28575">
              <a:solidFill>
                <a:srgbClr val="E55353"/>
              </a:solidFill>
              <a:tailEnd type="triangle" w="lg" len="lg"/>
            </a:ln>
          </p:spPr>
        </p:sp>
        <p:sp>
          <p:nvSpPr>
            <p:cNvPr id="52" name="Line 52"/>
            <p:cNvSpPr/>
            <p:nvPr/>
          </p:nvSpPr>
          <p:spPr>
            <a:xfrm flipV="1">
              <a:off x="6819900" y="2324100"/>
              <a:ext cx="838200" cy="304800"/>
            </a:xfrm>
            <a:prstGeom prst="line">
              <a:avLst/>
            </a:prstGeom>
            <a:noFill/>
            <a:ln w="28575">
              <a:solidFill>
                <a:srgbClr val="00A884"/>
              </a:solidFill>
              <a:tailEnd type="triangle" w="lg" len="lg"/>
            </a:ln>
          </p:spPr>
        </p:sp>
        <p:sp>
          <p:nvSpPr>
            <p:cNvPr id="53" name="Line 53"/>
            <p:cNvSpPr/>
            <p:nvPr/>
          </p:nvSpPr>
          <p:spPr>
            <a:xfrm>
              <a:off x="9525000" y="2219325"/>
              <a:ext cx="514350" cy="1"/>
            </a:xfrm>
            <a:prstGeom prst="line">
              <a:avLst/>
            </a:prstGeom>
            <a:noFill/>
            <a:ln w="28575">
              <a:solidFill>
                <a:srgbClr val="00A884"/>
              </a:solidFill>
              <a:tailEnd type="triangle" w="lg" len="lg"/>
            </a:ln>
          </p:spPr>
        </p:sp>
      </p:grpSp>
      <p:grpSp>
        <p:nvGrpSpPr>
          <p:cNvPr id="90" name="Group 90"/>
          <p:cNvGrpSpPr/>
          <p:nvPr/>
        </p:nvGrpSpPr>
        <p:grpSpPr>
          <a:xfrm>
            <a:off x="457200" y="3314700"/>
            <a:ext cx="7353300" cy="2819400"/>
            <a:chOff x="457200" y="3314700"/>
            <a:chExt cx="7353300" cy="2819400"/>
          </a:xfrm>
        </p:grpSpPr>
        <p:sp>
          <p:nvSpPr>
            <p:cNvPr id="55" name="Rectangle 55"/>
            <p:cNvSpPr/>
            <p:nvPr/>
          </p:nvSpPr>
          <p:spPr>
            <a:xfrm>
              <a:off x="457200" y="3314700"/>
              <a:ext cx="7353300" cy="281940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11430">
              <a:solidFill>
                <a:srgbClr val="D8E1E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1515" y="3487102"/>
              <a:ext cx="35932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建模周期对比：传统流程 vs 伏羲 Auto-Research</a:t>
              </a:r>
              <a:endParaRPr lang="zh-CN" sz="10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64" name="Group 64"/>
            <p:cNvGrpSpPr/>
            <p:nvPr/>
          </p:nvGrpSpPr>
          <p:grpSpPr>
            <a:xfrm>
              <a:off x="2191083" y="3981450"/>
              <a:ext cx="4857751" cy="1876425"/>
              <a:chOff x="2191083" y="3981450"/>
              <a:chExt cx="4857751" cy="1876425"/>
            </a:xfrm>
          </p:grpSpPr>
          <p:sp>
            <p:nvSpPr>
              <p:cNvPr id="57" name="Line 57"/>
              <p:cNvSpPr/>
              <p:nvPr/>
            </p:nvSpPr>
            <p:spPr>
              <a:xfrm>
                <a:off x="2324100" y="5505450"/>
                <a:ext cx="457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9525">
                    <a:moveTo>
                      <a:pt x="0" y="0"/>
                    </a:moveTo>
                    <a:lnTo>
                      <a:pt x="4572000" y="0"/>
                    </a:lnTo>
                  </a:path>
                </a:pathLst>
              </a:custGeom>
              <a:noFill/>
              <a:ln w="9525">
                <a:solidFill>
                  <a:srgbClr val="D8E1EA"/>
                </a:solidFill>
              </a:ln>
            </p:spPr>
          </p:sp>
          <p:sp>
            <p:nvSpPr>
              <p:cNvPr id="58" name="Line 58"/>
              <p:cNvSpPr/>
              <p:nvPr/>
            </p:nvSpPr>
            <p:spPr>
              <a:xfrm>
                <a:off x="2324100" y="3981450"/>
                <a:ext cx="9525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0">
                    <a:moveTo>
                      <a:pt x="0" y="0"/>
                    </a:moveTo>
                    <a:lnTo>
                      <a:pt x="0" y="1524000"/>
                    </a:lnTo>
                  </a:path>
                </a:pathLst>
              </a:custGeom>
              <a:noFill/>
              <a:ln w="9525">
                <a:solidFill>
                  <a:srgbClr val="D8E1EA"/>
                </a:solidFill>
              </a:ln>
            </p:spPr>
          </p:sp>
          <p:sp>
            <p:nvSpPr>
              <p:cNvPr id="59" name="Line 59"/>
              <p:cNvSpPr/>
              <p:nvPr/>
            </p:nvSpPr>
            <p:spPr>
              <a:xfrm>
                <a:off x="4610100" y="3981450"/>
                <a:ext cx="9525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0">
                    <a:moveTo>
                      <a:pt x="0" y="0"/>
                    </a:moveTo>
                    <a:lnTo>
                      <a:pt x="0" y="1524000"/>
                    </a:lnTo>
                  </a:path>
                </a:pathLst>
              </a:custGeom>
              <a:noFill/>
              <a:ln w="9525">
                <a:solidFill>
                  <a:srgbClr val="D8E1EA"/>
                </a:solidFill>
                <a:prstDash val="dash"/>
              </a:ln>
            </p:spPr>
          </p:sp>
          <p:sp>
            <p:nvSpPr>
              <p:cNvPr id="60" name="Line 60"/>
              <p:cNvSpPr/>
              <p:nvPr/>
            </p:nvSpPr>
            <p:spPr>
              <a:xfrm>
                <a:off x="6896100" y="3981450"/>
                <a:ext cx="9525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0">
                    <a:moveTo>
                      <a:pt x="0" y="0"/>
                    </a:moveTo>
                    <a:lnTo>
                      <a:pt x="0" y="1524000"/>
                    </a:lnTo>
                  </a:path>
                </a:pathLst>
              </a:custGeom>
              <a:noFill/>
              <a:ln w="9525">
                <a:solidFill>
                  <a:srgbClr val="D8E1EA"/>
                </a:solidFill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2191083" y="5674995"/>
                <a:ext cx="2660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 天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4477083" y="5674995"/>
                <a:ext cx="2660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5 天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6743367" y="5674995"/>
                <a:ext cx="30546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10 天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1353026" y="3943350"/>
              <a:ext cx="6355962" cy="230981"/>
              <a:chOff x="1353026" y="3943350"/>
              <a:chExt cx="6355962" cy="230981"/>
            </a:xfrm>
          </p:grpSpPr>
          <p:sp>
            <p:nvSpPr>
              <p:cNvPr id="65" name="TextBox 65"/>
              <p:cNvSpPr txBox="1"/>
              <p:nvPr/>
            </p:nvSpPr>
            <p:spPr>
              <a:xfrm>
                <a:off x="1353026" y="3945731"/>
                <a:ext cx="71866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5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数据准备</a:t>
                </a:r>
                <a:endParaRPr lang="zh-CN" sz="1125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6" name="Line 66"/>
              <p:cNvSpPr/>
              <p:nvPr/>
            </p:nvSpPr>
            <p:spPr>
              <a:xfrm>
                <a:off x="6896100" y="40195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D8E1EA"/>
                </a:solidFill>
              </a:ln>
            </p:spPr>
          </p:sp>
          <p:sp>
            <p:nvSpPr>
              <p:cNvPr id="67" name="Ellipse 67"/>
              <p:cNvSpPr/>
              <p:nvPr/>
            </p:nvSpPr>
            <p:spPr>
              <a:xfrm>
                <a:off x="6819900" y="3943350"/>
                <a:ext cx="152400" cy="1524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68" name="Ellipse 68"/>
              <p:cNvSpPr/>
              <p:nvPr/>
            </p:nvSpPr>
            <p:spPr>
              <a:xfrm>
                <a:off x="6819900" y="3943350"/>
                <a:ext cx="152400" cy="152400"/>
              </a:xfrm>
              <a:prstGeom prst="ellipse">
                <a:avLst/>
              </a:prstGeom>
              <a:solidFill>
                <a:srgbClr val="00A884"/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7093268" y="3961924"/>
                <a:ext cx="61572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10 天持平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1353026" y="4667250"/>
              <a:ext cx="3345706" cy="230981"/>
              <a:chOff x="1353026" y="4667250"/>
              <a:chExt cx="3345706" cy="230981"/>
            </a:xfrm>
          </p:grpSpPr>
          <p:sp>
            <p:nvSpPr>
              <p:cNvPr id="71" name="TextBox 71"/>
              <p:cNvSpPr txBox="1"/>
              <p:nvPr/>
            </p:nvSpPr>
            <p:spPr>
              <a:xfrm>
                <a:off x="1353026" y="4669631"/>
                <a:ext cx="71866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5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特征工程</a:t>
                </a:r>
                <a:endParaRPr lang="zh-CN" sz="1125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2" name="Line 72"/>
              <p:cNvSpPr/>
              <p:nvPr/>
            </p:nvSpPr>
            <p:spPr>
              <a:xfrm>
                <a:off x="2781300" y="4743450"/>
                <a:ext cx="457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9525">
                    <a:moveTo>
                      <a:pt x="0" y="0"/>
                    </a:moveTo>
                    <a:lnTo>
                      <a:pt x="457200" y="0"/>
                    </a:lnTo>
                  </a:path>
                </a:pathLst>
              </a:custGeom>
              <a:noFill/>
              <a:ln w="28575">
                <a:solidFill>
                  <a:srgbClr val="D8E1EA"/>
                </a:solidFill>
              </a:ln>
            </p:spPr>
          </p:sp>
          <p:sp>
            <p:nvSpPr>
              <p:cNvPr id="73" name="Ellipse 73"/>
              <p:cNvSpPr/>
              <p:nvPr/>
            </p:nvSpPr>
            <p:spPr>
              <a:xfrm>
                <a:off x="3162300" y="4667250"/>
                <a:ext cx="152400" cy="1524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74" name="Ellipse 74"/>
              <p:cNvSpPr/>
              <p:nvPr/>
            </p:nvSpPr>
            <p:spPr>
              <a:xfrm>
                <a:off x="2705100" y="4667250"/>
                <a:ext cx="152400" cy="152400"/>
              </a:xfrm>
              <a:prstGeom prst="ellipse">
                <a:avLst/>
              </a:prstGeom>
              <a:solidFill>
                <a:srgbClr val="00A884"/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3435668" y="4685824"/>
                <a:ext cx="49468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 → 1 天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4083368" y="4685824"/>
                <a:ext cx="61536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0A884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压缩 50%</a:t>
                </a:r>
                <a:endParaRPr lang="zh-CN" sz="975" b="1" dirty="0">
                  <a:solidFill>
                    <a:srgbClr val="00A88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1353026" y="5295900"/>
              <a:ext cx="3345706" cy="230981"/>
              <a:chOff x="1353026" y="5295900"/>
              <a:chExt cx="3345706" cy="230981"/>
            </a:xfrm>
          </p:grpSpPr>
          <p:sp>
            <p:nvSpPr>
              <p:cNvPr id="78" name="TextBox 78"/>
              <p:cNvSpPr txBox="1"/>
              <p:nvPr/>
            </p:nvSpPr>
            <p:spPr>
              <a:xfrm>
                <a:off x="1353026" y="5298281"/>
                <a:ext cx="71866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5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模型工程</a:t>
                </a:r>
                <a:endParaRPr lang="zh-CN" sz="1125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9" name="Line 79"/>
              <p:cNvSpPr/>
              <p:nvPr/>
            </p:nvSpPr>
            <p:spPr>
              <a:xfrm>
                <a:off x="2781300" y="5372100"/>
                <a:ext cx="457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9525">
                    <a:moveTo>
                      <a:pt x="0" y="0"/>
                    </a:moveTo>
                    <a:lnTo>
                      <a:pt x="457200" y="0"/>
                    </a:lnTo>
                  </a:path>
                </a:pathLst>
              </a:custGeom>
              <a:noFill/>
              <a:ln w="28575">
                <a:solidFill>
                  <a:srgbClr val="D8E1EA"/>
                </a:solidFill>
              </a:ln>
            </p:spPr>
          </p:sp>
          <p:sp>
            <p:nvSpPr>
              <p:cNvPr id="80" name="Ellipse 80"/>
              <p:cNvSpPr/>
              <p:nvPr/>
            </p:nvSpPr>
            <p:spPr>
              <a:xfrm>
                <a:off x="3162300" y="5295900"/>
                <a:ext cx="152400" cy="1524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81" name="Ellipse 81"/>
              <p:cNvSpPr/>
              <p:nvPr/>
            </p:nvSpPr>
            <p:spPr>
              <a:xfrm>
                <a:off x="2705100" y="5295900"/>
                <a:ext cx="152400" cy="152400"/>
              </a:xfrm>
              <a:prstGeom prst="ellipse">
                <a:avLst/>
              </a:prstGeom>
              <a:solidFill>
                <a:srgbClr val="00A884"/>
              </a:solidFill>
              <a:ln>
                <a:noFill/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3435668" y="5314474"/>
                <a:ext cx="49468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 → 1 天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4083368" y="5314474"/>
                <a:ext cx="61536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0A884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压缩 50%</a:t>
                </a:r>
                <a:endParaRPr lang="zh-CN" sz="975" b="1" dirty="0">
                  <a:solidFill>
                    <a:srgbClr val="00A88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>
              <a:off x="5753100" y="3543300"/>
              <a:ext cx="1093470" cy="190500"/>
              <a:chOff x="5753100" y="3543300"/>
              <a:chExt cx="1093470" cy="190500"/>
            </a:xfrm>
          </p:grpSpPr>
          <p:sp>
            <p:nvSpPr>
              <p:cNvPr id="85" name="Ellipse 85"/>
              <p:cNvSpPr/>
              <p:nvPr/>
            </p:nvSpPr>
            <p:spPr>
              <a:xfrm>
                <a:off x="5753100" y="3543300"/>
                <a:ext cx="114300" cy="1143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5932170" y="3550920"/>
                <a:ext cx="2857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传统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7" name="Ellipse 87"/>
              <p:cNvSpPr/>
              <p:nvPr/>
            </p:nvSpPr>
            <p:spPr>
              <a:xfrm>
                <a:off x="6381750" y="3543300"/>
                <a:ext cx="114300" cy="114300"/>
              </a:xfrm>
              <a:prstGeom prst="ellipse">
                <a:avLst/>
              </a:prstGeom>
              <a:solidFill>
                <a:srgbClr val="00A884"/>
              </a:solidFill>
              <a:ln>
                <a:noFill/>
              </a:ln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6560820" y="3550920"/>
                <a:ext cx="2857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伏羲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106" name="Group 106"/>
          <p:cNvGrpSpPr/>
          <p:nvPr/>
        </p:nvGrpSpPr>
        <p:grpSpPr>
          <a:xfrm>
            <a:off x="8058150" y="3314700"/>
            <a:ext cx="3676650" cy="2819400"/>
            <a:chOff x="8058150" y="3314700"/>
            <a:chExt cx="3676650" cy="2819400"/>
          </a:xfrm>
        </p:grpSpPr>
        <p:sp>
          <p:nvSpPr>
            <p:cNvPr id="91" name="Rectangle 91"/>
            <p:cNvSpPr/>
            <p:nvPr/>
          </p:nvSpPr>
          <p:spPr>
            <a:xfrm>
              <a:off x="8058150" y="3314700"/>
              <a:ext cx="3676650" cy="281940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11430">
              <a:solidFill>
                <a:srgbClr val="D8E1EA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8292465" y="348710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业务收益与验证</a:t>
              </a:r>
              <a:endParaRPr lang="zh-CN" sz="10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96" name="Group 96"/>
            <p:cNvGrpSpPr/>
            <p:nvPr/>
          </p:nvGrpSpPr>
          <p:grpSpPr>
            <a:xfrm>
              <a:off x="8305800" y="3846195"/>
              <a:ext cx="1466850" cy="992505"/>
              <a:chOff x="8305800" y="3846195"/>
              <a:chExt cx="1466850" cy="992505"/>
            </a:xfrm>
          </p:grpSpPr>
          <p:sp>
            <p:nvSpPr>
              <p:cNvPr id="93" name="Rectangle 93"/>
              <p:cNvSpPr/>
              <p:nvPr/>
            </p:nvSpPr>
            <p:spPr>
              <a:xfrm>
                <a:off x="8305800" y="3848100"/>
                <a:ext cx="1466850" cy="990600"/>
              </a:xfrm>
              <a:prstGeom prst="roundRect">
                <a:avLst>
                  <a:gd name="adj" fmla="val 7692"/>
                </a:avLst>
              </a:prstGeom>
              <a:solidFill>
                <a:srgbClr val="E8F8F2"/>
              </a:solidFill>
              <a:ln>
                <a:noFill/>
              </a:ln>
            </p:spPr>
          </p:sp>
          <p:sp>
            <p:nvSpPr>
              <p:cNvPr id="94" name="TextBox 94"/>
              <p:cNvSpPr txBox="1"/>
              <p:nvPr/>
            </p:nvSpPr>
            <p:spPr>
              <a:xfrm>
                <a:off x="8825224" y="3846195"/>
                <a:ext cx="428001" cy="792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900" b="1" dirty="0">
                    <a:solidFill>
                      <a:srgbClr val="00A884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</a:t>
                </a:r>
                <a:endParaRPr lang="zh-CN" sz="3900" b="1" dirty="0">
                  <a:solidFill>
                    <a:srgbClr val="00A88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8471916" y="4423410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整体节省天数</a:t>
                </a:r>
                <a:endParaRPr lang="zh-CN" sz="12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00" name="Group 100"/>
            <p:cNvGrpSpPr/>
            <p:nvPr/>
          </p:nvGrpSpPr>
          <p:grpSpPr>
            <a:xfrm>
              <a:off x="10001250" y="3846195"/>
              <a:ext cx="1466850" cy="992505"/>
              <a:chOff x="10001250" y="3846195"/>
              <a:chExt cx="1466850" cy="992505"/>
            </a:xfrm>
          </p:grpSpPr>
          <p:sp>
            <p:nvSpPr>
              <p:cNvPr id="97" name="Rectangle 97"/>
              <p:cNvSpPr/>
              <p:nvPr/>
            </p:nvSpPr>
            <p:spPr>
              <a:xfrm>
                <a:off x="10001250" y="3848100"/>
                <a:ext cx="1466850" cy="990600"/>
              </a:xfrm>
              <a:prstGeom prst="roundRect">
                <a:avLst>
                  <a:gd name="adj" fmla="val 7692"/>
                </a:avLst>
              </a:prstGeom>
              <a:solidFill>
                <a:srgbClr val="E8F2FF"/>
              </a:solidFill>
              <a:ln>
                <a:noFill/>
              </a:ln>
            </p:spPr>
          </p:sp>
          <p:sp>
            <p:nvSpPr>
              <p:cNvPr id="98" name="TextBox 98"/>
              <p:cNvSpPr txBox="1"/>
              <p:nvPr/>
            </p:nvSpPr>
            <p:spPr>
              <a:xfrm>
                <a:off x="10191733" y="3846195"/>
                <a:ext cx="1085883" cy="792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900" b="1" dirty="0">
                    <a:solidFill>
                      <a:srgbClr val="1565C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50%</a:t>
                </a:r>
                <a:endParaRPr lang="zh-CN" sz="3900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9" name="TextBox 99"/>
              <p:cNvSpPr txBox="1"/>
              <p:nvPr/>
            </p:nvSpPr>
            <p:spPr>
              <a:xfrm>
                <a:off x="10061553" y="4423410"/>
                <a:ext cx="134624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特征 / 模型压缩</a:t>
                </a:r>
                <a:endParaRPr lang="zh-CN" sz="12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05" name="Group 105"/>
            <p:cNvGrpSpPr/>
            <p:nvPr/>
          </p:nvGrpSpPr>
          <p:grpSpPr>
            <a:xfrm>
              <a:off x="8305800" y="5067300"/>
              <a:ext cx="3162300" cy="823912"/>
              <a:chOff x="8305800" y="5067300"/>
              <a:chExt cx="3162300" cy="823912"/>
            </a:xfrm>
          </p:grpSpPr>
          <p:sp>
            <p:nvSpPr>
              <p:cNvPr id="101" name="Rectangle 101"/>
              <p:cNvSpPr/>
              <p:nvPr/>
            </p:nvSpPr>
            <p:spPr>
              <a:xfrm>
                <a:off x="8305800" y="5067300"/>
                <a:ext cx="3162300" cy="823595"/>
              </a:xfrm>
              <a:prstGeom prst="roundRect">
                <a:avLst>
                  <a:gd name="adj" fmla="val 10811"/>
                </a:avLst>
              </a:prstGeom>
              <a:solidFill>
                <a:srgbClr val="0B1F33"/>
              </a:solidFill>
              <a:ln>
                <a:noFill/>
              </a:ln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8518208" y="5196364"/>
                <a:ext cx="179210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模型工程师验证有效</a:t>
                </a:r>
                <a:endPara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8521065" y="5468302"/>
                <a:ext cx="294036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D8E1E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自动发现的参数、样本比例和防过拟合策略</a:t>
                </a:r>
                <a:endParaRPr lang="zh-CN" sz="1050" dirty="0">
                  <a:solidFill>
                    <a:srgbClr val="D8E1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8521065" y="5677852"/>
                <a:ext cx="294036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D8E1E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已被人工复核，可落入外诉风险分层流程。</a:t>
                </a:r>
                <a:endParaRPr lang="zh-CN" sz="1050" dirty="0">
                  <a:solidFill>
                    <a:srgbClr val="D8E1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109" name="Group 109"/>
          <p:cNvGrpSpPr/>
          <p:nvPr/>
        </p:nvGrpSpPr>
        <p:grpSpPr>
          <a:xfrm>
            <a:off x="445770" y="6608445"/>
            <a:ext cx="11300460" cy="182880"/>
            <a:chOff x="445770" y="6608445"/>
            <a:chExt cx="11300460" cy="182880"/>
          </a:xfrm>
        </p:grpSpPr>
        <p:sp>
          <p:nvSpPr>
            <p:cNvPr id="107" name="TextBox 107"/>
            <p:cNvSpPr txBox="1"/>
            <p:nvPr/>
          </p:nvSpPr>
          <p:spPr>
            <a:xfrm>
              <a:off x="445770" y="6608445"/>
              <a:ext cx="48994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Source: 内部业务场景说明；AUC 与建模策略已经模型工程师验证；周期口径为估算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283029" y="6608445"/>
              <a:ext cx="4632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 / 02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90" grpId="0"/>
      <p:bldP spid="106" grpId="0"/>
    </p:bldLst>
  </p:timing>
</p:sld>
</file>

<file path=ppt/tags/tag1.xml><?xml version="1.0" encoding="utf-8"?>
<p:tagLst xmlns:p="http://schemas.openxmlformats.org/presentationml/2006/main">
  <p:tag name="COMMONDATA" val="eyJoZGlkIjoiM2ZjN2JjMTE5MDYzZTVlYjE4MDMzYzllYzhkNmQ4ZDQ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776</Words>
  <Application>WPS 演示</Application>
  <PresentationFormat>On-screen Show (4:3)</PresentationFormat>
  <Paragraphs>114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乐观的摸摸头</cp:lastModifiedBy>
  <cp:revision>2</cp:revision>
  <dcterms:created xsi:type="dcterms:W3CDTF">2013-01-27T09:14:00Z</dcterms:created>
  <dcterms:modified xsi:type="dcterms:W3CDTF">2026-06-17T01:11:31Z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FEB4963F906C4154946BF14ACF8C4962_12</vt:lpwstr>
  </property>
  <property fmtid="{D5CDD505-2E9C-101B-9397-08002B2CF9AE}" pid="3" name="KSOProductBuildVer">
    <vt:lpwstr>2052-11.1.0.14309</vt:lpwstr>
  </property>
</Properties>
</file>